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D4E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9963150" y="0"/>
            <a:ext cx="2228850" cy="2743200"/>
          </a:xfrm>
          <a:custGeom>
            <a:avLst/>
            <a:gdLst/>
            <a:ahLst/>
            <a:cxnLst/>
            <a:rect l="l" t="t" r="r" b="b"/>
            <a:pathLst>
              <a:path w="2228850" h="2743200">
                <a:moveTo>
                  <a:pt x="2228850" y="0"/>
                </a:moveTo>
                <a:lnTo>
                  <a:pt x="98569" y="0"/>
                </a:lnTo>
                <a:lnTo>
                  <a:pt x="87922" y="34233"/>
                </a:lnTo>
                <a:lnTo>
                  <a:pt x="75194" y="78581"/>
                </a:lnTo>
                <a:lnTo>
                  <a:pt x="63418" y="123323"/>
                </a:lnTo>
                <a:lnTo>
                  <a:pt x="52605" y="168447"/>
                </a:lnTo>
                <a:lnTo>
                  <a:pt x="42767" y="213943"/>
                </a:lnTo>
                <a:lnTo>
                  <a:pt x="33915" y="259798"/>
                </a:lnTo>
                <a:lnTo>
                  <a:pt x="26061" y="306000"/>
                </a:lnTo>
                <a:lnTo>
                  <a:pt x="19216" y="352538"/>
                </a:lnTo>
                <a:lnTo>
                  <a:pt x="13393" y="399401"/>
                </a:lnTo>
                <a:lnTo>
                  <a:pt x="8602" y="446577"/>
                </a:lnTo>
                <a:lnTo>
                  <a:pt x="4856" y="494053"/>
                </a:lnTo>
                <a:lnTo>
                  <a:pt x="2166" y="541820"/>
                </a:lnTo>
                <a:lnTo>
                  <a:pt x="543" y="589864"/>
                </a:lnTo>
                <a:lnTo>
                  <a:pt x="0" y="638175"/>
                </a:lnTo>
                <a:lnTo>
                  <a:pt x="543" y="686485"/>
                </a:lnTo>
                <a:lnTo>
                  <a:pt x="2166" y="734529"/>
                </a:lnTo>
                <a:lnTo>
                  <a:pt x="4856" y="782296"/>
                </a:lnTo>
                <a:lnTo>
                  <a:pt x="8602" y="829772"/>
                </a:lnTo>
                <a:lnTo>
                  <a:pt x="13393" y="876948"/>
                </a:lnTo>
                <a:lnTo>
                  <a:pt x="19216" y="923811"/>
                </a:lnTo>
                <a:lnTo>
                  <a:pt x="26061" y="970349"/>
                </a:lnTo>
                <a:lnTo>
                  <a:pt x="33915" y="1016551"/>
                </a:lnTo>
                <a:lnTo>
                  <a:pt x="42767" y="1062406"/>
                </a:lnTo>
                <a:lnTo>
                  <a:pt x="52605" y="1107902"/>
                </a:lnTo>
                <a:lnTo>
                  <a:pt x="63418" y="1153026"/>
                </a:lnTo>
                <a:lnTo>
                  <a:pt x="75194" y="1197768"/>
                </a:lnTo>
                <a:lnTo>
                  <a:pt x="87922" y="1242116"/>
                </a:lnTo>
                <a:lnTo>
                  <a:pt x="101589" y="1286059"/>
                </a:lnTo>
                <a:lnTo>
                  <a:pt x="116185" y="1329584"/>
                </a:lnTo>
                <a:lnTo>
                  <a:pt x="131697" y="1372680"/>
                </a:lnTo>
                <a:lnTo>
                  <a:pt x="148114" y="1415335"/>
                </a:lnTo>
                <a:lnTo>
                  <a:pt x="165425" y="1457539"/>
                </a:lnTo>
                <a:lnTo>
                  <a:pt x="183617" y="1499278"/>
                </a:lnTo>
                <a:lnTo>
                  <a:pt x="202680" y="1540543"/>
                </a:lnTo>
                <a:lnTo>
                  <a:pt x="222601" y="1581320"/>
                </a:lnTo>
                <a:lnTo>
                  <a:pt x="243370" y="1621599"/>
                </a:lnTo>
                <a:lnTo>
                  <a:pt x="264973" y="1661367"/>
                </a:lnTo>
                <a:lnTo>
                  <a:pt x="287400" y="1700614"/>
                </a:lnTo>
                <a:lnTo>
                  <a:pt x="310640" y="1739327"/>
                </a:lnTo>
                <a:lnTo>
                  <a:pt x="334680" y="1777496"/>
                </a:lnTo>
                <a:lnTo>
                  <a:pt x="359509" y="1815107"/>
                </a:lnTo>
                <a:lnTo>
                  <a:pt x="385115" y="1852151"/>
                </a:lnTo>
                <a:lnTo>
                  <a:pt x="411487" y="1888614"/>
                </a:lnTo>
                <a:lnTo>
                  <a:pt x="438613" y="1924486"/>
                </a:lnTo>
                <a:lnTo>
                  <a:pt x="466481" y="1959755"/>
                </a:lnTo>
                <a:lnTo>
                  <a:pt x="495080" y="1994409"/>
                </a:lnTo>
                <a:lnTo>
                  <a:pt x="524398" y="2028437"/>
                </a:lnTo>
                <a:lnTo>
                  <a:pt x="554424" y="2061827"/>
                </a:lnTo>
                <a:lnTo>
                  <a:pt x="585146" y="2094567"/>
                </a:lnTo>
                <a:lnTo>
                  <a:pt x="616553" y="2126646"/>
                </a:lnTo>
                <a:lnTo>
                  <a:pt x="648632" y="2158053"/>
                </a:lnTo>
                <a:lnTo>
                  <a:pt x="681372" y="2188775"/>
                </a:lnTo>
                <a:lnTo>
                  <a:pt x="714762" y="2218801"/>
                </a:lnTo>
                <a:lnTo>
                  <a:pt x="748790" y="2248119"/>
                </a:lnTo>
                <a:lnTo>
                  <a:pt x="783444" y="2276718"/>
                </a:lnTo>
                <a:lnTo>
                  <a:pt x="818713" y="2304586"/>
                </a:lnTo>
                <a:lnTo>
                  <a:pt x="854585" y="2331712"/>
                </a:lnTo>
                <a:lnTo>
                  <a:pt x="891048" y="2358084"/>
                </a:lnTo>
                <a:lnTo>
                  <a:pt x="928092" y="2383690"/>
                </a:lnTo>
                <a:lnTo>
                  <a:pt x="965703" y="2408519"/>
                </a:lnTo>
                <a:lnTo>
                  <a:pt x="1003872" y="2432559"/>
                </a:lnTo>
                <a:lnTo>
                  <a:pt x="1042585" y="2455799"/>
                </a:lnTo>
                <a:lnTo>
                  <a:pt x="1081832" y="2478226"/>
                </a:lnTo>
                <a:lnTo>
                  <a:pt x="1121600" y="2499829"/>
                </a:lnTo>
                <a:lnTo>
                  <a:pt x="1161879" y="2520598"/>
                </a:lnTo>
                <a:lnTo>
                  <a:pt x="1202656" y="2540519"/>
                </a:lnTo>
                <a:lnTo>
                  <a:pt x="1243921" y="2559582"/>
                </a:lnTo>
                <a:lnTo>
                  <a:pt x="1285660" y="2577774"/>
                </a:lnTo>
                <a:lnTo>
                  <a:pt x="1327864" y="2595085"/>
                </a:lnTo>
                <a:lnTo>
                  <a:pt x="1370519" y="2611502"/>
                </a:lnTo>
                <a:lnTo>
                  <a:pt x="1413615" y="2627014"/>
                </a:lnTo>
                <a:lnTo>
                  <a:pt x="1457140" y="2641610"/>
                </a:lnTo>
                <a:lnTo>
                  <a:pt x="1501083" y="2655277"/>
                </a:lnTo>
                <a:lnTo>
                  <a:pt x="1545431" y="2668005"/>
                </a:lnTo>
                <a:lnTo>
                  <a:pt x="1590173" y="2679781"/>
                </a:lnTo>
                <a:lnTo>
                  <a:pt x="1635297" y="2690594"/>
                </a:lnTo>
                <a:lnTo>
                  <a:pt x="1680793" y="2700432"/>
                </a:lnTo>
                <a:lnTo>
                  <a:pt x="1726648" y="2709284"/>
                </a:lnTo>
                <a:lnTo>
                  <a:pt x="1772850" y="2717138"/>
                </a:lnTo>
                <a:lnTo>
                  <a:pt x="1819388" y="2723983"/>
                </a:lnTo>
                <a:lnTo>
                  <a:pt x="1866251" y="2729806"/>
                </a:lnTo>
                <a:lnTo>
                  <a:pt x="1913427" y="2734597"/>
                </a:lnTo>
                <a:lnTo>
                  <a:pt x="1960903" y="2738343"/>
                </a:lnTo>
                <a:lnTo>
                  <a:pt x="2008670" y="2741033"/>
                </a:lnTo>
                <a:lnTo>
                  <a:pt x="2056714" y="2742656"/>
                </a:lnTo>
                <a:lnTo>
                  <a:pt x="2105025" y="2743200"/>
                </a:lnTo>
                <a:lnTo>
                  <a:pt x="2153335" y="2742656"/>
                </a:lnTo>
                <a:lnTo>
                  <a:pt x="2201379" y="2741033"/>
                </a:lnTo>
                <a:lnTo>
                  <a:pt x="2228850" y="2739486"/>
                </a:lnTo>
                <a:lnTo>
                  <a:pt x="2228850" y="0"/>
                </a:lnTo>
                <a:close/>
              </a:path>
            </a:pathLst>
          </a:custGeom>
          <a:solidFill>
            <a:srgbClr val="5FA744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4848225"/>
            <a:ext cx="2190750" cy="2009775"/>
          </a:xfrm>
          <a:custGeom>
            <a:avLst/>
            <a:gdLst/>
            <a:ahLst/>
            <a:cxnLst/>
            <a:rect l="l" t="t" r="r" b="b"/>
            <a:pathLst>
              <a:path w="2190750" h="2009775">
                <a:moveTo>
                  <a:pt x="361950" y="0"/>
                </a:moveTo>
                <a:lnTo>
                  <a:pt x="314000" y="616"/>
                </a:lnTo>
                <a:lnTo>
                  <a:pt x="266356" y="2455"/>
                </a:lnTo>
                <a:lnTo>
                  <a:pt x="219030" y="5502"/>
                </a:lnTo>
                <a:lnTo>
                  <a:pt x="172038" y="9741"/>
                </a:lnTo>
                <a:lnTo>
                  <a:pt x="125396" y="15158"/>
                </a:lnTo>
                <a:lnTo>
                  <a:pt x="79119" y="21737"/>
                </a:lnTo>
                <a:lnTo>
                  <a:pt x="33220" y="29464"/>
                </a:lnTo>
                <a:lnTo>
                  <a:pt x="0" y="35932"/>
                </a:lnTo>
                <a:lnTo>
                  <a:pt x="0" y="2009775"/>
                </a:lnTo>
                <a:lnTo>
                  <a:pt x="2181814" y="2009775"/>
                </a:lnTo>
                <a:lnTo>
                  <a:pt x="2185247" y="1971719"/>
                </a:lnTo>
                <a:lnTo>
                  <a:pt x="2188294" y="1924393"/>
                </a:lnTo>
                <a:lnTo>
                  <a:pt x="2190133" y="1876749"/>
                </a:lnTo>
                <a:lnTo>
                  <a:pt x="2190750" y="1828800"/>
                </a:lnTo>
                <a:lnTo>
                  <a:pt x="2190133" y="1780850"/>
                </a:lnTo>
                <a:lnTo>
                  <a:pt x="2188294" y="1733206"/>
                </a:lnTo>
                <a:lnTo>
                  <a:pt x="2185247" y="1685880"/>
                </a:lnTo>
                <a:lnTo>
                  <a:pt x="2181008" y="1638888"/>
                </a:lnTo>
                <a:lnTo>
                  <a:pt x="2175591" y="1592246"/>
                </a:lnTo>
                <a:lnTo>
                  <a:pt x="2169012" y="1545969"/>
                </a:lnTo>
                <a:lnTo>
                  <a:pt x="2161285" y="1500070"/>
                </a:lnTo>
                <a:lnTo>
                  <a:pt x="2152427" y="1454567"/>
                </a:lnTo>
                <a:lnTo>
                  <a:pt x="2142450" y="1409472"/>
                </a:lnTo>
                <a:lnTo>
                  <a:pt x="2131372" y="1364803"/>
                </a:lnTo>
                <a:lnTo>
                  <a:pt x="2119206" y="1320573"/>
                </a:lnTo>
                <a:lnTo>
                  <a:pt x="2105968" y="1276798"/>
                </a:lnTo>
                <a:lnTo>
                  <a:pt x="2091673" y="1233492"/>
                </a:lnTo>
                <a:lnTo>
                  <a:pt x="2076337" y="1190672"/>
                </a:lnTo>
                <a:lnTo>
                  <a:pt x="2059973" y="1148351"/>
                </a:lnTo>
                <a:lnTo>
                  <a:pt x="2042597" y="1106546"/>
                </a:lnTo>
                <a:lnTo>
                  <a:pt x="2024225" y="1065270"/>
                </a:lnTo>
                <a:lnTo>
                  <a:pt x="2004870" y="1024540"/>
                </a:lnTo>
                <a:lnTo>
                  <a:pt x="1984549" y="984369"/>
                </a:lnTo>
                <a:lnTo>
                  <a:pt x="1963277" y="944774"/>
                </a:lnTo>
                <a:lnTo>
                  <a:pt x="1941067" y="905769"/>
                </a:lnTo>
                <a:lnTo>
                  <a:pt x="1917937" y="867370"/>
                </a:lnTo>
                <a:lnTo>
                  <a:pt x="1893899" y="829590"/>
                </a:lnTo>
                <a:lnTo>
                  <a:pt x="1868971" y="792447"/>
                </a:lnTo>
                <a:lnTo>
                  <a:pt x="1843166" y="755953"/>
                </a:lnTo>
                <a:lnTo>
                  <a:pt x="1816499" y="720126"/>
                </a:lnTo>
                <a:lnTo>
                  <a:pt x="1788987" y="684978"/>
                </a:lnTo>
                <a:lnTo>
                  <a:pt x="1760643" y="650527"/>
                </a:lnTo>
                <a:lnTo>
                  <a:pt x="1731483" y="616786"/>
                </a:lnTo>
                <a:lnTo>
                  <a:pt x="1701522" y="583771"/>
                </a:lnTo>
                <a:lnTo>
                  <a:pt x="1670775" y="551497"/>
                </a:lnTo>
                <a:lnTo>
                  <a:pt x="1639257" y="519979"/>
                </a:lnTo>
                <a:lnTo>
                  <a:pt x="1606983" y="489232"/>
                </a:lnTo>
                <a:lnTo>
                  <a:pt x="1573968" y="459270"/>
                </a:lnTo>
                <a:lnTo>
                  <a:pt x="1540227" y="430110"/>
                </a:lnTo>
                <a:lnTo>
                  <a:pt x="1505776" y="401766"/>
                </a:lnTo>
                <a:lnTo>
                  <a:pt x="1470629" y="374254"/>
                </a:lnTo>
                <a:lnTo>
                  <a:pt x="1434801" y="347587"/>
                </a:lnTo>
                <a:lnTo>
                  <a:pt x="1398308" y="321782"/>
                </a:lnTo>
                <a:lnTo>
                  <a:pt x="1361164" y="296853"/>
                </a:lnTo>
                <a:lnTo>
                  <a:pt x="1323385" y="272815"/>
                </a:lnTo>
                <a:lnTo>
                  <a:pt x="1284986" y="249684"/>
                </a:lnTo>
                <a:lnTo>
                  <a:pt x="1245981" y="227475"/>
                </a:lnTo>
                <a:lnTo>
                  <a:pt x="1206385" y="206202"/>
                </a:lnTo>
                <a:lnTo>
                  <a:pt x="1166215" y="185881"/>
                </a:lnTo>
                <a:lnTo>
                  <a:pt x="1125484" y="166526"/>
                </a:lnTo>
                <a:lnTo>
                  <a:pt x="1084209" y="148154"/>
                </a:lnTo>
                <a:lnTo>
                  <a:pt x="1042403" y="130778"/>
                </a:lnTo>
                <a:lnTo>
                  <a:pt x="1000082" y="114414"/>
                </a:lnTo>
                <a:lnTo>
                  <a:pt x="957261" y="99077"/>
                </a:lnTo>
                <a:lnTo>
                  <a:pt x="913956" y="84782"/>
                </a:lnTo>
                <a:lnTo>
                  <a:pt x="870181" y="71544"/>
                </a:lnTo>
                <a:lnTo>
                  <a:pt x="825950" y="59378"/>
                </a:lnTo>
                <a:lnTo>
                  <a:pt x="781281" y="48299"/>
                </a:lnTo>
                <a:lnTo>
                  <a:pt x="736186" y="38323"/>
                </a:lnTo>
                <a:lnTo>
                  <a:pt x="690682" y="29464"/>
                </a:lnTo>
                <a:lnTo>
                  <a:pt x="644783" y="21737"/>
                </a:lnTo>
                <a:lnTo>
                  <a:pt x="598505" y="15158"/>
                </a:lnTo>
                <a:lnTo>
                  <a:pt x="551863" y="9741"/>
                </a:lnTo>
                <a:lnTo>
                  <a:pt x="504871" y="5502"/>
                </a:lnTo>
                <a:lnTo>
                  <a:pt x="457545" y="2455"/>
                </a:lnTo>
                <a:lnTo>
                  <a:pt x="409899" y="616"/>
                </a:lnTo>
                <a:lnTo>
                  <a:pt x="361950" y="0"/>
                </a:lnTo>
                <a:close/>
              </a:path>
            </a:pathLst>
          </a:custGeom>
          <a:solidFill>
            <a:srgbClr val="F16421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0877550" y="5124450"/>
            <a:ext cx="1314450" cy="1733550"/>
          </a:xfrm>
          <a:custGeom>
            <a:avLst/>
            <a:gdLst/>
            <a:ahLst/>
            <a:cxnLst/>
            <a:rect l="l" t="t" r="r" b="b"/>
            <a:pathLst>
              <a:path w="1314450" h="1733550">
                <a:moveTo>
                  <a:pt x="962025" y="0"/>
                </a:moveTo>
                <a:lnTo>
                  <a:pt x="914005" y="1171"/>
                </a:lnTo>
                <a:lnTo>
                  <a:pt x="866595" y="4649"/>
                </a:lnTo>
                <a:lnTo>
                  <a:pt x="819851" y="10380"/>
                </a:lnTo>
                <a:lnTo>
                  <a:pt x="773826" y="18307"/>
                </a:lnTo>
                <a:lnTo>
                  <a:pt x="728577" y="28376"/>
                </a:lnTo>
                <a:lnTo>
                  <a:pt x="684158" y="40533"/>
                </a:lnTo>
                <a:lnTo>
                  <a:pt x="640625" y="54722"/>
                </a:lnTo>
                <a:lnTo>
                  <a:pt x="598032" y="70888"/>
                </a:lnTo>
                <a:lnTo>
                  <a:pt x="556435" y="88977"/>
                </a:lnTo>
                <a:lnTo>
                  <a:pt x="515888" y="108934"/>
                </a:lnTo>
                <a:lnTo>
                  <a:pt x="476447" y="130704"/>
                </a:lnTo>
                <a:lnTo>
                  <a:pt x="438167" y="154232"/>
                </a:lnTo>
                <a:lnTo>
                  <a:pt x="401103" y="179463"/>
                </a:lnTo>
                <a:lnTo>
                  <a:pt x="365310" y="206342"/>
                </a:lnTo>
                <a:lnTo>
                  <a:pt x="330843" y="234815"/>
                </a:lnTo>
                <a:lnTo>
                  <a:pt x="297757" y="264826"/>
                </a:lnTo>
                <a:lnTo>
                  <a:pt x="266107" y="296321"/>
                </a:lnTo>
                <a:lnTo>
                  <a:pt x="235949" y="329245"/>
                </a:lnTo>
                <a:lnTo>
                  <a:pt x="207337" y="363543"/>
                </a:lnTo>
                <a:lnTo>
                  <a:pt x="180327" y="399161"/>
                </a:lnTo>
                <a:lnTo>
                  <a:pt x="154973" y="436042"/>
                </a:lnTo>
                <a:lnTo>
                  <a:pt x="131332" y="474133"/>
                </a:lnTo>
                <a:lnTo>
                  <a:pt x="109457" y="513378"/>
                </a:lnTo>
                <a:lnTo>
                  <a:pt x="89403" y="553723"/>
                </a:lnTo>
                <a:lnTo>
                  <a:pt x="71227" y="595113"/>
                </a:lnTo>
                <a:lnTo>
                  <a:pt x="54983" y="637493"/>
                </a:lnTo>
                <a:lnTo>
                  <a:pt x="40726" y="680808"/>
                </a:lnTo>
                <a:lnTo>
                  <a:pt x="28511" y="725003"/>
                </a:lnTo>
                <a:lnTo>
                  <a:pt x="18394" y="770024"/>
                </a:lnTo>
                <a:lnTo>
                  <a:pt x="10429" y="815815"/>
                </a:lnTo>
                <a:lnTo>
                  <a:pt x="4672" y="862321"/>
                </a:lnTo>
                <a:lnTo>
                  <a:pt x="1177" y="909489"/>
                </a:lnTo>
                <a:lnTo>
                  <a:pt x="0" y="957262"/>
                </a:lnTo>
                <a:lnTo>
                  <a:pt x="1177" y="1005039"/>
                </a:lnTo>
                <a:lnTo>
                  <a:pt x="4672" y="1052209"/>
                </a:lnTo>
                <a:lnTo>
                  <a:pt x="10429" y="1098718"/>
                </a:lnTo>
                <a:lnTo>
                  <a:pt x="18394" y="1144511"/>
                </a:lnTo>
                <a:lnTo>
                  <a:pt x="28511" y="1189533"/>
                </a:lnTo>
                <a:lnTo>
                  <a:pt x="40726" y="1233730"/>
                </a:lnTo>
                <a:lnTo>
                  <a:pt x="54983" y="1277046"/>
                </a:lnTo>
                <a:lnTo>
                  <a:pt x="71227" y="1319427"/>
                </a:lnTo>
                <a:lnTo>
                  <a:pt x="89403" y="1360817"/>
                </a:lnTo>
                <a:lnTo>
                  <a:pt x="109457" y="1401163"/>
                </a:lnTo>
                <a:lnTo>
                  <a:pt x="131332" y="1440408"/>
                </a:lnTo>
                <a:lnTo>
                  <a:pt x="154973" y="1478499"/>
                </a:lnTo>
                <a:lnTo>
                  <a:pt x="180327" y="1515380"/>
                </a:lnTo>
                <a:lnTo>
                  <a:pt x="207337" y="1550997"/>
                </a:lnTo>
                <a:lnTo>
                  <a:pt x="235949" y="1585294"/>
                </a:lnTo>
                <a:lnTo>
                  <a:pt x="266107" y="1618217"/>
                </a:lnTo>
                <a:lnTo>
                  <a:pt x="297757" y="1649712"/>
                </a:lnTo>
                <a:lnTo>
                  <a:pt x="330843" y="1679722"/>
                </a:lnTo>
                <a:lnTo>
                  <a:pt x="365310" y="1708194"/>
                </a:lnTo>
                <a:lnTo>
                  <a:pt x="399075" y="1733550"/>
                </a:lnTo>
                <a:lnTo>
                  <a:pt x="1314450" y="1733550"/>
                </a:lnTo>
                <a:lnTo>
                  <a:pt x="1314450" y="66497"/>
                </a:lnTo>
                <a:lnTo>
                  <a:pt x="1283424" y="54722"/>
                </a:lnTo>
                <a:lnTo>
                  <a:pt x="1239891" y="40533"/>
                </a:lnTo>
                <a:lnTo>
                  <a:pt x="1195472" y="28376"/>
                </a:lnTo>
                <a:lnTo>
                  <a:pt x="1150223" y="18307"/>
                </a:lnTo>
                <a:lnTo>
                  <a:pt x="1104198" y="10380"/>
                </a:lnTo>
                <a:lnTo>
                  <a:pt x="1057454" y="4649"/>
                </a:lnTo>
                <a:lnTo>
                  <a:pt x="1010044" y="1171"/>
                </a:lnTo>
                <a:lnTo>
                  <a:pt x="962025" y="0"/>
                </a:lnTo>
                <a:close/>
              </a:path>
            </a:pathLst>
          </a:custGeom>
          <a:solidFill>
            <a:srgbClr val="F16421">
              <a:alpha val="2509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5572125" y="1809750"/>
            <a:ext cx="1047750" cy="1047750"/>
          </a:xfrm>
          <a:custGeom>
            <a:avLst/>
            <a:gdLst/>
            <a:ahLst/>
            <a:cxnLst/>
            <a:rect l="l" t="t" r="r" b="b"/>
            <a:pathLst>
              <a:path w="1047750" h="1047750">
                <a:moveTo>
                  <a:pt x="523875" y="0"/>
                </a:moveTo>
                <a:lnTo>
                  <a:pt x="476194" y="2141"/>
                </a:lnTo>
                <a:lnTo>
                  <a:pt x="429713" y="8441"/>
                </a:lnTo>
                <a:lnTo>
                  <a:pt x="384615" y="18714"/>
                </a:lnTo>
                <a:lnTo>
                  <a:pt x="341086" y="32777"/>
                </a:lnTo>
                <a:lnTo>
                  <a:pt x="299311" y="50443"/>
                </a:lnTo>
                <a:lnTo>
                  <a:pt x="259475" y="71529"/>
                </a:lnTo>
                <a:lnTo>
                  <a:pt x="221762" y="95848"/>
                </a:lnTo>
                <a:lnTo>
                  <a:pt x="186358" y="123216"/>
                </a:lnTo>
                <a:lnTo>
                  <a:pt x="153447" y="153447"/>
                </a:lnTo>
                <a:lnTo>
                  <a:pt x="123216" y="186358"/>
                </a:lnTo>
                <a:lnTo>
                  <a:pt x="95848" y="221762"/>
                </a:lnTo>
                <a:lnTo>
                  <a:pt x="71529" y="259475"/>
                </a:lnTo>
                <a:lnTo>
                  <a:pt x="50443" y="299311"/>
                </a:lnTo>
                <a:lnTo>
                  <a:pt x="32777" y="341086"/>
                </a:lnTo>
                <a:lnTo>
                  <a:pt x="18714" y="384615"/>
                </a:lnTo>
                <a:lnTo>
                  <a:pt x="8441" y="429713"/>
                </a:lnTo>
                <a:lnTo>
                  <a:pt x="2141" y="476194"/>
                </a:lnTo>
                <a:lnTo>
                  <a:pt x="0" y="523875"/>
                </a:lnTo>
                <a:lnTo>
                  <a:pt x="2141" y="571555"/>
                </a:lnTo>
                <a:lnTo>
                  <a:pt x="8441" y="618036"/>
                </a:lnTo>
                <a:lnTo>
                  <a:pt x="18714" y="663134"/>
                </a:lnTo>
                <a:lnTo>
                  <a:pt x="32777" y="706663"/>
                </a:lnTo>
                <a:lnTo>
                  <a:pt x="50443" y="748438"/>
                </a:lnTo>
                <a:lnTo>
                  <a:pt x="71529" y="788274"/>
                </a:lnTo>
                <a:lnTo>
                  <a:pt x="95848" y="825987"/>
                </a:lnTo>
                <a:lnTo>
                  <a:pt x="123216" y="861391"/>
                </a:lnTo>
                <a:lnTo>
                  <a:pt x="153447" y="894302"/>
                </a:lnTo>
                <a:lnTo>
                  <a:pt x="186358" y="924533"/>
                </a:lnTo>
                <a:lnTo>
                  <a:pt x="221762" y="951901"/>
                </a:lnTo>
                <a:lnTo>
                  <a:pt x="259475" y="976220"/>
                </a:lnTo>
                <a:lnTo>
                  <a:pt x="299311" y="997306"/>
                </a:lnTo>
                <a:lnTo>
                  <a:pt x="341086" y="1014972"/>
                </a:lnTo>
                <a:lnTo>
                  <a:pt x="384615" y="1029035"/>
                </a:lnTo>
                <a:lnTo>
                  <a:pt x="429713" y="1039308"/>
                </a:lnTo>
                <a:lnTo>
                  <a:pt x="476194" y="1045608"/>
                </a:lnTo>
                <a:lnTo>
                  <a:pt x="523875" y="1047750"/>
                </a:lnTo>
                <a:lnTo>
                  <a:pt x="571555" y="1045608"/>
                </a:lnTo>
                <a:lnTo>
                  <a:pt x="618036" y="1039308"/>
                </a:lnTo>
                <a:lnTo>
                  <a:pt x="663134" y="1029035"/>
                </a:lnTo>
                <a:lnTo>
                  <a:pt x="706663" y="1014972"/>
                </a:lnTo>
                <a:lnTo>
                  <a:pt x="748438" y="997306"/>
                </a:lnTo>
                <a:lnTo>
                  <a:pt x="788274" y="976220"/>
                </a:lnTo>
                <a:lnTo>
                  <a:pt x="825987" y="951901"/>
                </a:lnTo>
                <a:lnTo>
                  <a:pt x="861391" y="924533"/>
                </a:lnTo>
                <a:lnTo>
                  <a:pt x="894302" y="894302"/>
                </a:lnTo>
                <a:lnTo>
                  <a:pt x="924533" y="861391"/>
                </a:lnTo>
                <a:lnTo>
                  <a:pt x="951901" y="825987"/>
                </a:lnTo>
                <a:lnTo>
                  <a:pt x="976220" y="788274"/>
                </a:lnTo>
                <a:lnTo>
                  <a:pt x="997306" y="748438"/>
                </a:lnTo>
                <a:lnTo>
                  <a:pt x="1014972" y="706663"/>
                </a:lnTo>
                <a:lnTo>
                  <a:pt x="1029035" y="663134"/>
                </a:lnTo>
                <a:lnTo>
                  <a:pt x="1039308" y="618036"/>
                </a:lnTo>
                <a:lnTo>
                  <a:pt x="1045608" y="571555"/>
                </a:lnTo>
                <a:lnTo>
                  <a:pt x="1047750" y="523875"/>
                </a:lnTo>
                <a:lnTo>
                  <a:pt x="1045608" y="476194"/>
                </a:lnTo>
                <a:lnTo>
                  <a:pt x="1039308" y="429713"/>
                </a:lnTo>
                <a:lnTo>
                  <a:pt x="1029035" y="384615"/>
                </a:lnTo>
                <a:lnTo>
                  <a:pt x="1014972" y="341086"/>
                </a:lnTo>
                <a:lnTo>
                  <a:pt x="997306" y="299311"/>
                </a:lnTo>
                <a:lnTo>
                  <a:pt x="976220" y="259475"/>
                </a:lnTo>
                <a:lnTo>
                  <a:pt x="951901" y="221762"/>
                </a:lnTo>
                <a:lnTo>
                  <a:pt x="924533" y="186358"/>
                </a:lnTo>
                <a:lnTo>
                  <a:pt x="894302" y="153447"/>
                </a:lnTo>
                <a:lnTo>
                  <a:pt x="861391" y="123216"/>
                </a:lnTo>
                <a:lnTo>
                  <a:pt x="825987" y="95848"/>
                </a:lnTo>
                <a:lnTo>
                  <a:pt x="788274" y="71529"/>
                </a:lnTo>
                <a:lnTo>
                  <a:pt x="748438" y="50443"/>
                </a:lnTo>
                <a:lnTo>
                  <a:pt x="706663" y="32777"/>
                </a:lnTo>
                <a:lnTo>
                  <a:pt x="663134" y="18714"/>
                </a:lnTo>
                <a:lnTo>
                  <a:pt x="618036" y="8441"/>
                </a:lnTo>
                <a:lnTo>
                  <a:pt x="571555" y="2141"/>
                </a:lnTo>
                <a:lnTo>
                  <a:pt x="523875" y="0"/>
                </a:lnTo>
                <a:close/>
              </a:path>
            </a:pathLst>
          </a:custGeom>
          <a:solidFill>
            <a:srgbClr val="F164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5915025" y="2038349"/>
            <a:ext cx="361950" cy="628650"/>
          </a:xfrm>
          <a:custGeom>
            <a:avLst/>
            <a:gdLst/>
            <a:ahLst/>
            <a:cxnLst/>
            <a:rect l="l" t="t" r="r" b="b"/>
            <a:pathLst>
              <a:path w="361950" h="628650">
                <a:moveTo>
                  <a:pt x="361950" y="176149"/>
                </a:moveTo>
                <a:lnTo>
                  <a:pt x="355473" y="129324"/>
                </a:lnTo>
                <a:lnTo>
                  <a:pt x="337235" y="87249"/>
                </a:lnTo>
                <a:lnTo>
                  <a:pt x="308940" y="51600"/>
                </a:lnTo>
                <a:lnTo>
                  <a:pt x="272313" y="24053"/>
                </a:lnTo>
                <a:lnTo>
                  <a:pt x="229082" y="6299"/>
                </a:lnTo>
                <a:lnTo>
                  <a:pt x="180975" y="0"/>
                </a:lnTo>
                <a:lnTo>
                  <a:pt x="132854" y="6299"/>
                </a:lnTo>
                <a:lnTo>
                  <a:pt x="89623" y="24053"/>
                </a:lnTo>
                <a:lnTo>
                  <a:pt x="52997" y="51600"/>
                </a:lnTo>
                <a:lnTo>
                  <a:pt x="24701" y="87249"/>
                </a:lnTo>
                <a:lnTo>
                  <a:pt x="6464" y="129324"/>
                </a:lnTo>
                <a:lnTo>
                  <a:pt x="0" y="176149"/>
                </a:lnTo>
                <a:lnTo>
                  <a:pt x="6464" y="223037"/>
                </a:lnTo>
                <a:lnTo>
                  <a:pt x="24701" y="265150"/>
                </a:lnTo>
                <a:lnTo>
                  <a:pt x="52997" y="300824"/>
                </a:lnTo>
                <a:lnTo>
                  <a:pt x="58496" y="304965"/>
                </a:lnTo>
                <a:lnTo>
                  <a:pt x="180975" y="628650"/>
                </a:lnTo>
                <a:lnTo>
                  <a:pt x="303453" y="304952"/>
                </a:lnTo>
                <a:lnTo>
                  <a:pt x="308940" y="300824"/>
                </a:lnTo>
                <a:lnTo>
                  <a:pt x="337235" y="265150"/>
                </a:lnTo>
                <a:lnTo>
                  <a:pt x="355473" y="223037"/>
                </a:lnTo>
                <a:lnTo>
                  <a:pt x="361950" y="176149"/>
                </a:lnTo>
                <a:close/>
              </a:path>
            </a:pathLst>
          </a:custGeom>
          <a:solidFill>
            <a:srgbClr val="1233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23004" y="3108007"/>
            <a:ext cx="3745991" cy="758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1D4E8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B6773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1D4E8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B6773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1D4E8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B6773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1D4E8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B6773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B6773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4F7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1977" y="694436"/>
            <a:ext cx="6515100" cy="609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1D4E8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0057" y="1732597"/>
            <a:ext cx="10967085" cy="4404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669141" y="6471750"/>
            <a:ext cx="222884" cy="1625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5B6773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334625" y="0"/>
            <a:ext cx="1857375" cy="2367280"/>
          </a:xfrm>
          <a:custGeom>
            <a:avLst/>
            <a:gdLst/>
            <a:ahLst/>
            <a:cxnLst/>
            <a:rect l="l" t="t" r="r" b="b"/>
            <a:pathLst>
              <a:path w="1857375" h="2367280">
                <a:moveTo>
                  <a:pt x="1857375" y="0"/>
                </a:moveTo>
                <a:lnTo>
                  <a:pt x="18005" y="0"/>
                </a:lnTo>
                <a:lnTo>
                  <a:pt x="13362" y="37451"/>
                </a:lnTo>
                <a:lnTo>
                  <a:pt x="8582" y="84627"/>
                </a:lnTo>
                <a:lnTo>
                  <a:pt x="4845" y="132103"/>
                </a:lnTo>
                <a:lnTo>
                  <a:pt x="2161" y="179870"/>
                </a:lnTo>
                <a:lnTo>
                  <a:pt x="542" y="227914"/>
                </a:lnTo>
                <a:lnTo>
                  <a:pt x="0" y="276225"/>
                </a:lnTo>
                <a:lnTo>
                  <a:pt x="542" y="324535"/>
                </a:lnTo>
                <a:lnTo>
                  <a:pt x="2161" y="372579"/>
                </a:lnTo>
                <a:lnTo>
                  <a:pt x="4845" y="420346"/>
                </a:lnTo>
                <a:lnTo>
                  <a:pt x="8582" y="467822"/>
                </a:lnTo>
                <a:lnTo>
                  <a:pt x="13362" y="514998"/>
                </a:lnTo>
                <a:lnTo>
                  <a:pt x="19172" y="561861"/>
                </a:lnTo>
                <a:lnTo>
                  <a:pt x="26001" y="608399"/>
                </a:lnTo>
                <a:lnTo>
                  <a:pt x="33837" y="654601"/>
                </a:lnTo>
                <a:lnTo>
                  <a:pt x="42669" y="700456"/>
                </a:lnTo>
                <a:lnTo>
                  <a:pt x="52485" y="745952"/>
                </a:lnTo>
                <a:lnTo>
                  <a:pt x="63273" y="791076"/>
                </a:lnTo>
                <a:lnTo>
                  <a:pt x="75022" y="835818"/>
                </a:lnTo>
                <a:lnTo>
                  <a:pt x="87721" y="880166"/>
                </a:lnTo>
                <a:lnTo>
                  <a:pt x="101357" y="924109"/>
                </a:lnTo>
                <a:lnTo>
                  <a:pt x="115920" y="967634"/>
                </a:lnTo>
                <a:lnTo>
                  <a:pt x="131397" y="1010730"/>
                </a:lnTo>
                <a:lnTo>
                  <a:pt x="147777" y="1053385"/>
                </a:lnTo>
                <a:lnTo>
                  <a:pt x="165048" y="1095589"/>
                </a:lnTo>
                <a:lnTo>
                  <a:pt x="183199" y="1137328"/>
                </a:lnTo>
                <a:lnTo>
                  <a:pt x="202218" y="1178593"/>
                </a:lnTo>
                <a:lnTo>
                  <a:pt x="222095" y="1219370"/>
                </a:lnTo>
                <a:lnTo>
                  <a:pt x="242816" y="1259649"/>
                </a:lnTo>
                <a:lnTo>
                  <a:pt x="264370" y="1299417"/>
                </a:lnTo>
                <a:lnTo>
                  <a:pt x="286747" y="1338664"/>
                </a:lnTo>
                <a:lnTo>
                  <a:pt x="309933" y="1377377"/>
                </a:lnTo>
                <a:lnTo>
                  <a:pt x="333919" y="1415546"/>
                </a:lnTo>
                <a:lnTo>
                  <a:pt x="358692" y="1453157"/>
                </a:lnTo>
                <a:lnTo>
                  <a:pt x="384240" y="1490201"/>
                </a:lnTo>
                <a:lnTo>
                  <a:pt x="410552" y="1526664"/>
                </a:lnTo>
                <a:lnTo>
                  <a:pt x="437617" y="1562536"/>
                </a:lnTo>
                <a:lnTo>
                  <a:pt x="465422" y="1597805"/>
                </a:lnTo>
                <a:lnTo>
                  <a:pt x="493957" y="1632459"/>
                </a:lnTo>
                <a:lnTo>
                  <a:pt x="523209" y="1666487"/>
                </a:lnTo>
                <a:lnTo>
                  <a:pt x="553167" y="1699877"/>
                </a:lnTo>
                <a:lnTo>
                  <a:pt x="583820" y="1732617"/>
                </a:lnTo>
                <a:lnTo>
                  <a:pt x="615156" y="1764696"/>
                </a:lnTo>
                <a:lnTo>
                  <a:pt x="647163" y="1796103"/>
                </a:lnTo>
                <a:lnTo>
                  <a:pt x="679829" y="1826825"/>
                </a:lnTo>
                <a:lnTo>
                  <a:pt x="713144" y="1856851"/>
                </a:lnTo>
                <a:lnTo>
                  <a:pt x="747096" y="1886169"/>
                </a:lnTo>
                <a:lnTo>
                  <a:pt x="781672" y="1914768"/>
                </a:lnTo>
                <a:lnTo>
                  <a:pt x="816862" y="1942636"/>
                </a:lnTo>
                <a:lnTo>
                  <a:pt x="852653" y="1969762"/>
                </a:lnTo>
                <a:lnTo>
                  <a:pt x="889035" y="1996134"/>
                </a:lnTo>
                <a:lnTo>
                  <a:pt x="925996" y="2021740"/>
                </a:lnTo>
                <a:lnTo>
                  <a:pt x="963523" y="2046569"/>
                </a:lnTo>
                <a:lnTo>
                  <a:pt x="1001606" y="2070609"/>
                </a:lnTo>
                <a:lnTo>
                  <a:pt x="1040233" y="2093849"/>
                </a:lnTo>
                <a:lnTo>
                  <a:pt x="1079392" y="2116276"/>
                </a:lnTo>
                <a:lnTo>
                  <a:pt x="1119072" y="2137879"/>
                </a:lnTo>
                <a:lnTo>
                  <a:pt x="1159261" y="2158648"/>
                </a:lnTo>
                <a:lnTo>
                  <a:pt x="1199948" y="2178569"/>
                </a:lnTo>
                <a:lnTo>
                  <a:pt x="1241120" y="2197632"/>
                </a:lnTo>
                <a:lnTo>
                  <a:pt x="1282767" y="2215824"/>
                </a:lnTo>
                <a:lnTo>
                  <a:pt x="1324877" y="2233135"/>
                </a:lnTo>
                <a:lnTo>
                  <a:pt x="1367438" y="2249552"/>
                </a:lnTo>
                <a:lnTo>
                  <a:pt x="1410438" y="2265064"/>
                </a:lnTo>
                <a:lnTo>
                  <a:pt x="1453867" y="2279660"/>
                </a:lnTo>
                <a:lnTo>
                  <a:pt x="1497712" y="2293327"/>
                </a:lnTo>
                <a:lnTo>
                  <a:pt x="1541962" y="2306055"/>
                </a:lnTo>
                <a:lnTo>
                  <a:pt x="1586605" y="2317831"/>
                </a:lnTo>
                <a:lnTo>
                  <a:pt x="1631630" y="2328644"/>
                </a:lnTo>
                <a:lnTo>
                  <a:pt x="1677025" y="2338482"/>
                </a:lnTo>
                <a:lnTo>
                  <a:pt x="1722779" y="2347334"/>
                </a:lnTo>
                <a:lnTo>
                  <a:pt x="1768879" y="2355188"/>
                </a:lnTo>
                <a:lnTo>
                  <a:pt x="1815315" y="2362033"/>
                </a:lnTo>
                <a:lnTo>
                  <a:pt x="1857375" y="2367271"/>
                </a:lnTo>
                <a:lnTo>
                  <a:pt x="1857375" y="0"/>
                </a:lnTo>
                <a:close/>
              </a:path>
            </a:pathLst>
          </a:custGeom>
          <a:solidFill>
            <a:srgbClr val="1D4E88">
              <a:alpha val="784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5124450"/>
            <a:ext cx="2181860" cy="1733550"/>
          </a:xfrm>
          <a:custGeom>
            <a:avLst/>
            <a:gdLst/>
            <a:ahLst/>
            <a:cxnLst/>
            <a:rect l="l" t="t" r="r" b="b"/>
            <a:pathLst>
              <a:path w="2181860" h="1733550">
                <a:moveTo>
                  <a:pt x="271462" y="0"/>
                </a:moveTo>
                <a:lnTo>
                  <a:pt x="223421" y="589"/>
                </a:lnTo>
                <a:lnTo>
                  <a:pt x="175670" y="2348"/>
                </a:lnTo>
                <a:lnTo>
                  <a:pt x="128223" y="5264"/>
                </a:lnTo>
                <a:lnTo>
                  <a:pt x="81094" y="9322"/>
                </a:lnTo>
                <a:lnTo>
                  <a:pt x="34296" y="14508"/>
                </a:lnTo>
                <a:lnTo>
                  <a:pt x="0" y="19161"/>
                </a:lnTo>
                <a:lnTo>
                  <a:pt x="0" y="1733550"/>
                </a:lnTo>
                <a:lnTo>
                  <a:pt x="2181826" y="1733550"/>
                </a:lnTo>
                <a:lnTo>
                  <a:pt x="2181427" y="1728919"/>
                </a:lnTo>
                <a:lnTo>
                  <a:pt x="2176241" y="1682121"/>
                </a:lnTo>
                <a:lnTo>
                  <a:pt x="2169940" y="1635669"/>
                </a:lnTo>
                <a:lnTo>
                  <a:pt x="2162537" y="1589575"/>
                </a:lnTo>
                <a:lnTo>
                  <a:pt x="2154048" y="1543854"/>
                </a:lnTo>
                <a:lnTo>
                  <a:pt x="2144484" y="1498520"/>
                </a:lnTo>
                <a:lnTo>
                  <a:pt x="2133861" y="1453585"/>
                </a:lnTo>
                <a:lnTo>
                  <a:pt x="2122192" y="1409064"/>
                </a:lnTo>
                <a:lnTo>
                  <a:pt x="2109490" y="1364972"/>
                </a:lnTo>
                <a:lnTo>
                  <a:pt x="2095769" y="1321320"/>
                </a:lnTo>
                <a:lnTo>
                  <a:pt x="2081044" y="1278124"/>
                </a:lnTo>
                <a:lnTo>
                  <a:pt x="2065327" y="1235396"/>
                </a:lnTo>
                <a:lnTo>
                  <a:pt x="2048633" y="1193151"/>
                </a:lnTo>
                <a:lnTo>
                  <a:pt x="2030976" y="1151402"/>
                </a:lnTo>
                <a:lnTo>
                  <a:pt x="2012368" y="1110164"/>
                </a:lnTo>
                <a:lnTo>
                  <a:pt x="1992824" y="1069449"/>
                </a:lnTo>
                <a:lnTo>
                  <a:pt x="1972358" y="1029272"/>
                </a:lnTo>
                <a:lnTo>
                  <a:pt x="1950983" y="989647"/>
                </a:lnTo>
                <a:lnTo>
                  <a:pt x="1928713" y="950586"/>
                </a:lnTo>
                <a:lnTo>
                  <a:pt x="1905562" y="912104"/>
                </a:lnTo>
                <a:lnTo>
                  <a:pt x="1881544" y="874215"/>
                </a:lnTo>
                <a:lnTo>
                  <a:pt x="1856671" y="836932"/>
                </a:lnTo>
                <a:lnTo>
                  <a:pt x="1830959" y="800269"/>
                </a:lnTo>
                <a:lnTo>
                  <a:pt x="1804420" y="764240"/>
                </a:lnTo>
                <a:lnTo>
                  <a:pt x="1777069" y="728859"/>
                </a:lnTo>
                <a:lnTo>
                  <a:pt x="1748920" y="694139"/>
                </a:lnTo>
                <a:lnTo>
                  <a:pt x="1719985" y="660094"/>
                </a:lnTo>
                <a:lnTo>
                  <a:pt x="1690279" y="626737"/>
                </a:lnTo>
                <a:lnTo>
                  <a:pt x="1659815" y="594083"/>
                </a:lnTo>
                <a:lnTo>
                  <a:pt x="1628608" y="562146"/>
                </a:lnTo>
                <a:lnTo>
                  <a:pt x="1596670" y="530938"/>
                </a:lnTo>
                <a:lnTo>
                  <a:pt x="1564017" y="500475"/>
                </a:lnTo>
                <a:lnTo>
                  <a:pt x="1530661" y="470769"/>
                </a:lnTo>
                <a:lnTo>
                  <a:pt x="1496616" y="441834"/>
                </a:lnTo>
                <a:lnTo>
                  <a:pt x="1461895" y="413684"/>
                </a:lnTo>
                <a:lnTo>
                  <a:pt x="1426514" y="386332"/>
                </a:lnTo>
                <a:lnTo>
                  <a:pt x="1390485" y="359794"/>
                </a:lnTo>
                <a:lnTo>
                  <a:pt x="1353822" y="334081"/>
                </a:lnTo>
                <a:lnTo>
                  <a:pt x="1316540" y="309209"/>
                </a:lnTo>
                <a:lnTo>
                  <a:pt x="1278650" y="285190"/>
                </a:lnTo>
                <a:lnTo>
                  <a:pt x="1240169" y="262039"/>
                </a:lnTo>
                <a:lnTo>
                  <a:pt x="1201108" y="239769"/>
                </a:lnTo>
                <a:lnTo>
                  <a:pt x="1161482" y="218393"/>
                </a:lnTo>
                <a:lnTo>
                  <a:pt x="1121305" y="197927"/>
                </a:lnTo>
                <a:lnTo>
                  <a:pt x="1080590" y="178383"/>
                </a:lnTo>
                <a:lnTo>
                  <a:pt x="1039352" y="159775"/>
                </a:lnTo>
                <a:lnTo>
                  <a:pt x="997603" y="142117"/>
                </a:lnTo>
                <a:lnTo>
                  <a:pt x="955358" y="125423"/>
                </a:lnTo>
                <a:lnTo>
                  <a:pt x="912630" y="109706"/>
                </a:lnTo>
                <a:lnTo>
                  <a:pt x="869434" y="94981"/>
                </a:lnTo>
                <a:lnTo>
                  <a:pt x="825782" y="81260"/>
                </a:lnTo>
                <a:lnTo>
                  <a:pt x="781689" y="68558"/>
                </a:lnTo>
                <a:lnTo>
                  <a:pt x="737168" y="56889"/>
                </a:lnTo>
                <a:lnTo>
                  <a:pt x="692233" y="46265"/>
                </a:lnTo>
                <a:lnTo>
                  <a:pt x="646898" y="36702"/>
                </a:lnTo>
                <a:lnTo>
                  <a:pt x="601177" y="28212"/>
                </a:lnTo>
                <a:lnTo>
                  <a:pt x="555083" y="20810"/>
                </a:lnTo>
                <a:lnTo>
                  <a:pt x="508630" y="14508"/>
                </a:lnTo>
                <a:lnTo>
                  <a:pt x="461832" y="9322"/>
                </a:lnTo>
                <a:lnTo>
                  <a:pt x="414702" y="5264"/>
                </a:lnTo>
                <a:lnTo>
                  <a:pt x="367255" y="2348"/>
                </a:lnTo>
                <a:lnTo>
                  <a:pt x="319504" y="589"/>
                </a:lnTo>
                <a:lnTo>
                  <a:pt x="271462" y="0"/>
                </a:lnTo>
                <a:close/>
              </a:path>
            </a:pathLst>
          </a:custGeom>
          <a:solidFill>
            <a:srgbClr val="5FA744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068050" y="5305425"/>
            <a:ext cx="1123950" cy="1552575"/>
          </a:xfrm>
          <a:custGeom>
            <a:avLst/>
            <a:gdLst/>
            <a:ahLst/>
            <a:cxnLst/>
            <a:rect l="l" t="t" r="r" b="b"/>
            <a:pathLst>
              <a:path w="1123950" h="1552575">
                <a:moveTo>
                  <a:pt x="957326" y="0"/>
                </a:moveTo>
                <a:lnTo>
                  <a:pt x="909547" y="1171"/>
                </a:lnTo>
                <a:lnTo>
                  <a:pt x="862374" y="4649"/>
                </a:lnTo>
                <a:lnTo>
                  <a:pt x="815862" y="10379"/>
                </a:lnTo>
                <a:lnTo>
                  <a:pt x="770067" y="18305"/>
                </a:lnTo>
                <a:lnTo>
                  <a:pt x="725042" y="28374"/>
                </a:lnTo>
                <a:lnTo>
                  <a:pt x="680843" y="40530"/>
                </a:lnTo>
                <a:lnTo>
                  <a:pt x="637524" y="54717"/>
                </a:lnTo>
                <a:lnTo>
                  <a:pt x="595141" y="70883"/>
                </a:lnTo>
                <a:lnTo>
                  <a:pt x="553748" y="88971"/>
                </a:lnTo>
                <a:lnTo>
                  <a:pt x="513400" y="108927"/>
                </a:lnTo>
                <a:lnTo>
                  <a:pt x="474152" y="130695"/>
                </a:lnTo>
                <a:lnTo>
                  <a:pt x="436058" y="154222"/>
                </a:lnTo>
                <a:lnTo>
                  <a:pt x="399175" y="179452"/>
                </a:lnTo>
                <a:lnTo>
                  <a:pt x="363555" y="206330"/>
                </a:lnTo>
                <a:lnTo>
                  <a:pt x="329256" y="234802"/>
                </a:lnTo>
                <a:lnTo>
                  <a:pt x="296330" y="264812"/>
                </a:lnTo>
                <a:lnTo>
                  <a:pt x="264833" y="296307"/>
                </a:lnTo>
                <a:lnTo>
                  <a:pt x="234821" y="329230"/>
                </a:lnTo>
                <a:lnTo>
                  <a:pt x="206347" y="363527"/>
                </a:lnTo>
                <a:lnTo>
                  <a:pt x="179466" y="399144"/>
                </a:lnTo>
                <a:lnTo>
                  <a:pt x="154235" y="436025"/>
                </a:lnTo>
                <a:lnTo>
                  <a:pt x="130706" y="474116"/>
                </a:lnTo>
                <a:lnTo>
                  <a:pt x="108936" y="513361"/>
                </a:lnTo>
                <a:lnTo>
                  <a:pt x="88978" y="553707"/>
                </a:lnTo>
                <a:lnTo>
                  <a:pt x="70889" y="595097"/>
                </a:lnTo>
                <a:lnTo>
                  <a:pt x="54722" y="637478"/>
                </a:lnTo>
                <a:lnTo>
                  <a:pt x="40533" y="680794"/>
                </a:lnTo>
                <a:lnTo>
                  <a:pt x="28376" y="724991"/>
                </a:lnTo>
                <a:lnTo>
                  <a:pt x="18307" y="770013"/>
                </a:lnTo>
                <a:lnTo>
                  <a:pt x="10380" y="815806"/>
                </a:lnTo>
                <a:lnTo>
                  <a:pt x="4650" y="862315"/>
                </a:lnTo>
                <a:lnTo>
                  <a:pt x="1171" y="909485"/>
                </a:lnTo>
                <a:lnTo>
                  <a:pt x="0" y="957262"/>
                </a:lnTo>
                <a:lnTo>
                  <a:pt x="1171" y="1005039"/>
                </a:lnTo>
                <a:lnTo>
                  <a:pt x="4650" y="1052210"/>
                </a:lnTo>
                <a:lnTo>
                  <a:pt x="10380" y="1098719"/>
                </a:lnTo>
                <a:lnTo>
                  <a:pt x="18307" y="1144512"/>
                </a:lnTo>
                <a:lnTo>
                  <a:pt x="28376" y="1189535"/>
                </a:lnTo>
                <a:lnTo>
                  <a:pt x="40533" y="1233732"/>
                </a:lnTo>
                <a:lnTo>
                  <a:pt x="54722" y="1277048"/>
                </a:lnTo>
                <a:lnTo>
                  <a:pt x="70889" y="1319429"/>
                </a:lnTo>
                <a:lnTo>
                  <a:pt x="88978" y="1360819"/>
                </a:lnTo>
                <a:lnTo>
                  <a:pt x="108936" y="1401165"/>
                </a:lnTo>
                <a:lnTo>
                  <a:pt x="130706" y="1440410"/>
                </a:lnTo>
                <a:lnTo>
                  <a:pt x="154235" y="1478501"/>
                </a:lnTo>
                <a:lnTo>
                  <a:pt x="179466" y="1515382"/>
                </a:lnTo>
                <a:lnTo>
                  <a:pt x="206347" y="1550999"/>
                </a:lnTo>
                <a:lnTo>
                  <a:pt x="207655" y="1552575"/>
                </a:lnTo>
                <a:lnTo>
                  <a:pt x="1123950" y="1552575"/>
                </a:lnTo>
                <a:lnTo>
                  <a:pt x="1123950" y="14740"/>
                </a:lnTo>
                <a:lnTo>
                  <a:pt x="1098757" y="10379"/>
                </a:lnTo>
                <a:lnTo>
                  <a:pt x="1052255" y="4649"/>
                </a:lnTo>
                <a:lnTo>
                  <a:pt x="1005093" y="1171"/>
                </a:lnTo>
                <a:lnTo>
                  <a:pt x="957326" y="0"/>
                </a:lnTo>
                <a:close/>
              </a:path>
            </a:pathLst>
          </a:custGeom>
          <a:solidFill>
            <a:srgbClr val="F16421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12192000" cy="1447800"/>
            <a:chOff x="0" y="0"/>
            <a:chExt cx="12192000" cy="1447800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12192000" cy="1047750"/>
            </a:xfrm>
            <a:custGeom>
              <a:avLst/>
              <a:gdLst/>
              <a:ahLst/>
              <a:cxnLst/>
              <a:rect l="l" t="t" r="r" b="b"/>
              <a:pathLst>
                <a:path w="12192000" h="1047750">
                  <a:moveTo>
                    <a:pt x="12192000" y="0"/>
                  </a:moveTo>
                  <a:lnTo>
                    <a:pt x="0" y="0"/>
                  </a:lnTo>
                  <a:lnTo>
                    <a:pt x="0" y="1047750"/>
                  </a:lnTo>
                  <a:lnTo>
                    <a:pt x="12192000" y="104775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/home/claude/logo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625" y="476250"/>
              <a:ext cx="7496175" cy="971550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814387" y="1881251"/>
            <a:ext cx="10544810" cy="0"/>
          </a:xfrm>
          <a:custGeom>
            <a:avLst/>
            <a:gdLst/>
            <a:ahLst/>
            <a:cxnLst/>
            <a:rect l="l" t="t" r="r" b="b"/>
            <a:pathLst>
              <a:path w="10544810" h="0">
                <a:moveTo>
                  <a:pt x="0" y="0"/>
                </a:moveTo>
                <a:lnTo>
                  <a:pt x="10544238" y="0"/>
                </a:lnTo>
              </a:path>
            </a:pathLst>
          </a:custGeom>
          <a:ln w="12700">
            <a:solidFill>
              <a:srgbClr val="DCE3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2645791" y="1995424"/>
            <a:ext cx="6869430" cy="2000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9300"/>
              </a:lnSpc>
              <a:spcBef>
                <a:spcPts val="95"/>
              </a:spcBef>
            </a:pPr>
            <a:r>
              <a:rPr dirty="0" sz="3950"/>
              <a:t>Design</a:t>
            </a:r>
            <a:r>
              <a:rPr dirty="0" sz="3950" spc="40"/>
              <a:t> </a:t>
            </a:r>
            <a:r>
              <a:rPr dirty="0" sz="3950"/>
              <a:t>of</a:t>
            </a:r>
            <a:r>
              <a:rPr dirty="0" sz="3950" spc="40"/>
              <a:t> </a:t>
            </a:r>
            <a:r>
              <a:rPr dirty="0" sz="3950"/>
              <a:t>a</a:t>
            </a:r>
            <a:r>
              <a:rPr dirty="0" sz="3950" spc="50"/>
              <a:t> </a:t>
            </a:r>
            <a:r>
              <a:rPr dirty="0" sz="3950"/>
              <a:t>Child</a:t>
            </a:r>
            <a:r>
              <a:rPr dirty="0" sz="3950" spc="50"/>
              <a:t> </a:t>
            </a:r>
            <a:r>
              <a:rPr dirty="0" sz="3950"/>
              <a:t>Nutrition</a:t>
            </a:r>
            <a:r>
              <a:rPr dirty="0" sz="3950" spc="55"/>
              <a:t> </a:t>
            </a:r>
            <a:r>
              <a:rPr dirty="0" sz="3950" spc="-25"/>
              <a:t>and </a:t>
            </a:r>
            <a:r>
              <a:rPr dirty="0" sz="3950"/>
              <a:t>Food</a:t>
            </a:r>
            <a:r>
              <a:rPr dirty="0" sz="3950" spc="35"/>
              <a:t> </a:t>
            </a:r>
            <a:r>
              <a:rPr dirty="0" sz="3950"/>
              <a:t>Security</a:t>
            </a:r>
            <a:r>
              <a:rPr dirty="0" sz="3950" spc="40"/>
              <a:t> </a:t>
            </a:r>
            <a:r>
              <a:rPr dirty="0" sz="3950" spc="-10"/>
              <a:t>Mapping </a:t>
            </a:r>
            <a:r>
              <a:rPr dirty="0" sz="3950"/>
              <a:t>Visualization</a:t>
            </a:r>
            <a:r>
              <a:rPr dirty="0" sz="3950" spc="-50"/>
              <a:t> </a:t>
            </a:r>
            <a:r>
              <a:rPr dirty="0" sz="3950" spc="-10"/>
              <a:t>Platform</a:t>
            </a:r>
            <a:endParaRPr sz="3950"/>
          </a:p>
        </p:txBody>
      </p:sp>
      <p:grpSp>
        <p:nvGrpSpPr>
          <p:cNvPr id="10" name="object 10"/>
          <p:cNvGrpSpPr/>
          <p:nvPr/>
        </p:nvGrpSpPr>
        <p:grpSpPr>
          <a:xfrm>
            <a:off x="779462" y="4703826"/>
            <a:ext cx="5080635" cy="1612900"/>
            <a:chOff x="779462" y="4703826"/>
            <a:chExt cx="5080635" cy="1612900"/>
          </a:xfrm>
        </p:grpSpPr>
        <p:sp>
          <p:nvSpPr>
            <p:cNvPr id="11" name="object 11"/>
            <p:cNvSpPr/>
            <p:nvPr/>
          </p:nvSpPr>
          <p:spPr>
            <a:xfrm>
              <a:off x="785812" y="4710176"/>
              <a:ext cx="5067935" cy="1600200"/>
            </a:xfrm>
            <a:custGeom>
              <a:avLst/>
              <a:gdLst/>
              <a:ahLst/>
              <a:cxnLst/>
              <a:rect l="l" t="t" r="r" b="b"/>
              <a:pathLst>
                <a:path w="5067935" h="1600200">
                  <a:moveTo>
                    <a:pt x="4975923" y="0"/>
                  </a:moveTo>
                  <a:lnTo>
                    <a:pt x="91440" y="0"/>
                  </a:lnTo>
                  <a:lnTo>
                    <a:pt x="55844" y="7177"/>
                  </a:lnTo>
                  <a:lnTo>
                    <a:pt x="26779" y="26749"/>
                  </a:lnTo>
                  <a:lnTo>
                    <a:pt x="7184" y="55774"/>
                  </a:lnTo>
                  <a:lnTo>
                    <a:pt x="0" y="91312"/>
                  </a:lnTo>
                  <a:lnTo>
                    <a:pt x="0" y="1508696"/>
                  </a:lnTo>
                  <a:lnTo>
                    <a:pt x="7184" y="1544292"/>
                  </a:lnTo>
                  <a:lnTo>
                    <a:pt x="26779" y="1573356"/>
                  </a:lnTo>
                  <a:lnTo>
                    <a:pt x="55844" y="1592951"/>
                  </a:lnTo>
                  <a:lnTo>
                    <a:pt x="91440" y="1600136"/>
                  </a:lnTo>
                  <a:lnTo>
                    <a:pt x="4975923" y="1600136"/>
                  </a:lnTo>
                  <a:lnTo>
                    <a:pt x="5011481" y="1592951"/>
                  </a:lnTo>
                  <a:lnTo>
                    <a:pt x="5040550" y="1573356"/>
                  </a:lnTo>
                  <a:lnTo>
                    <a:pt x="5060166" y="1544292"/>
                  </a:lnTo>
                  <a:lnTo>
                    <a:pt x="5067363" y="1508696"/>
                  </a:lnTo>
                  <a:lnTo>
                    <a:pt x="5067363" y="91312"/>
                  </a:lnTo>
                  <a:lnTo>
                    <a:pt x="5060166" y="55774"/>
                  </a:lnTo>
                  <a:lnTo>
                    <a:pt x="5040550" y="26749"/>
                  </a:lnTo>
                  <a:lnTo>
                    <a:pt x="5011481" y="7177"/>
                  </a:lnTo>
                  <a:lnTo>
                    <a:pt x="4975923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85812" y="4710176"/>
              <a:ext cx="5067935" cy="1600200"/>
            </a:xfrm>
            <a:custGeom>
              <a:avLst/>
              <a:gdLst/>
              <a:ahLst/>
              <a:cxnLst/>
              <a:rect l="l" t="t" r="r" b="b"/>
              <a:pathLst>
                <a:path w="5067935" h="1600200">
                  <a:moveTo>
                    <a:pt x="0" y="91312"/>
                  </a:moveTo>
                  <a:lnTo>
                    <a:pt x="7184" y="55774"/>
                  </a:lnTo>
                  <a:lnTo>
                    <a:pt x="26779" y="26749"/>
                  </a:lnTo>
                  <a:lnTo>
                    <a:pt x="55844" y="7177"/>
                  </a:lnTo>
                  <a:lnTo>
                    <a:pt x="91440" y="0"/>
                  </a:lnTo>
                  <a:lnTo>
                    <a:pt x="4975923" y="0"/>
                  </a:lnTo>
                  <a:lnTo>
                    <a:pt x="5011481" y="7177"/>
                  </a:lnTo>
                  <a:lnTo>
                    <a:pt x="5040550" y="26749"/>
                  </a:lnTo>
                  <a:lnTo>
                    <a:pt x="5060166" y="55774"/>
                  </a:lnTo>
                  <a:lnTo>
                    <a:pt x="5067363" y="91312"/>
                  </a:lnTo>
                  <a:lnTo>
                    <a:pt x="5067363" y="1508696"/>
                  </a:lnTo>
                  <a:lnTo>
                    <a:pt x="5060166" y="1544292"/>
                  </a:lnTo>
                  <a:lnTo>
                    <a:pt x="5040550" y="1573356"/>
                  </a:lnTo>
                  <a:lnTo>
                    <a:pt x="5011481" y="1592951"/>
                  </a:lnTo>
                  <a:lnTo>
                    <a:pt x="4975923" y="1600136"/>
                  </a:lnTo>
                  <a:lnTo>
                    <a:pt x="91440" y="1600136"/>
                  </a:lnTo>
                  <a:lnTo>
                    <a:pt x="55844" y="1592951"/>
                  </a:lnTo>
                  <a:lnTo>
                    <a:pt x="26779" y="1573356"/>
                  </a:lnTo>
                  <a:lnTo>
                    <a:pt x="7184" y="1544292"/>
                  </a:lnTo>
                  <a:lnTo>
                    <a:pt x="0" y="1508696"/>
                  </a:lnTo>
                  <a:lnTo>
                    <a:pt x="0" y="91312"/>
                  </a:lnTo>
                  <a:close/>
                </a:path>
              </a:pathLst>
            </a:custGeom>
            <a:ln w="12700">
              <a:solidFill>
                <a:srgbClr val="DC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108392" y="4926766"/>
            <a:ext cx="2038985" cy="93662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245"/>
              </a:spcBef>
            </a:pPr>
            <a:r>
              <a:rPr dirty="0" sz="1200" spc="-10" b="1">
                <a:solidFill>
                  <a:srgbClr val="F16421"/>
                </a:solidFill>
                <a:latin typeface="Times New Roman"/>
                <a:cs typeface="Times New Roman"/>
              </a:rPr>
              <a:t>G</a:t>
            </a:r>
            <a:r>
              <a:rPr dirty="0" sz="1200" spc="-114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200" spc="75" b="1">
                <a:solidFill>
                  <a:srgbClr val="F16421"/>
                </a:solidFill>
                <a:latin typeface="Times New Roman"/>
                <a:cs typeface="Times New Roman"/>
              </a:rPr>
              <a:t>UID</a:t>
            </a:r>
            <a:r>
              <a:rPr dirty="0" sz="1200" spc="-114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200" spc="45" b="1">
                <a:solidFill>
                  <a:srgbClr val="F16421"/>
                </a:solidFill>
                <a:latin typeface="Times New Roman"/>
                <a:cs typeface="Times New Roman"/>
              </a:rPr>
              <a:t>ED</a:t>
            </a:r>
            <a:r>
              <a:rPr dirty="0" sz="1200" spc="335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16421"/>
                </a:solidFill>
                <a:latin typeface="Times New Roman"/>
                <a:cs typeface="Times New Roman"/>
              </a:rPr>
              <a:t>B</a:t>
            </a:r>
            <a:r>
              <a:rPr dirty="0" sz="1200" spc="-125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200" spc="-50" b="1">
                <a:solidFill>
                  <a:srgbClr val="F16421"/>
                </a:solidFill>
                <a:latin typeface="Times New Roman"/>
                <a:cs typeface="Times New Roman"/>
              </a:rPr>
              <a:t>Y</a:t>
            </a:r>
            <a:endParaRPr sz="1200">
              <a:latin typeface="Times New Roman"/>
              <a:cs typeface="Times New Roman"/>
            </a:endParaRPr>
          </a:p>
          <a:p>
            <a:pPr marL="12700" marR="454659">
              <a:lnSpc>
                <a:spcPct val="100000"/>
              </a:lnSpc>
              <a:spcBef>
                <a:spcPts val="185"/>
              </a:spcBef>
            </a:pPr>
            <a:r>
              <a:rPr dirty="0" sz="1500" spc="-10">
                <a:latin typeface="Times New Roman"/>
                <a:cs typeface="Times New Roman"/>
              </a:rPr>
              <a:t>Dr.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Senthil</a:t>
            </a:r>
            <a:r>
              <a:rPr dirty="0" sz="1500" spc="-90">
                <a:latin typeface="Times New Roman"/>
                <a:cs typeface="Times New Roman"/>
              </a:rPr>
              <a:t> </a:t>
            </a:r>
            <a:r>
              <a:rPr dirty="0" sz="1500" spc="-20">
                <a:latin typeface="Times New Roman"/>
                <a:cs typeface="Times New Roman"/>
              </a:rPr>
              <a:t>Vadivu</a:t>
            </a:r>
            <a:r>
              <a:rPr dirty="0" sz="1500" spc="-50">
                <a:latin typeface="Times New Roman"/>
                <a:cs typeface="Times New Roman"/>
              </a:rPr>
              <a:t> S </a:t>
            </a:r>
            <a:r>
              <a:rPr dirty="0" sz="1500">
                <a:latin typeface="Times New Roman"/>
                <a:cs typeface="Times New Roman"/>
              </a:rPr>
              <a:t>Asst.</a:t>
            </a:r>
            <a:r>
              <a:rPr dirty="0" sz="1500" spc="-10">
                <a:latin typeface="Times New Roman"/>
                <a:cs typeface="Times New Roman"/>
              </a:rPr>
              <a:t> Professor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00" spc="-35">
                <a:latin typeface="Times New Roman"/>
                <a:cs typeface="Times New Roman"/>
              </a:rPr>
              <a:t>SIMATS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ENGINEERING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37326" y="4703826"/>
            <a:ext cx="5356225" cy="1612900"/>
            <a:chOff x="6037326" y="4703826"/>
            <a:chExt cx="5356225" cy="1612900"/>
          </a:xfrm>
        </p:grpSpPr>
        <p:sp>
          <p:nvSpPr>
            <p:cNvPr id="15" name="object 15"/>
            <p:cNvSpPr/>
            <p:nvPr/>
          </p:nvSpPr>
          <p:spPr>
            <a:xfrm>
              <a:off x="6043676" y="4710176"/>
              <a:ext cx="5343525" cy="1600200"/>
            </a:xfrm>
            <a:custGeom>
              <a:avLst/>
              <a:gdLst/>
              <a:ahLst/>
              <a:cxnLst/>
              <a:rect l="l" t="t" r="r" b="b"/>
              <a:pathLst>
                <a:path w="5343525" h="1600200">
                  <a:moveTo>
                    <a:pt x="5252084" y="0"/>
                  </a:moveTo>
                  <a:lnTo>
                    <a:pt x="91312" y="0"/>
                  </a:lnTo>
                  <a:lnTo>
                    <a:pt x="55774" y="7177"/>
                  </a:lnTo>
                  <a:lnTo>
                    <a:pt x="26749" y="26749"/>
                  </a:lnTo>
                  <a:lnTo>
                    <a:pt x="7177" y="55774"/>
                  </a:lnTo>
                  <a:lnTo>
                    <a:pt x="0" y="91312"/>
                  </a:lnTo>
                  <a:lnTo>
                    <a:pt x="0" y="1508696"/>
                  </a:lnTo>
                  <a:lnTo>
                    <a:pt x="7177" y="1544292"/>
                  </a:lnTo>
                  <a:lnTo>
                    <a:pt x="26749" y="1573356"/>
                  </a:lnTo>
                  <a:lnTo>
                    <a:pt x="55774" y="1592951"/>
                  </a:lnTo>
                  <a:lnTo>
                    <a:pt x="91312" y="1600136"/>
                  </a:lnTo>
                  <a:lnTo>
                    <a:pt x="5252084" y="1600136"/>
                  </a:lnTo>
                  <a:lnTo>
                    <a:pt x="5287643" y="1592951"/>
                  </a:lnTo>
                  <a:lnTo>
                    <a:pt x="5316712" y="1573356"/>
                  </a:lnTo>
                  <a:lnTo>
                    <a:pt x="5336327" y="1544292"/>
                  </a:lnTo>
                  <a:lnTo>
                    <a:pt x="5343525" y="1508696"/>
                  </a:lnTo>
                  <a:lnTo>
                    <a:pt x="5343525" y="91312"/>
                  </a:lnTo>
                  <a:lnTo>
                    <a:pt x="5336327" y="55774"/>
                  </a:lnTo>
                  <a:lnTo>
                    <a:pt x="5316712" y="26749"/>
                  </a:lnTo>
                  <a:lnTo>
                    <a:pt x="5287643" y="7177"/>
                  </a:lnTo>
                  <a:lnTo>
                    <a:pt x="5252084" y="0"/>
                  </a:lnTo>
                  <a:close/>
                </a:path>
              </a:pathLst>
            </a:custGeom>
            <a:solidFill>
              <a:srgbClr val="F4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043676" y="4710176"/>
              <a:ext cx="5343525" cy="1600200"/>
            </a:xfrm>
            <a:custGeom>
              <a:avLst/>
              <a:gdLst/>
              <a:ahLst/>
              <a:cxnLst/>
              <a:rect l="l" t="t" r="r" b="b"/>
              <a:pathLst>
                <a:path w="5343525" h="1600200">
                  <a:moveTo>
                    <a:pt x="0" y="91312"/>
                  </a:moveTo>
                  <a:lnTo>
                    <a:pt x="7177" y="55774"/>
                  </a:lnTo>
                  <a:lnTo>
                    <a:pt x="26749" y="26749"/>
                  </a:lnTo>
                  <a:lnTo>
                    <a:pt x="55774" y="7177"/>
                  </a:lnTo>
                  <a:lnTo>
                    <a:pt x="91312" y="0"/>
                  </a:lnTo>
                  <a:lnTo>
                    <a:pt x="5252084" y="0"/>
                  </a:lnTo>
                  <a:lnTo>
                    <a:pt x="5287643" y="7177"/>
                  </a:lnTo>
                  <a:lnTo>
                    <a:pt x="5316712" y="26749"/>
                  </a:lnTo>
                  <a:lnTo>
                    <a:pt x="5336327" y="55774"/>
                  </a:lnTo>
                  <a:lnTo>
                    <a:pt x="5343525" y="91312"/>
                  </a:lnTo>
                  <a:lnTo>
                    <a:pt x="5343525" y="1508696"/>
                  </a:lnTo>
                  <a:lnTo>
                    <a:pt x="5336327" y="1544292"/>
                  </a:lnTo>
                  <a:lnTo>
                    <a:pt x="5316712" y="1573356"/>
                  </a:lnTo>
                  <a:lnTo>
                    <a:pt x="5287643" y="1592951"/>
                  </a:lnTo>
                  <a:lnTo>
                    <a:pt x="5252084" y="1600136"/>
                  </a:lnTo>
                  <a:lnTo>
                    <a:pt x="91312" y="1600136"/>
                  </a:lnTo>
                  <a:lnTo>
                    <a:pt x="55774" y="1592951"/>
                  </a:lnTo>
                  <a:lnTo>
                    <a:pt x="26749" y="1573356"/>
                  </a:lnTo>
                  <a:lnTo>
                    <a:pt x="7177" y="1544292"/>
                  </a:lnTo>
                  <a:lnTo>
                    <a:pt x="0" y="1508696"/>
                  </a:lnTo>
                  <a:lnTo>
                    <a:pt x="0" y="91312"/>
                  </a:lnTo>
                  <a:close/>
                </a:path>
              </a:pathLst>
            </a:custGeom>
            <a:ln w="12700">
              <a:solidFill>
                <a:srgbClr val="DC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393179" y="4848126"/>
            <a:ext cx="2058035" cy="106743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200" spc="-10" b="1">
                <a:solidFill>
                  <a:srgbClr val="F16421"/>
                </a:solidFill>
                <a:latin typeface="Times New Roman"/>
                <a:cs typeface="Times New Roman"/>
              </a:rPr>
              <a:t>P</a:t>
            </a:r>
            <a:r>
              <a:rPr dirty="0" sz="1200" spc="-140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200" spc="50" b="1">
                <a:solidFill>
                  <a:srgbClr val="F16421"/>
                </a:solidFill>
                <a:latin typeface="Times New Roman"/>
                <a:cs typeface="Times New Roman"/>
              </a:rPr>
              <a:t>RE</a:t>
            </a:r>
            <a:r>
              <a:rPr dirty="0" sz="1200" spc="-130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16421"/>
                </a:solidFill>
                <a:latin typeface="Times New Roman"/>
                <a:cs typeface="Times New Roman"/>
              </a:rPr>
              <a:t>S</a:t>
            </a:r>
            <a:r>
              <a:rPr dirty="0" sz="1200" spc="-145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16421"/>
                </a:solidFill>
                <a:latin typeface="Times New Roman"/>
                <a:cs typeface="Times New Roman"/>
              </a:rPr>
              <a:t>E</a:t>
            </a:r>
            <a:r>
              <a:rPr dirty="0" sz="1200" spc="-130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200" spc="50" b="1">
                <a:solidFill>
                  <a:srgbClr val="F16421"/>
                </a:solidFill>
                <a:latin typeface="Times New Roman"/>
                <a:cs typeface="Times New Roman"/>
              </a:rPr>
              <a:t>NT</a:t>
            </a:r>
            <a:r>
              <a:rPr dirty="0" sz="1200" spc="-130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200" spc="45" b="1">
                <a:solidFill>
                  <a:srgbClr val="F16421"/>
                </a:solidFill>
                <a:latin typeface="Times New Roman"/>
                <a:cs typeface="Times New Roman"/>
              </a:rPr>
              <a:t>ED</a:t>
            </a:r>
            <a:r>
              <a:rPr dirty="0" sz="1200" spc="335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16421"/>
                </a:solidFill>
                <a:latin typeface="Times New Roman"/>
                <a:cs typeface="Times New Roman"/>
              </a:rPr>
              <a:t>B</a:t>
            </a:r>
            <a:r>
              <a:rPr dirty="0" sz="1200" spc="-130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200" spc="-50" b="1">
                <a:solidFill>
                  <a:srgbClr val="F16421"/>
                </a:solidFill>
                <a:latin typeface="Times New Roman"/>
                <a:cs typeface="Times New Roman"/>
              </a:rPr>
              <a:t>Y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00600"/>
              </a:lnSpc>
              <a:spcBef>
                <a:spcPts val="919"/>
              </a:spcBef>
            </a:pPr>
            <a:r>
              <a:rPr dirty="0" sz="1400">
                <a:latin typeface="Times New Roman"/>
                <a:cs typeface="Times New Roman"/>
              </a:rPr>
              <a:t>Dhanajeyan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J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192324211 </a:t>
            </a:r>
            <a:r>
              <a:rPr dirty="0" sz="1400">
                <a:latin typeface="Times New Roman"/>
                <a:cs typeface="Times New Roman"/>
              </a:rPr>
              <a:t>Siddarth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10">
                <a:latin typeface="Times New Roman"/>
                <a:cs typeface="Times New Roman"/>
              </a:rPr>
              <a:t> 192324264 </a:t>
            </a:r>
            <a:r>
              <a:rPr dirty="0" sz="1400">
                <a:latin typeface="Times New Roman"/>
                <a:cs typeface="Times New Roman"/>
              </a:rPr>
              <a:t>Harshavardhan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-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192324189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8015" y="423227"/>
            <a:ext cx="112966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C0392B"/>
                </a:solidFill>
                <a:latin typeface="Times New Roman"/>
                <a:cs typeface="Times New Roman"/>
              </a:rPr>
              <a:t>O</a:t>
            </a:r>
            <a:r>
              <a:rPr dirty="0" sz="1250" spc="-100" b="1">
                <a:solidFill>
                  <a:srgbClr val="C0392B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C0392B"/>
                </a:solidFill>
                <a:latin typeface="Times New Roman"/>
                <a:cs typeface="Times New Roman"/>
              </a:rPr>
              <a:t>V</a:t>
            </a:r>
            <a:r>
              <a:rPr dirty="0" sz="1250" spc="-105" b="1">
                <a:solidFill>
                  <a:srgbClr val="C0392B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C0392B"/>
                </a:solidFill>
                <a:latin typeface="Times New Roman"/>
                <a:cs typeface="Times New Roman"/>
              </a:rPr>
              <a:t>E</a:t>
            </a:r>
            <a:r>
              <a:rPr dirty="0" sz="1250" spc="-30" b="1">
                <a:solidFill>
                  <a:srgbClr val="C0392B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C0392B"/>
                </a:solidFill>
                <a:latin typeface="Times New Roman"/>
                <a:cs typeface="Times New Roman"/>
              </a:rPr>
              <a:t>R</a:t>
            </a:r>
            <a:r>
              <a:rPr dirty="0" sz="1250" spc="-100" b="1">
                <a:solidFill>
                  <a:srgbClr val="C0392B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C0392B"/>
                </a:solidFill>
                <a:latin typeface="Times New Roman"/>
                <a:cs typeface="Times New Roman"/>
              </a:rPr>
              <a:t>V</a:t>
            </a:r>
            <a:r>
              <a:rPr dirty="0" sz="1250" spc="-105" b="1">
                <a:solidFill>
                  <a:srgbClr val="C0392B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C0392B"/>
                </a:solidFill>
                <a:latin typeface="Times New Roman"/>
                <a:cs typeface="Times New Roman"/>
              </a:rPr>
              <a:t>I</a:t>
            </a:r>
            <a:r>
              <a:rPr dirty="0" sz="1250" spc="-130" b="1">
                <a:solidFill>
                  <a:srgbClr val="C0392B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C0392B"/>
                </a:solidFill>
                <a:latin typeface="Times New Roman"/>
                <a:cs typeface="Times New Roman"/>
              </a:rPr>
              <a:t>E</a:t>
            </a:r>
            <a:r>
              <a:rPr dirty="0" sz="1250" spc="-105" b="1">
                <a:solidFill>
                  <a:srgbClr val="C0392B"/>
                </a:solidFill>
                <a:latin typeface="Times New Roman"/>
                <a:cs typeface="Times New Roman"/>
              </a:rPr>
              <a:t> </a:t>
            </a:r>
            <a:r>
              <a:rPr dirty="0" sz="1250" spc="-50" b="1">
                <a:solidFill>
                  <a:srgbClr val="C0392B"/>
                </a:solidFill>
                <a:latin typeface="Times New Roman"/>
                <a:cs typeface="Times New Roman"/>
              </a:rPr>
              <a:t>W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8015" y="1726882"/>
            <a:ext cx="5970905" cy="5041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41300" marR="5080" indent="-228600">
              <a:lnSpc>
                <a:spcPct val="100899"/>
              </a:lnSpc>
              <a:spcBef>
                <a:spcPts val="110"/>
              </a:spcBef>
              <a:buChar char="•"/>
              <a:tabLst>
                <a:tab pos="241300" algn="l"/>
              </a:tabLst>
            </a:pP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A</a:t>
            </a:r>
            <a:r>
              <a:rPr dirty="0" sz="1550" spc="60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unified</a:t>
            </a:r>
            <a:r>
              <a:rPr dirty="0" sz="1550" spc="114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visualization</a:t>
            </a:r>
            <a:r>
              <a:rPr dirty="0" sz="1550" spc="114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platform</a:t>
            </a:r>
            <a:r>
              <a:rPr dirty="0" sz="1550" spc="135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that</a:t>
            </a:r>
            <a:r>
              <a:rPr dirty="0" sz="1550" spc="120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turns</a:t>
            </a:r>
            <a:r>
              <a:rPr dirty="0" sz="1550" spc="95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national</a:t>
            </a:r>
            <a:r>
              <a:rPr dirty="0" sz="1550" spc="114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nutrition</a:t>
            </a:r>
            <a:r>
              <a:rPr dirty="0" sz="1550" spc="125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 spc="-25">
                <a:solidFill>
                  <a:srgbClr val="1B2733"/>
                </a:solidFill>
                <a:latin typeface="Times New Roman"/>
                <a:cs typeface="Times New Roman"/>
              </a:rPr>
              <a:t>and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food-security</a:t>
            </a:r>
            <a:r>
              <a:rPr dirty="0" sz="1550" spc="2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survey</a:t>
            </a:r>
            <a:r>
              <a:rPr dirty="0" sz="1550" spc="22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data</a:t>
            </a:r>
            <a:r>
              <a:rPr dirty="0" sz="1550" spc="20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into</a:t>
            </a:r>
            <a:r>
              <a:rPr dirty="0" sz="1550" spc="15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district-level,</a:t>
            </a:r>
            <a:r>
              <a:rPr dirty="0" sz="1550" spc="16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decision-ready</a:t>
            </a:r>
            <a:r>
              <a:rPr dirty="0" sz="1550" spc="17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B2733"/>
                </a:solidFill>
                <a:latin typeface="Times New Roman"/>
                <a:cs typeface="Times New Roman"/>
              </a:rPr>
              <a:t>insight.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8015" y="2385123"/>
            <a:ext cx="596836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5"/>
              </a:spcBef>
              <a:buChar char="•"/>
              <a:tabLst>
                <a:tab pos="240665" algn="l"/>
                <a:tab pos="1279525" algn="l"/>
                <a:tab pos="2939415" algn="l"/>
                <a:tab pos="3685540" algn="l"/>
                <a:tab pos="4612005" algn="l"/>
                <a:tab pos="5186680" algn="l"/>
              </a:tabLst>
            </a:pPr>
            <a:r>
              <a:rPr dirty="0" sz="1550" spc="-10">
                <a:solidFill>
                  <a:srgbClr val="1B2733"/>
                </a:solidFill>
                <a:latin typeface="Times New Roman"/>
                <a:cs typeface="Times New Roman"/>
              </a:rPr>
              <a:t>Combines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	GeoPandas-</a:t>
            </a:r>
            <a:r>
              <a:rPr dirty="0" sz="1550" spc="-20">
                <a:solidFill>
                  <a:srgbClr val="1B2733"/>
                </a:solidFill>
                <a:latin typeface="Times New Roman"/>
                <a:cs typeface="Times New Roman"/>
              </a:rPr>
              <a:t>based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550" spc="-10">
                <a:solidFill>
                  <a:srgbClr val="1B2733"/>
                </a:solidFill>
                <a:latin typeface="Times New Roman"/>
                <a:cs typeface="Times New Roman"/>
              </a:rPr>
              <a:t>spatial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550" spc="-10">
                <a:solidFill>
                  <a:srgbClr val="1B2733"/>
                </a:solidFill>
                <a:latin typeface="Times New Roman"/>
                <a:cs typeface="Times New Roman"/>
              </a:rPr>
              <a:t>mapping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550" spc="-20">
                <a:solidFill>
                  <a:srgbClr val="1B2733"/>
                </a:solidFill>
                <a:latin typeface="Times New Roman"/>
                <a:cs typeface="Times New Roman"/>
              </a:rPr>
              <a:t>with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550" spc="-10">
                <a:solidFill>
                  <a:srgbClr val="1B2733"/>
                </a:solidFill>
                <a:latin typeface="Times New Roman"/>
                <a:cs typeface="Times New Roman"/>
              </a:rPr>
              <a:t>statistical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3859" y="3052762"/>
            <a:ext cx="238442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18870" algn="l"/>
                <a:tab pos="1511935" algn="l"/>
              </a:tabLst>
            </a:pPr>
            <a:r>
              <a:rPr dirty="0" sz="1550" spc="-10">
                <a:solidFill>
                  <a:srgbClr val="1B2733"/>
                </a:solidFill>
                <a:latin typeface="Times New Roman"/>
                <a:cs typeface="Times New Roman"/>
              </a:rPr>
              <a:t>prevalence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550" spc="-25">
                <a:solidFill>
                  <a:srgbClr val="1B2733"/>
                </a:solidFill>
                <a:latin typeface="Times New Roman"/>
                <a:cs typeface="Times New Roman"/>
              </a:rPr>
              <a:t>as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550" spc="-10">
                <a:solidFill>
                  <a:srgbClr val="1B2733"/>
                </a:solidFill>
                <a:latin typeface="Times New Roman"/>
                <a:cs typeface="Times New Roman"/>
              </a:rPr>
              <a:t>interactive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8015" y="2633027"/>
            <a:ext cx="3382645" cy="923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distribution</a:t>
            </a:r>
            <a:r>
              <a:rPr dirty="0" sz="1550" spc="15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analysis</a:t>
            </a:r>
            <a:r>
              <a:rPr dirty="0" sz="1550" spc="10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in</a:t>
            </a:r>
            <a:r>
              <a:rPr dirty="0" sz="1550" spc="1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one</a:t>
            </a:r>
            <a:r>
              <a:rPr dirty="0" sz="1550" spc="15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B2733"/>
                </a:solidFill>
                <a:latin typeface="Times New Roman"/>
                <a:cs typeface="Times New Roman"/>
              </a:rPr>
              <a:t>workflow.</a:t>
            </a:r>
            <a:endParaRPr sz="155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00899"/>
              </a:lnSpc>
              <a:spcBef>
                <a:spcPts val="1430"/>
              </a:spcBef>
              <a:buChar char="•"/>
              <a:tabLst>
                <a:tab pos="241300" algn="l"/>
                <a:tab pos="1130935" algn="l"/>
                <a:tab pos="2364740" algn="l"/>
              </a:tabLst>
            </a:pPr>
            <a:r>
              <a:rPr dirty="0" sz="1550" spc="-10">
                <a:solidFill>
                  <a:srgbClr val="1B2733"/>
                </a:solidFill>
                <a:latin typeface="Times New Roman"/>
                <a:cs typeface="Times New Roman"/>
              </a:rPr>
              <a:t>Renders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	district-</a:t>
            </a:r>
            <a:r>
              <a:rPr dirty="0" sz="1550" spc="-20">
                <a:solidFill>
                  <a:srgbClr val="1B2733"/>
                </a:solidFill>
                <a:latin typeface="Times New Roman"/>
                <a:cs typeface="Times New Roman"/>
              </a:rPr>
              <a:t>wise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550" spc="-10">
                <a:solidFill>
                  <a:srgbClr val="1B2733"/>
                </a:solidFill>
                <a:latin typeface="Times New Roman"/>
                <a:cs typeface="Times New Roman"/>
              </a:rPr>
              <a:t>malnutrition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choropleth</a:t>
            </a:r>
            <a:r>
              <a:rPr dirty="0" sz="1550" spc="20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1B2733"/>
                </a:solidFill>
                <a:latin typeface="Times New Roman"/>
                <a:cs typeface="Times New Roman"/>
              </a:rPr>
              <a:t>maps.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8015" y="3720401"/>
            <a:ext cx="5974080" cy="1840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marR="6350" indent="-228600">
              <a:lnSpc>
                <a:spcPct val="101000"/>
              </a:lnSpc>
              <a:spcBef>
                <a:spcPts val="105"/>
              </a:spcBef>
              <a:buChar char="•"/>
              <a:tabLst>
                <a:tab pos="241300" algn="l"/>
                <a:tab pos="1214755" algn="l"/>
                <a:tab pos="2559050" algn="l"/>
                <a:tab pos="3216275" algn="l"/>
                <a:tab pos="4373880" algn="l"/>
                <a:tab pos="4803775" algn="l"/>
              </a:tabLst>
            </a:pPr>
            <a:r>
              <a:rPr dirty="0" sz="1550" spc="-10">
                <a:solidFill>
                  <a:srgbClr val="1B2733"/>
                </a:solidFill>
                <a:latin typeface="Times New Roman"/>
                <a:cs typeface="Times New Roman"/>
              </a:rPr>
              <a:t>Visualizes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	weight-for-</a:t>
            </a:r>
            <a:r>
              <a:rPr dirty="0" sz="1550" spc="-25">
                <a:solidFill>
                  <a:srgbClr val="1B2733"/>
                </a:solidFill>
                <a:latin typeface="Times New Roman"/>
                <a:cs typeface="Times New Roman"/>
              </a:rPr>
              <a:t>age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550" spc="-20">
                <a:solidFill>
                  <a:srgbClr val="1B2733"/>
                </a:solidFill>
                <a:latin typeface="Times New Roman"/>
                <a:cs typeface="Times New Roman"/>
              </a:rPr>
              <a:t>(BMI)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550" spc="-10">
                <a:solidFill>
                  <a:srgbClr val="1B2733"/>
                </a:solidFill>
                <a:latin typeface="Times New Roman"/>
                <a:cs typeface="Times New Roman"/>
              </a:rPr>
              <a:t>distributions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550" spc="-25">
                <a:solidFill>
                  <a:srgbClr val="1B2733"/>
                </a:solidFill>
                <a:latin typeface="Times New Roman"/>
                <a:cs typeface="Times New Roman"/>
              </a:rPr>
              <a:t>and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	food-security-category</a:t>
            </a:r>
            <a:r>
              <a:rPr dirty="0" sz="1550" spc="16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B2733"/>
                </a:solidFill>
                <a:latin typeface="Times New Roman"/>
                <a:cs typeface="Times New Roman"/>
              </a:rPr>
              <a:t>proportions.</a:t>
            </a:r>
            <a:endParaRPr sz="1550">
              <a:latin typeface="Times New Roman"/>
              <a:cs typeface="Times New Roman"/>
            </a:endParaRPr>
          </a:p>
          <a:p>
            <a:pPr marL="241300" marR="9525" indent="-228600">
              <a:lnSpc>
                <a:spcPct val="101000"/>
              </a:lnSpc>
              <a:spcBef>
                <a:spcPts val="1505"/>
              </a:spcBef>
              <a:buChar char="•"/>
              <a:tabLst>
                <a:tab pos="241300" algn="l"/>
              </a:tabLst>
            </a:pP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Communicates</a:t>
            </a:r>
            <a:r>
              <a:rPr dirty="0" sz="1550" spc="135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the</a:t>
            </a:r>
            <a:r>
              <a:rPr dirty="0" sz="1550" spc="120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statistical</a:t>
            </a:r>
            <a:r>
              <a:rPr dirty="0" sz="1550" spc="150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uncertainty</a:t>
            </a:r>
            <a:r>
              <a:rPr dirty="0" sz="1550" spc="130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behind</a:t>
            </a:r>
            <a:r>
              <a:rPr dirty="0" sz="1550" spc="105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every</a:t>
            </a:r>
            <a:r>
              <a:rPr dirty="0" sz="1550" spc="125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 spc="-10">
                <a:solidFill>
                  <a:srgbClr val="1B2733"/>
                </a:solidFill>
                <a:latin typeface="Times New Roman"/>
                <a:cs typeface="Times New Roman"/>
              </a:rPr>
              <a:t>prevalence estimate.</a:t>
            </a:r>
            <a:endParaRPr sz="155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00899"/>
              </a:lnSpc>
              <a:spcBef>
                <a:spcPts val="1500"/>
              </a:spcBef>
              <a:buChar char="•"/>
              <a:tabLst>
                <a:tab pos="241300" algn="l"/>
              </a:tabLst>
            </a:pP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Helps</a:t>
            </a:r>
            <a:r>
              <a:rPr dirty="0" sz="1550" spc="140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policymakers</a:t>
            </a:r>
            <a:r>
              <a:rPr dirty="0" sz="1550" spc="180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identify</a:t>
            </a:r>
            <a:r>
              <a:rPr dirty="0" sz="1550" spc="170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and</a:t>
            </a:r>
            <a:r>
              <a:rPr dirty="0" sz="1550" spc="170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prioritize</a:t>
            </a:r>
            <a:r>
              <a:rPr dirty="0" sz="1550" spc="180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high-risk</a:t>
            </a:r>
            <a:r>
              <a:rPr dirty="0" sz="1550" spc="140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districts</a:t>
            </a:r>
            <a:r>
              <a:rPr dirty="0" sz="1550" spc="155">
                <a:solidFill>
                  <a:srgbClr val="1B2733"/>
                </a:solidFill>
                <a:latin typeface="Times New Roman"/>
                <a:cs typeface="Times New Roman"/>
              </a:rPr>
              <a:t>  </a:t>
            </a:r>
            <a:r>
              <a:rPr dirty="0" sz="1550" spc="-25">
                <a:solidFill>
                  <a:srgbClr val="1B2733"/>
                </a:solidFill>
                <a:latin typeface="Times New Roman"/>
                <a:cs typeface="Times New Roman"/>
              </a:rPr>
              <a:t>for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targeted</a:t>
            </a:r>
            <a:r>
              <a:rPr dirty="0" sz="1550" spc="14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nutrition</a:t>
            </a:r>
            <a:r>
              <a:rPr dirty="0" sz="1550" spc="16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B2733"/>
                </a:solidFill>
                <a:latin typeface="Times New Roman"/>
                <a:cs typeface="Times New Roman"/>
              </a:rPr>
              <a:t>intervention.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086600" y="1695450"/>
            <a:ext cx="4572000" cy="4572000"/>
          </a:xfrm>
          <a:custGeom>
            <a:avLst/>
            <a:gdLst/>
            <a:ahLst/>
            <a:cxnLst/>
            <a:rect l="l" t="t" r="r" b="b"/>
            <a:pathLst>
              <a:path w="4572000" h="4572000">
                <a:moveTo>
                  <a:pt x="4462272" y="0"/>
                </a:moveTo>
                <a:lnTo>
                  <a:pt x="109727" y="0"/>
                </a:lnTo>
                <a:lnTo>
                  <a:pt x="67026" y="8626"/>
                </a:lnTo>
                <a:lnTo>
                  <a:pt x="32146" y="32146"/>
                </a:lnTo>
                <a:lnTo>
                  <a:pt x="8626" y="67026"/>
                </a:lnTo>
                <a:lnTo>
                  <a:pt x="0" y="109727"/>
                </a:lnTo>
                <a:lnTo>
                  <a:pt x="0" y="4462272"/>
                </a:lnTo>
                <a:lnTo>
                  <a:pt x="8626" y="4504984"/>
                </a:lnTo>
                <a:lnTo>
                  <a:pt x="32146" y="4539862"/>
                </a:lnTo>
                <a:lnTo>
                  <a:pt x="67026" y="4563377"/>
                </a:lnTo>
                <a:lnTo>
                  <a:pt x="109727" y="4572000"/>
                </a:lnTo>
                <a:lnTo>
                  <a:pt x="4462272" y="4572000"/>
                </a:lnTo>
                <a:lnTo>
                  <a:pt x="4504973" y="4563377"/>
                </a:lnTo>
                <a:lnTo>
                  <a:pt x="4539853" y="4539862"/>
                </a:lnTo>
                <a:lnTo>
                  <a:pt x="4563373" y="4504984"/>
                </a:lnTo>
                <a:lnTo>
                  <a:pt x="4572000" y="4462272"/>
                </a:lnTo>
                <a:lnTo>
                  <a:pt x="4572000" y="109727"/>
                </a:lnTo>
                <a:lnTo>
                  <a:pt x="4563373" y="67026"/>
                </a:lnTo>
                <a:lnTo>
                  <a:pt x="4539853" y="32146"/>
                </a:lnTo>
                <a:lnTo>
                  <a:pt x="4504973" y="8626"/>
                </a:lnTo>
                <a:lnTo>
                  <a:pt x="4462272" y="0"/>
                </a:lnTo>
                <a:close/>
              </a:path>
            </a:pathLst>
          </a:custGeom>
          <a:solidFill>
            <a:srgbClr val="1D4E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445375" y="1976691"/>
            <a:ext cx="235648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solidFill>
                  <a:srgbClr val="F16421"/>
                </a:solidFill>
                <a:latin typeface="Times New Roman"/>
                <a:cs typeface="Times New Roman"/>
              </a:rPr>
              <a:t>R</a:t>
            </a:r>
            <a:r>
              <a:rPr dirty="0" sz="1100" spc="-114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F16421"/>
                </a:solidFill>
                <a:latin typeface="Times New Roman"/>
                <a:cs typeface="Times New Roman"/>
              </a:rPr>
              <a:t>E</a:t>
            </a:r>
            <a:r>
              <a:rPr dirty="0" sz="1100" spc="-120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100" spc="65" b="1">
                <a:solidFill>
                  <a:srgbClr val="F16421"/>
                </a:solidFill>
                <a:latin typeface="Times New Roman"/>
                <a:cs typeface="Times New Roman"/>
              </a:rPr>
              <a:t>GI</a:t>
            </a:r>
            <a:r>
              <a:rPr dirty="0" sz="1100" spc="-110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100" spc="60" b="1">
                <a:solidFill>
                  <a:srgbClr val="F16421"/>
                </a:solidFill>
                <a:latin typeface="Times New Roman"/>
                <a:cs typeface="Times New Roman"/>
              </a:rPr>
              <a:t>ON</a:t>
            </a:r>
            <a:r>
              <a:rPr dirty="0" sz="1100" spc="-110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F16421"/>
                </a:solidFill>
                <a:latin typeface="Times New Roman"/>
                <a:cs typeface="Times New Roman"/>
              </a:rPr>
              <a:t>AL</a:t>
            </a:r>
            <a:r>
              <a:rPr dirty="0" sz="1100" spc="355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100" spc="50" b="1">
                <a:solidFill>
                  <a:srgbClr val="F16421"/>
                </a:solidFill>
                <a:latin typeface="Times New Roman"/>
                <a:cs typeface="Times New Roman"/>
              </a:rPr>
              <a:t>RI</a:t>
            </a:r>
            <a:r>
              <a:rPr dirty="0" sz="1100" spc="-110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100" spc="75" b="1">
                <a:solidFill>
                  <a:srgbClr val="F16421"/>
                </a:solidFill>
                <a:latin typeface="Times New Roman"/>
                <a:cs typeface="Times New Roman"/>
              </a:rPr>
              <a:t>SK</a:t>
            </a:r>
            <a:r>
              <a:rPr dirty="0" sz="1100" spc="305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100" spc="70" b="1">
                <a:solidFill>
                  <a:srgbClr val="F16421"/>
                </a:solidFill>
                <a:latin typeface="Times New Roman"/>
                <a:cs typeface="Times New Roman"/>
              </a:rPr>
              <a:t>SN</a:t>
            </a:r>
            <a:r>
              <a:rPr dirty="0" sz="1100" spc="-110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F16421"/>
                </a:solidFill>
                <a:latin typeface="Times New Roman"/>
                <a:cs typeface="Times New Roman"/>
              </a:rPr>
              <a:t>A</a:t>
            </a:r>
            <a:r>
              <a:rPr dirty="0" sz="1100" spc="-110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100" spc="105" b="1">
                <a:solidFill>
                  <a:srgbClr val="F16421"/>
                </a:solidFill>
                <a:latin typeface="Times New Roman"/>
                <a:cs typeface="Times New Roman"/>
              </a:rPr>
              <a:t>PSHO</a:t>
            </a:r>
            <a:r>
              <a:rPr dirty="0" sz="1100" spc="-95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100" spc="-50" b="1">
                <a:solidFill>
                  <a:srgbClr val="F16421"/>
                </a:solidFill>
                <a:latin typeface="Times New Roman"/>
                <a:cs typeface="Times New Roman"/>
              </a:rPr>
              <a:t>T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62825" y="2333625"/>
            <a:ext cx="4019550" cy="3571875"/>
            <a:chOff x="7362825" y="2333625"/>
            <a:chExt cx="4019550" cy="3571875"/>
          </a:xfrm>
        </p:grpSpPr>
        <p:sp>
          <p:nvSpPr>
            <p:cNvPr id="12" name="object 12"/>
            <p:cNvSpPr/>
            <p:nvPr/>
          </p:nvSpPr>
          <p:spPr>
            <a:xfrm>
              <a:off x="7362825" y="2333625"/>
              <a:ext cx="4019550" cy="3286125"/>
            </a:xfrm>
            <a:custGeom>
              <a:avLst/>
              <a:gdLst/>
              <a:ahLst/>
              <a:cxnLst/>
              <a:rect l="l" t="t" r="r" b="b"/>
              <a:pathLst>
                <a:path w="4019550" h="3286125">
                  <a:moveTo>
                    <a:pt x="3946525" y="0"/>
                  </a:moveTo>
                  <a:lnTo>
                    <a:pt x="73025" y="0"/>
                  </a:lnTo>
                  <a:lnTo>
                    <a:pt x="44576" y="5730"/>
                  </a:lnTo>
                  <a:lnTo>
                    <a:pt x="21367" y="21367"/>
                  </a:lnTo>
                  <a:lnTo>
                    <a:pt x="5730" y="44576"/>
                  </a:lnTo>
                  <a:lnTo>
                    <a:pt x="0" y="73025"/>
                  </a:lnTo>
                  <a:lnTo>
                    <a:pt x="0" y="3213100"/>
                  </a:lnTo>
                  <a:lnTo>
                    <a:pt x="5730" y="3241548"/>
                  </a:lnTo>
                  <a:lnTo>
                    <a:pt x="21367" y="3264757"/>
                  </a:lnTo>
                  <a:lnTo>
                    <a:pt x="44576" y="3280394"/>
                  </a:lnTo>
                  <a:lnTo>
                    <a:pt x="73025" y="3286125"/>
                  </a:lnTo>
                  <a:lnTo>
                    <a:pt x="3946525" y="3286125"/>
                  </a:lnTo>
                  <a:lnTo>
                    <a:pt x="3974973" y="3280394"/>
                  </a:lnTo>
                  <a:lnTo>
                    <a:pt x="3998182" y="3264757"/>
                  </a:lnTo>
                  <a:lnTo>
                    <a:pt x="4013819" y="3241548"/>
                  </a:lnTo>
                  <a:lnTo>
                    <a:pt x="4019550" y="3213100"/>
                  </a:lnTo>
                  <a:lnTo>
                    <a:pt x="4019550" y="73025"/>
                  </a:lnTo>
                  <a:lnTo>
                    <a:pt x="4013819" y="44576"/>
                  </a:lnTo>
                  <a:lnTo>
                    <a:pt x="3998182" y="21367"/>
                  </a:lnTo>
                  <a:lnTo>
                    <a:pt x="3974973" y="5730"/>
                  </a:lnTo>
                  <a:lnTo>
                    <a:pt x="3946525" y="0"/>
                  </a:lnTo>
                  <a:close/>
                </a:path>
              </a:pathLst>
            </a:custGeom>
            <a:solidFill>
              <a:srgbClr val="FFFFFF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867650" y="2743200"/>
              <a:ext cx="304800" cy="314325"/>
            </a:xfrm>
            <a:custGeom>
              <a:avLst/>
              <a:gdLst/>
              <a:ahLst/>
              <a:cxnLst/>
              <a:rect l="l" t="t" r="r" b="b"/>
              <a:pathLst>
                <a:path w="304800" h="314325">
                  <a:moveTo>
                    <a:pt x="152400" y="0"/>
                  </a:moveTo>
                  <a:lnTo>
                    <a:pt x="104217" y="8011"/>
                  </a:lnTo>
                  <a:lnTo>
                    <a:pt x="62380" y="30317"/>
                  </a:lnTo>
                  <a:lnTo>
                    <a:pt x="29394" y="64328"/>
                  </a:lnTo>
                  <a:lnTo>
                    <a:pt x="7766" y="107452"/>
                  </a:lnTo>
                  <a:lnTo>
                    <a:pt x="0" y="157099"/>
                  </a:lnTo>
                  <a:lnTo>
                    <a:pt x="7766" y="206807"/>
                  </a:lnTo>
                  <a:lnTo>
                    <a:pt x="29394" y="249969"/>
                  </a:lnTo>
                  <a:lnTo>
                    <a:pt x="62380" y="283999"/>
                  </a:lnTo>
                  <a:lnTo>
                    <a:pt x="104217" y="306312"/>
                  </a:lnTo>
                  <a:lnTo>
                    <a:pt x="152400" y="314325"/>
                  </a:lnTo>
                  <a:lnTo>
                    <a:pt x="200582" y="306312"/>
                  </a:lnTo>
                  <a:lnTo>
                    <a:pt x="242419" y="283999"/>
                  </a:lnTo>
                  <a:lnTo>
                    <a:pt x="275405" y="249969"/>
                  </a:lnTo>
                  <a:lnTo>
                    <a:pt x="297033" y="206807"/>
                  </a:lnTo>
                  <a:lnTo>
                    <a:pt x="304800" y="157099"/>
                  </a:lnTo>
                  <a:lnTo>
                    <a:pt x="297033" y="107452"/>
                  </a:lnTo>
                  <a:lnTo>
                    <a:pt x="275405" y="64328"/>
                  </a:lnTo>
                  <a:lnTo>
                    <a:pt x="242419" y="30317"/>
                  </a:lnTo>
                  <a:lnTo>
                    <a:pt x="200582" y="8011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867650" y="2743200"/>
              <a:ext cx="304800" cy="314325"/>
            </a:xfrm>
            <a:custGeom>
              <a:avLst/>
              <a:gdLst/>
              <a:ahLst/>
              <a:cxnLst/>
              <a:rect l="l" t="t" r="r" b="b"/>
              <a:pathLst>
                <a:path w="304800" h="314325">
                  <a:moveTo>
                    <a:pt x="0" y="157099"/>
                  </a:moveTo>
                  <a:lnTo>
                    <a:pt x="7766" y="107452"/>
                  </a:lnTo>
                  <a:lnTo>
                    <a:pt x="29394" y="64328"/>
                  </a:lnTo>
                  <a:lnTo>
                    <a:pt x="62380" y="30317"/>
                  </a:lnTo>
                  <a:lnTo>
                    <a:pt x="104217" y="8011"/>
                  </a:lnTo>
                  <a:lnTo>
                    <a:pt x="152400" y="0"/>
                  </a:lnTo>
                  <a:lnTo>
                    <a:pt x="200582" y="8011"/>
                  </a:lnTo>
                  <a:lnTo>
                    <a:pt x="242419" y="30317"/>
                  </a:lnTo>
                  <a:lnTo>
                    <a:pt x="275405" y="64328"/>
                  </a:lnTo>
                  <a:lnTo>
                    <a:pt x="297033" y="107452"/>
                  </a:lnTo>
                  <a:lnTo>
                    <a:pt x="304800" y="157099"/>
                  </a:lnTo>
                  <a:lnTo>
                    <a:pt x="297033" y="206807"/>
                  </a:lnTo>
                  <a:lnTo>
                    <a:pt x="275405" y="249969"/>
                  </a:lnTo>
                  <a:lnTo>
                    <a:pt x="242419" y="283999"/>
                  </a:lnTo>
                  <a:lnTo>
                    <a:pt x="200582" y="306312"/>
                  </a:lnTo>
                  <a:lnTo>
                    <a:pt x="152400" y="314325"/>
                  </a:lnTo>
                  <a:lnTo>
                    <a:pt x="104217" y="306312"/>
                  </a:lnTo>
                  <a:lnTo>
                    <a:pt x="62380" y="283999"/>
                  </a:lnTo>
                  <a:lnTo>
                    <a:pt x="29394" y="249969"/>
                  </a:lnTo>
                  <a:lnTo>
                    <a:pt x="7766" y="206807"/>
                  </a:lnTo>
                  <a:lnTo>
                    <a:pt x="0" y="15709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591550" y="2647950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157225" y="0"/>
                  </a:moveTo>
                  <a:lnTo>
                    <a:pt x="107517" y="8011"/>
                  </a:lnTo>
                  <a:lnTo>
                    <a:pt x="64355" y="30317"/>
                  </a:lnTo>
                  <a:lnTo>
                    <a:pt x="30325" y="64328"/>
                  </a:lnTo>
                  <a:lnTo>
                    <a:pt x="8012" y="107452"/>
                  </a:lnTo>
                  <a:lnTo>
                    <a:pt x="0" y="157099"/>
                  </a:lnTo>
                  <a:lnTo>
                    <a:pt x="8012" y="206807"/>
                  </a:lnTo>
                  <a:lnTo>
                    <a:pt x="30325" y="249969"/>
                  </a:lnTo>
                  <a:lnTo>
                    <a:pt x="64355" y="283999"/>
                  </a:lnTo>
                  <a:lnTo>
                    <a:pt x="107517" y="306312"/>
                  </a:lnTo>
                  <a:lnTo>
                    <a:pt x="157225" y="314325"/>
                  </a:lnTo>
                  <a:lnTo>
                    <a:pt x="206872" y="306312"/>
                  </a:lnTo>
                  <a:lnTo>
                    <a:pt x="249996" y="283999"/>
                  </a:lnTo>
                  <a:lnTo>
                    <a:pt x="284007" y="249969"/>
                  </a:lnTo>
                  <a:lnTo>
                    <a:pt x="306313" y="206807"/>
                  </a:lnTo>
                  <a:lnTo>
                    <a:pt x="314325" y="157099"/>
                  </a:lnTo>
                  <a:lnTo>
                    <a:pt x="306313" y="107452"/>
                  </a:lnTo>
                  <a:lnTo>
                    <a:pt x="284007" y="64328"/>
                  </a:lnTo>
                  <a:lnTo>
                    <a:pt x="249996" y="30317"/>
                  </a:lnTo>
                  <a:lnTo>
                    <a:pt x="206872" y="8011"/>
                  </a:lnTo>
                  <a:lnTo>
                    <a:pt x="157225" y="0"/>
                  </a:lnTo>
                  <a:close/>
                </a:path>
              </a:pathLst>
            </a:custGeom>
            <a:solidFill>
              <a:srgbClr val="F164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591550" y="2647950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0" y="157099"/>
                  </a:moveTo>
                  <a:lnTo>
                    <a:pt x="8012" y="107452"/>
                  </a:lnTo>
                  <a:lnTo>
                    <a:pt x="30325" y="64328"/>
                  </a:lnTo>
                  <a:lnTo>
                    <a:pt x="64355" y="30317"/>
                  </a:lnTo>
                  <a:lnTo>
                    <a:pt x="107517" y="8011"/>
                  </a:lnTo>
                  <a:lnTo>
                    <a:pt x="157225" y="0"/>
                  </a:lnTo>
                  <a:lnTo>
                    <a:pt x="206872" y="8011"/>
                  </a:lnTo>
                  <a:lnTo>
                    <a:pt x="249996" y="30317"/>
                  </a:lnTo>
                  <a:lnTo>
                    <a:pt x="284007" y="64328"/>
                  </a:lnTo>
                  <a:lnTo>
                    <a:pt x="306313" y="107452"/>
                  </a:lnTo>
                  <a:lnTo>
                    <a:pt x="314325" y="157099"/>
                  </a:lnTo>
                  <a:lnTo>
                    <a:pt x="306313" y="206807"/>
                  </a:lnTo>
                  <a:lnTo>
                    <a:pt x="284007" y="249969"/>
                  </a:lnTo>
                  <a:lnTo>
                    <a:pt x="249996" y="283999"/>
                  </a:lnTo>
                  <a:lnTo>
                    <a:pt x="206872" y="306312"/>
                  </a:lnTo>
                  <a:lnTo>
                    <a:pt x="157225" y="314325"/>
                  </a:lnTo>
                  <a:lnTo>
                    <a:pt x="107517" y="306312"/>
                  </a:lnTo>
                  <a:lnTo>
                    <a:pt x="64355" y="283999"/>
                  </a:lnTo>
                  <a:lnTo>
                    <a:pt x="30325" y="249969"/>
                  </a:lnTo>
                  <a:lnTo>
                    <a:pt x="8012" y="206807"/>
                  </a:lnTo>
                  <a:lnTo>
                    <a:pt x="0" y="15709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324975" y="2876550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157225" y="0"/>
                  </a:moveTo>
                  <a:lnTo>
                    <a:pt x="107517" y="8011"/>
                  </a:lnTo>
                  <a:lnTo>
                    <a:pt x="64355" y="30317"/>
                  </a:lnTo>
                  <a:lnTo>
                    <a:pt x="30325" y="64328"/>
                  </a:lnTo>
                  <a:lnTo>
                    <a:pt x="8012" y="107452"/>
                  </a:lnTo>
                  <a:lnTo>
                    <a:pt x="0" y="157099"/>
                  </a:lnTo>
                  <a:lnTo>
                    <a:pt x="8012" y="206807"/>
                  </a:lnTo>
                  <a:lnTo>
                    <a:pt x="30325" y="249969"/>
                  </a:lnTo>
                  <a:lnTo>
                    <a:pt x="64355" y="283999"/>
                  </a:lnTo>
                  <a:lnTo>
                    <a:pt x="107517" y="306312"/>
                  </a:lnTo>
                  <a:lnTo>
                    <a:pt x="157225" y="314325"/>
                  </a:lnTo>
                  <a:lnTo>
                    <a:pt x="206872" y="306312"/>
                  </a:lnTo>
                  <a:lnTo>
                    <a:pt x="249996" y="283999"/>
                  </a:lnTo>
                  <a:lnTo>
                    <a:pt x="284007" y="249969"/>
                  </a:lnTo>
                  <a:lnTo>
                    <a:pt x="306313" y="206807"/>
                  </a:lnTo>
                  <a:lnTo>
                    <a:pt x="314325" y="157099"/>
                  </a:lnTo>
                  <a:lnTo>
                    <a:pt x="306313" y="107452"/>
                  </a:lnTo>
                  <a:lnTo>
                    <a:pt x="284007" y="64328"/>
                  </a:lnTo>
                  <a:lnTo>
                    <a:pt x="249996" y="30317"/>
                  </a:lnTo>
                  <a:lnTo>
                    <a:pt x="206872" y="8011"/>
                  </a:lnTo>
                  <a:lnTo>
                    <a:pt x="157225" y="0"/>
                  </a:lnTo>
                  <a:close/>
                </a:path>
              </a:pathLst>
            </a:custGeom>
            <a:solidFill>
              <a:srgbClr val="5FA7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324975" y="2876550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0" y="157099"/>
                  </a:moveTo>
                  <a:lnTo>
                    <a:pt x="8012" y="107452"/>
                  </a:lnTo>
                  <a:lnTo>
                    <a:pt x="30325" y="64328"/>
                  </a:lnTo>
                  <a:lnTo>
                    <a:pt x="64355" y="30317"/>
                  </a:lnTo>
                  <a:lnTo>
                    <a:pt x="107517" y="8011"/>
                  </a:lnTo>
                  <a:lnTo>
                    <a:pt x="157225" y="0"/>
                  </a:lnTo>
                  <a:lnTo>
                    <a:pt x="206872" y="8011"/>
                  </a:lnTo>
                  <a:lnTo>
                    <a:pt x="249996" y="30317"/>
                  </a:lnTo>
                  <a:lnTo>
                    <a:pt x="284007" y="64328"/>
                  </a:lnTo>
                  <a:lnTo>
                    <a:pt x="306313" y="107452"/>
                  </a:lnTo>
                  <a:lnTo>
                    <a:pt x="314325" y="157099"/>
                  </a:lnTo>
                  <a:lnTo>
                    <a:pt x="306313" y="206807"/>
                  </a:lnTo>
                  <a:lnTo>
                    <a:pt x="284007" y="249969"/>
                  </a:lnTo>
                  <a:lnTo>
                    <a:pt x="249996" y="283999"/>
                  </a:lnTo>
                  <a:lnTo>
                    <a:pt x="206872" y="306312"/>
                  </a:lnTo>
                  <a:lnTo>
                    <a:pt x="157225" y="314325"/>
                  </a:lnTo>
                  <a:lnTo>
                    <a:pt x="107517" y="306312"/>
                  </a:lnTo>
                  <a:lnTo>
                    <a:pt x="64355" y="283999"/>
                  </a:lnTo>
                  <a:lnTo>
                    <a:pt x="30325" y="249969"/>
                  </a:lnTo>
                  <a:lnTo>
                    <a:pt x="8012" y="206807"/>
                  </a:lnTo>
                  <a:lnTo>
                    <a:pt x="0" y="15709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420350" y="2695575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157225" y="0"/>
                  </a:moveTo>
                  <a:lnTo>
                    <a:pt x="107517" y="8011"/>
                  </a:lnTo>
                  <a:lnTo>
                    <a:pt x="64355" y="30317"/>
                  </a:lnTo>
                  <a:lnTo>
                    <a:pt x="30325" y="64328"/>
                  </a:lnTo>
                  <a:lnTo>
                    <a:pt x="8012" y="107452"/>
                  </a:lnTo>
                  <a:lnTo>
                    <a:pt x="0" y="157099"/>
                  </a:lnTo>
                  <a:lnTo>
                    <a:pt x="8012" y="206807"/>
                  </a:lnTo>
                  <a:lnTo>
                    <a:pt x="30325" y="249969"/>
                  </a:lnTo>
                  <a:lnTo>
                    <a:pt x="64355" y="283999"/>
                  </a:lnTo>
                  <a:lnTo>
                    <a:pt x="107517" y="306312"/>
                  </a:lnTo>
                  <a:lnTo>
                    <a:pt x="157225" y="314325"/>
                  </a:lnTo>
                  <a:lnTo>
                    <a:pt x="206872" y="306312"/>
                  </a:lnTo>
                  <a:lnTo>
                    <a:pt x="249996" y="283999"/>
                  </a:lnTo>
                  <a:lnTo>
                    <a:pt x="284007" y="249969"/>
                  </a:lnTo>
                  <a:lnTo>
                    <a:pt x="306313" y="206807"/>
                  </a:lnTo>
                  <a:lnTo>
                    <a:pt x="314325" y="157099"/>
                  </a:lnTo>
                  <a:lnTo>
                    <a:pt x="306313" y="107452"/>
                  </a:lnTo>
                  <a:lnTo>
                    <a:pt x="284007" y="64328"/>
                  </a:lnTo>
                  <a:lnTo>
                    <a:pt x="249996" y="30317"/>
                  </a:lnTo>
                  <a:lnTo>
                    <a:pt x="206872" y="8011"/>
                  </a:lnTo>
                  <a:lnTo>
                    <a:pt x="157225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420350" y="2695575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0" y="157099"/>
                  </a:moveTo>
                  <a:lnTo>
                    <a:pt x="8012" y="107452"/>
                  </a:lnTo>
                  <a:lnTo>
                    <a:pt x="30325" y="64328"/>
                  </a:lnTo>
                  <a:lnTo>
                    <a:pt x="64355" y="30317"/>
                  </a:lnTo>
                  <a:lnTo>
                    <a:pt x="107517" y="8011"/>
                  </a:lnTo>
                  <a:lnTo>
                    <a:pt x="157225" y="0"/>
                  </a:lnTo>
                  <a:lnTo>
                    <a:pt x="206872" y="8011"/>
                  </a:lnTo>
                  <a:lnTo>
                    <a:pt x="249996" y="30317"/>
                  </a:lnTo>
                  <a:lnTo>
                    <a:pt x="284007" y="64328"/>
                  </a:lnTo>
                  <a:lnTo>
                    <a:pt x="306313" y="107452"/>
                  </a:lnTo>
                  <a:lnTo>
                    <a:pt x="314325" y="157099"/>
                  </a:lnTo>
                  <a:lnTo>
                    <a:pt x="306313" y="206807"/>
                  </a:lnTo>
                  <a:lnTo>
                    <a:pt x="284007" y="249969"/>
                  </a:lnTo>
                  <a:lnTo>
                    <a:pt x="249996" y="283999"/>
                  </a:lnTo>
                  <a:lnTo>
                    <a:pt x="206872" y="306312"/>
                  </a:lnTo>
                  <a:lnTo>
                    <a:pt x="157225" y="314325"/>
                  </a:lnTo>
                  <a:lnTo>
                    <a:pt x="107517" y="306312"/>
                  </a:lnTo>
                  <a:lnTo>
                    <a:pt x="64355" y="283999"/>
                  </a:lnTo>
                  <a:lnTo>
                    <a:pt x="30325" y="249969"/>
                  </a:lnTo>
                  <a:lnTo>
                    <a:pt x="8012" y="206807"/>
                  </a:lnTo>
                  <a:lnTo>
                    <a:pt x="0" y="15709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134350" y="3295650"/>
              <a:ext cx="314325" cy="304800"/>
            </a:xfrm>
            <a:custGeom>
              <a:avLst/>
              <a:gdLst/>
              <a:ahLst/>
              <a:cxnLst/>
              <a:rect l="l" t="t" r="r" b="b"/>
              <a:pathLst>
                <a:path w="314325" h="304800">
                  <a:moveTo>
                    <a:pt x="157225" y="0"/>
                  </a:moveTo>
                  <a:lnTo>
                    <a:pt x="107517" y="7766"/>
                  </a:lnTo>
                  <a:lnTo>
                    <a:pt x="64355" y="29394"/>
                  </a:lnTo>
                  <a:lnTo>
                    <a:pt x="30325" y="62380"/>
                  </a:lnTo>
                  <a:lnTo>
                    <a:pt x="8012" y="104217"/>
                  </a:lnTo>
                  <a:lnTo>
                    <a:pt x="0" y="152400"/>
                  </a:lnTo>
                  <a:lnTo>
                    <a:pt x="8012" y="200582"/>
                  </a:lnTo>
                  <a:lnTo>
                    <a:pt x="30325" y="242419"/>
                  </a:lnTo>
                  <a:lnTo>
                    <a:pt x="64355" y="275405"/>
                  </a:lnTo>
                  <a:lnTo>
                    <a:pt x="107517" y="297033"/>
                  </a:lnTo>
                  <a:lnTo>
                    <a:pt x="157225" y="304800"/>
                  </a:lnTo>
                  <a:lnTo>
                    <a:pt x="206872" y="297033"/>
                  </a:lnTo>
                  <a:lnTo>
                    <a:pt x="249996" y="275405"/>
                  </a:lnTo>
                  <a:lnTo>
                    <a:pt x="284007" y="242419"/>
                  </a:lnTo>
                  <a:lnTo>
                    <a:pt x="306313" y="200582"/>
                  </a:lnTo>
                  <a:lnTo>
                    <a:pt x="314325" y="152400"/>
                  </a:lnTo>
                  <a:lnTo>
                    <a:pt x="306313" y="104217"/>
                  </a:lnTo>
                  <a:lnTo>
                    <a:pt x="284007" y="62380"/>
                  </a:lnTo>
                  <a:lnTo>
                    <a:pt x="249996" y="29394"/>
                  </a:lnTo>
                  <a:lnTo>
                    <a:pt x="206872" y="7766"/>
                  </a:lnTo>
                  <a:lnTo>
                    <a:pt x="157225" y="0"/>
                  </a:lnTo>
                  <a:close/>
                </a:path>
              </a:pathLst>
            </a:custGeom>
            <a:solidFill>
              <a:srgbClr val="F164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134350" y="3295650"/>
              <a:ext cx="314325" cy="304800"/>
            </a:xfrm>
            <a:custGeom>
              <a:avLst/>
              <a:gdLst/>
              <a:ahLst/>
              <a:cxnLst/>
              <a:rect l="l" t="t" r="r" b="b"/>
              <a:pathLst>
                <a:path w="314325" h="304800">
                  <a:moveTo>
                    <a:pt x="0" y="152400"/>
                  </a:moveTo>
                  <a:lnTo>
                    <a:pt x="8012" y="104217"/>
                  </a:lnTo>
                  <a:lnTo>
                    <a:pt x="30325" y="62380"/>
                  </a:lnTo>
                  <a:lnTo>
                    <a:pt x="64355" y="29394"/>
                  </a:lnTo>
                  <a:lnTo>
                    <a:pt x="107517" y="7766"/>
                  </a:lnTo>
                  <a:lnTo>
                    <a:pt x="157225" y="0"/>
                  </a:lnTo>
                  <a:lnTo>
                    <a:pt x="206872" y="7766"/>
                  </a:lnTo>
                  <a:lnTo>
                    <a:pt x="249996" y="29394"/>
                  </a:lnTo>
                  <a:lnTo>
                    <a:pt x="284007" y="62380"/>
                  </a:lnTo>
                  <a:lnTo>
                    <a:pt x="306313" y="104217"/>
                  </a:lnTo>
                  <a:lnTo>
                    <a:pt x="314325" y="152400"/>
                  </a:lnTo>
                  <a:lnTo>
                    <a:pt x="306313" y="200582"/>
                  </a:lnTo>
                  <a:lnTo>
                    <a:pt x="284007" y="242419"/>
                  </a:lnTo>
                  <a:lnTo>
                    <a:pt x="249996" y="275405"/>
                  </a:lnTo>
                  <a:lnTo>
                    <a:pt x="206872" y="297033"/>
                  </a:lnTo>
                  <a:lnTo>
                    <a:pt x="157225" y="304800"/>
                  </a:lnTo>
                  <a:lnTo>
                    <a:pt x="107517" y="297033"/>
                  </a:lnTo>
                  <a:lnTo>
                    <a:pt x="64355" y="275405"/>
                  </a:lnTo>
                  <a:lnTo>
                    <a:pt x="30325" y="242419"/>
                  </a:lnTo>
                  <a:lnTo>
                    <a:pt x="8012" y="200582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048750" y="3429000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157225" y="0"/>
                  </a:moveTo>
                  <a:lnTo>
                    <a:pt x="107517" y="8011"/>
                  </a:lnTo>
                  <a:lnTo>
                    <a:pt x="64355" y="30317"/>
                  </a:lnTo>
                  <a:lnTo>
                    <a:pt x="30325" y="64328"/>
                  </a:lnTo>
                  <a:lnTo>
                    <a:pt x="8012" y="107452"/>
                  </a:lnTo>
                  <a:lnTo>
                    <a:pt x="0" y="157099"/>
                  </a:lnTo>
                  <a:lnTo>
                    <a:pt x="8012" y="206807"/>
                  </a:lnTo>
                  <a:lnTo>
                    <a:pt x="30325" y="249969"/>
                  </a:lnTo>
                  <a:lnTo>
                    <a:pt x="64355" y="283999"/>
                  </a:lnTo>
                  <a:lnTo>
                    <a:pt x="107517" y="306312"/>
                  </a:lnTo>
                  <a:lnTo>
                    <a:pt x="157225" y="314325"/>
                  </a:lnTo>
                  <a:lnTo>
                    <a:pt x="206872" y="306312"/>
                  </a:lnTo>
                  <a:lnTo>
                    <a:pt x="249996" y="283999"/>
                  </a:lnTo>
                  <a:lnTo>
                    <a:pt x="284007" y="249969"/>
                  </a:lnTo>
                  <a:lnTo>
                    <a:pt x="306313" y="206807"/>
                  </a:lnTo>
                  <a:lnTo>
                    <a:pt x="314325" y="157099"/>
                  </a:lnTo>
                  <a:lnTo>
                    <a:pt x="306313" y="107452"/>
                  </a:lnTo>
                  <a:lnTo>
                    <a:pt x="284007" y="64328"/>
                  </a:lnTo>
                  <a:lnTo>
                    <a:pt x="249996" y="30317"/>
                  </a:lnTo>
                  <a:lnTo>
                    <a:pt x="206872" y="8011"/>
                  </a:lnTo>
                  <a:lnTo>
                    <a:pt x="157225" y="0"/>
                  </a:lnTo>
                  <a:close/>
                </a:path>
              </a:pathLst>
            </a:custGeom>
            <a:solidFill>
              <a:srgbClr val="5FA7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048750" y="3429000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0" y="157099"/>
                  </a:moveTo>
                  <a:lnTo>
                    <a:pt x="8012" y="107452"/>
                  </a:lnTo>
                  <a:lnTo>
                    <a:pt x="30325" y="64328"/>
                  </a:lnTo>
                  <a:lnTo>
                    <a:pt x="64355" y="30317"/>
                  </a:lnTo>
                  <a:lnTo>
                    <a:pt x="107517" y="8011"/>
                  </a:lnTo>
                  <a:lnTo>
                    <a:pt x="157225" y="0"/>
                  </a:lnTo>
                  <a:lnTo>
                    <a:pt x="206872" y="8011"/>
                  </a:lnTo>
                  <a:lnTo>
                    <a:pt x="249996" y="30317"/>
                  </a:lnTo>
                  <a:lnTo>
                    <a:pt x="284007" y="64328"/>
                  </a:lnTo>
                  <a:lnTo>
                    <a:pt x="306313" y="107452"/>
                  </a:lnTo>
                  <a:lnTo>
                    <a:pt x="314325" y="157099"/>
                  </a:lnTo>
                  <a:lnTo>
                    <a:pt x="306313" y="206807"/>
                  </a:lnTo>
                  <a:lnTo>
                    <a:pt x="284007" y="249969"/>
                  </a:lnTo>
                  <a:lnTo>
                    <a:pt x="249996" y="283999"/>
                  </a:lnTo>
                  <a:lnTo>
                    <a:pt x="206872" y="306312"/>
                  </a:lnTo>
                  <a:lnTo>
                    <a:pt x="157225" y="314325"/>
                  </a:lnTo>
                  <a:lnTo>
                    <a:pt x="107517" y="306312"/>
                  </a:lnTo>
                  <a:lnTo>
                    <a:pt x="64355" y="283999"/>
                  </a:lnTo>
                  <a:lnTo>
                    <a:pt x="30325" y="249969"/>
                  </a:lnTo>
                  <a:lnTo>
                    <a:pt x="8012" y="206807"/>
                  </a:lnTo>
                  <a:lnTo>
                    <a:pt x="0" y="15709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0058400" y="3248025"/>
              <a:ext cx="314325" cy="304800"/>
            </a:xfrm>
            <a:custGeom>
              <a:avLst/>
              <a:gdLst/>
              <a:ahLst/>
              <a:cxnLst/>
              <a:rect l="l" t="t" r="r" b="b"/>
              <a:pathLst>
                <a:path w="314325" h="304800">
                  <a:moveTo>
                    <a:pt x="157225" y="0"/>
                  </a:moveTo>
                  <a:lnTo>
                    <a:pt x="107517" y="7766"/>
                  </a:lnTo>
                  <a:lnTo>
                    <a:pt x="64355" y="29394"/>
                  </a:lnTo>
                  <a:lnTo>
                    <a:pt x="30325" y="62380"/>
                  </a:lnTo>
                  <a:lnTo>
                    <a:pt x="8012" y="104217"/>
                  </a:lnTo>
                  <a:lnTo>
                    <a:pt x="0" y="152400"/>
                  </a:lnTo>
                  <a:lnTo>
                    <a:pt x="8012" y="200582"/>
                  </a:lnTo>
                  <a:lnTo>
                    <a:pt x="30325" y="242419"/>
                  </a:lnTo>
                  <a:lnTo>
                    <a:pt x="64355" y="275405"/>
                  </a:lnTo>
                  <a:lnTo>
                    <a:pt x="107517" y="297033"/>
                  </a:lnTo>
                  <a:lnTo>
                    <a:pt x="157225" y="304800"/>
                  </a:lnTo>
                  <a:lnTo>
                    <a:pt x="206872" y="297033"/>
                  </a:lnTo>
                  <a:lnTo>
                    <a:pt x="249996" y="275405"/>
                  </a:lnTo>
                  <a:lnTo>
                    <a:pt x="284007" y="242419"/>
                  </a:lnTo>
                  <a:lnTo>
                    <a:pt x="306313" y="200582"/>
                  </a:lnTo>
                  <a:lnTo>
                    <a:pt x="314325" y="152400"/>
                  </a:lnTo>
                  <a:lnTo>
                    <a:pt x="306313" y="104217"/>
                  </a:lnTo>
                  <a:lnTo>
                    <a:pt x="284007" y="62380"/>
                  </a:lnTo>
                  <a:lnTo>
                    <a:pt x="249996" y="29394"/>
                  </a:lnTo>
                  <a:lnTo>
                    <a:pt x="206872" y="7766"/>
                  </a:lnTo>
                  <a:lnTo>
                    <a:pt x="157225" y="0"/>
                  </a:lnTo>
                  <a:close/>
                </a:path>
              </a:pathLst>
            </a:custGeom>
            <a:solidFill>
              <a:srgbClr val="F164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0058400" y="3248025"/>
              <a:ext cx="314325" cy="304800"/>
            </a:xfrm>
            <a:custGeom>
              <a:avLst/>
              <a:gdLst/>
              <a:ahLst/>
              <a:cxnLst/>
              <a:rect l="l" t="t" r="r" b="b"/>
              <a:pathLst>
                <a:path w="314325" h="304800">
                  <a:moveTo>
                    <a:pt x="0" y="152400"/>
                  </a:moveTo>
                  <a:lnTo>
                    <a:pt x="8012" y="104217"/>
                  </a:lnTo>
                  <a:lnTo>
                    <a:pt x="30325" y="62380"/>
                  </a:lnTo>
                  <a:lnTo>
                    <a:pt x="64355" y="29394"/>
                  </a:lnTo>
                  <a:lnTo>
                    <a:pt x="107517" y="7766"/>
                  </a:lnTo>
                  <a:lnTo>
                    <a:pt x="157225" y="0"/>
                  </a:lnTo>
                  <a:lnTo>
                    <a:pt x="206872" y="7766"/>
                  </a:lnTo>
                  <a:lnTo>
                    <a:pt x="249996" y="29394"/>
                  </a:lnTo>
                  <a:lnTo>
                    <a:pt x="284007" y="62380"/>
                  </a:lnTo>
                  <a:lnTo>
                    <a:pt x="306313" y="104217"/>
                  </a:lnTo>
                  <a:lnTo>
                    <a:pt x="314325" y="152400"/>
                  </a:lnTo>
                  <a:lnTo>
                    <a:pt x="306313" y="200582"/>
                  </a:lnTo>
                  <a:lnTo>
                    <a:pt x="284007" y="242419"/>
                  </a:lnTo>
                  <a:lnTo>
                    <a:pt x="249996" y="275405"/>
                  </a:lnTo>
                  <a:lnTo>
                    <a:pt x="206872" y="297033"/>
                  </a:lnTo>
                  <a:lnTo>
                    <a:pt x="157225" y="304800"/>
                  </a:lnTo>
                  <a:lnTo>
                    <a:pt x="107517" y="297033"/>
                  </a:lnTo>
                  <a:lnTo>
                    <a:pt x="64355" y="275405"/>
                  </a:lnTo>
                  <a:lnTo>
                    <a:pt x="30325" y="242419"/>
                  </a:lnTo>
                  <a:lnTo>
                    <a:pt x="8012" y="200582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677150" y="3981450"/>
              <a:ext cx="314325" cy="304800"/>
            </a:xfrm>
            <a:custGeom>
              <a:avLst/>
              <a:gdLst/>
              <a:ahLst/>
              <a:cxnLst/>
              <a:rect l="l" t="t" r="r" b="b"/>
              <a:pathLst>
                <a:path w="314325" h="304800">
                  <a:moveTo>
                    <a:pt x="157225" y="0"/>
                  </a:moveTo>
                  <a:lnTo>
                    <a:pt x="107517" y="7766"/>
                  </a:lnTo>
                  <a:lnTo>
                    <a:pt x="64355" y="29394"/>
                  </a:lnTo>
                  <a:lnTo>
                    <a:pt x="30325" y="62380"/>
                  </a:lnTo>
                  <a:lnTo>
                    <a:pt x="8012" y="104217"/>
                  </a:lnTo>
                  <a:lnTo>
                    <a:pt x="0" y="152400"/>
                  </a:lnTo>
                  <a:lnTo>
                    <a:pt x="8012" y="200582"/>
                  </a:lnTo>
                  <a:lnTo>
                    <a:pt x="30325" y="242419"/>
                  </a:lnTo>
                  <a:lnTo>
                    <a:pt x="64355" y="275405"/>
                  </a:lnTo>
                  <a:lnTo>
                    <a:pt x="107517" y="297033"/>
                  </a:lnTo>
                  <a:lnTo>
                    <a:pt x="157225" y="304800"/>
                  </a:lnTo>
                  <a:lnTo>
                    <a:pt x="206872" y="297033"/>
                  </a:lnTo>
                  <a:lnTo>
                    <a:pt x="249996" y="275405"/>
                  </a:lnTo>
                  <a:lnTo>
                    <a:pt x="284007" y="242419"/>
                  </a:lnTo>
                  <a:lnTo>
                    <a:pt x="306313" y="200582"/>
                  </a:lnTo>
                  <a:lnTo>
                    <a:pt x="314325" y="152400"/>
                  </a:lnTo>
                  <a:lnTo>
                    <a:pt x="306313" y="104217"/>
                  </a:lnTo>
                  <a:lnTo>
                    <a:pt x="284007" y="62380"/>
                  </a:lnTo>
                  <a:lnTo>
                    <a:pt x="249996" y="29394"/>
                  </a:lnTo>
                  <a:lnTo>
                    <a:pt x="206872" y="7766"/>
                  </a:lnTo>
                  <a:lnTo>
                    <a:pt x="157225" y="0"/>
                  </a:lnTo>
                  <a:close/>
                </a:path>
              </a:pathLst>
            </a:custGeom>
            <a:solidFill>
              <a:srgbClr val="5FA7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677150" y="3981450"/>
              <a:ext cx="314325" cy="304800"/>
            </a:xfrm>
            <a:custGeom>
              <a:avLst/>
              <a:gdLst/>
              <a:ahLst/>
              <a:cxnLst/>
              <a:rect l="l" t="t" r="r" b="b"/>
              <a:pathLst>
                <a:path w="314325" h="304800">
                  <a:moveTo>
                    <a:pt x="0" y="152400"/>
                  </a:moveTo>
                  <a:lnTo>
                    <a:pt x="8012" y="104217"/>
                  </a:lnTo>
                  <a:lnTo>
                    <a:pt x="30325" y="62380"/>
                  </a:lnTo>
                  <a:lnTo>
                    <a:pt x="64355" y="29394"/>
                  </a:lnTo>
                  <a:lnTo>
                    <a:pt x="107517" y="7766"/>
                  </a:lnTo>
                  <a:lnTo>
                    <a:pt x="157225" y="0"/>
                  </a:lnTo>
                  <a:lnTo>
                    <a:pt x="206872" y="7766"/>
                  </a:lnTo>
                  <a:lnTo>
                    <a:pt x="249996" y="29394"/>
                  </a:lnTo>
                  <a:lnTo>
                    <a:pt x="284007" y="62380"/>
                  </a:lnTo>
                  <a:lnTo>
                    <a:pt x="306313" y="104217"/>
                  </a:lnTo>
                  <a:lnTo>
                    <a:pt x="314325" y="152400"/>
                  </a:lnTo>
                  <a:lnTo>
                    <a:pt x="306313" y="200582"/>
                  </a:lnTo>
                  <a:lnTo>
                    <a:pt x="284007" y="242419"/>
                  </a:lnTo>
                  <a:lnTo>
                    <a:pt x="249996" y="275405"/>
                  </a:lnTo>
                  <a:lnTo>
                    <a:pt x="206872" y="297033"/>
                  </a:lnTo>
                  <a:lnTo>
                    <a:pt x="157225" y="304800"/>
                  </a:lnTo>
                  <a:lnTo>
                    <a:pt x="107517" y="297033"/>
                  </a:lnTo>
                  <a:lnTo>
                    <a:pt x="64355" y="275405"/>
                  </a:lnTo>
                  <a:lnTo>
                    <a:pt x="30325" y="242419"/>
                  </a:lnTo>
                  <a:lnTo>
                    <a:pt x="8012" y="200582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686800" y="4114800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157225" y="0"/>
                  </a:moveTo>
                  <a:lnTo>
                    <a:pt x="107517" y="8011"/>
                  </a:lnTo>
                  <a:lnTo>
                    <a:pt x="64355" y="30317"/>
                  </a:lnTo>
                  <a:lnTo>
                    <a:pt x="30325" y="64328"/>
                  </a:lnTo>
                  <a:lnTo>
                    <a:pt x="8012" y="107452"/>
                  </a:lnTo>
                  <a:lnTo>
                    <a:pt x="0" y="157099"/>
                  </a:lnTo>
                  <a:lnTo>
                    <a:pt x="8012" y="206807"/>
                  </a:lnTo>
                  <a:lnTo>
                    <a:pt x="30325" y="249969"/>
                  </a:lnTo>
                  <a:lnTo>
                    <a:pt x="64355" y="283999"/>
                  </a:lnTo>
                  <a:lnTo>
                    <a:pt x="107517" y="306312"/>
                  </a:lnTo>
                  <a:lnTo>
                    <a:pt x="157225" y="314325"/>
                  </a:lnTo>
                  <a:lnTo>
                    <a:pt x="206872" y="306312"/>
                  </a:lnTo>
                  <a:lnTo>
                    <a:pt x="249996" y="283999"/>
                  </a:lnTo>
                  <a:lnTo>
                    <a:pt x="284007" y="249969"/>
                  </a:lnTo>
                  <a:lnTo>
                    <a:pt x="306313" y="206807"/>
                  </a:lnTo>
                  <a:lnTo>
                    <a:pt x="314325" y="157099"/>
                  </a:lnTo>
                  <a:lnTo>
                    <a:pt x="306313" y="107452"/>
                  </a:lnTo>
                  <a:lnTo>
                    <a:pt x="284007" y="64328"/>
                  </a:lnTo>
                  <a:lnTo>
                    <a:pt x="249996" y="30317"/>
                  </a:lnTo>
                  <a:lnTo>
                    <a:pt x="206872" y="8011"/>
                  </a:lnTo>
                  <a:lnTo>
                    <a:pt x="157225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686800" y="4114800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0" y="157099"/>
                  </a:moveTo>
                  <a:lnTo>
                    <a:pt x="8012" y="107452"/>
                  </a:lnTo>
                  <a:lnTo>
                    <a:pt x="30325" y="64328"/>
                  </a:lnTo>
                  <a:lnTo>
                    <a:pt x="64355" y="30317"/>
                  </a:lnTo>
                  <a:lnTo>
                    <a:pt x="107517" y="8011"/>
                  </a:lnTo>
                  <a:lnTo>
                    <a:pt x="157225" y="0"/>
                  </a:lnTo>
                  <a:lnTo>
                    <a:pt x="206872" y="8011"/>
                  </a:lnTo>
                  <a:lnTo>
                    <a:pt x="249996" y="30317"/>
                  </a:lnTo>
                  <a:lnTo>
                    <a:pt x="284007" y="64328"/>
                  </a:lnTo>
                  <a:lnTo>
                    <a:pt x="306313" y="107452"/>
                  </a:lnTo>
                  <a:lnTo>
                    <a:pt x="314325" y="157099"/>
                  </a:lnTo>
                  <a:lnTo>
                    <a:pt x="306313" y="206807"/>
                  </a:lnTo>
                  <a:lnTo>
                    <a:pt x="284007" y="249969"/>
                  </a:lnTo>
                  <a:lnTo>
                    <a:pt x="249996" y="283999"/>
                  </a:lnTo>
                  <a:lnTo>
                    <a:pt x="206872" y="306312"/>
                  </a:lnTo>
                  <a:lnTo>
                    <a:pt x="157225" y="314325"/>
                  </a:lnTo>
                  <a:lnTo>
                    <a:pt x="107517" y="306312"/>
                  </a:lnTo>
                  <a:lnTo>
                    <a:pt x="64355" y="283999"/>
                  </a:lnTo>
                  <a:lnTo>
                    <a:pt x="30325" y="249969"/>
                  </a:lnTo>
                  <a:lnTo>
                    <a:pt x="8012" y="206807"/>
                  </a:lnTo>
                  <a:lnTo>
                    <a:pt x="0" y="15709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696450" y="39814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200582" y="297033"/>
                  </a:lnTo>
                  <a:lnTo>
                    <a:pt x="242419" y="275405"/>
                  </a:lnTo>
                  <a:lnTo>
                    <a:pt x="275405" y="242419"/>
                  </a:lnTo>
                  <a:lnTo>
                    <a:pt x="297033" y="200582"/>
                  </a:lnTo>
                  <a:lnTo>
                    <a:pt x="304800" y="152400"/>
                  </a:lnTo>
                  <a:lnTo>
                    <a:pt x="297033" y="104217"/>
                  </a:lnTo>
                  <a:lnTo>
                    <a:pt x="275405" y="62380"/>
                  </a:lnTo>
                  <a:lnTo>
                    <a:pt x="242419" y="29394"/>
                  </a:lnTo>
                  <a:lnTo>
                    <a:pt x="200582" y="776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164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9696450" y="39814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0515600" y="4210050"/>
              <a:ext cx="314325" cy="304800"/>
            </a:xfrm>
            <a:custGeom>
              <a:avLst/>
              <a:gdLst/>
              <a:ahLst/>
              <a:cxnLst/>
              <a:rect l="l" t="t" r="r" b="b"/>
              <a:pathLst>
                <a:path w="314325" h="304800">
                  <a:moveTo>
                    <a:pt x="157225" y="0"/>
                  </a:moveTo>
                  <a:lnTo>
                    <a:pt x="107517" y="7766"/>
                  </a:lnTo>
                  <a:lnTo>
                    <a:pt x="64355" y="29394"/>
                  </a:lnTo>
                  <a:lnTo>
                    <a:pt x="30325" y="62380"/>
                  </a:lnTo>
                  <a:lnTo>
                    <a:pt x="8012" y="104217"/>
                  </a:lnTo>
                  <a:lnTo>
                    <a:pt x="0" y="152400"/>
                  </a:lnTo>
                  <a:lnTo>
                    <a:pt x="8012" y="200582"/>
                  </a:lnTo>
                  <a:lnTo>
                    <a:pt x="30325" y="242419"/>
                  </a:lnTo>
                  <a:lnTo>
                    <a:pt x="64355" y="275405"/>
                  </a:lnTo>
                  <a:lnTo>
                    <a:pt x="107517" y="297033"/>
                  </a:lnTo>
                  <a:lnTo>
                    <a:pt x="157225" y="304800"/>
                  </a:lnTo>
                  <a:lnTo>
                    <a:pt x="206872" y="297033"/>
                  </a:lnTo>
                  <a:lnTo>
                    <a:pt x="249996" y="275405"/>
                  </a:lnTo>
                  <a:lnTo>
                    <a:pt x="284007" y="242419"/>
                  </a:lnTo>
                  <a:lnTo>
                    <a:pt x="306313" y="200582"/>
                  </a:lnTo>
                  <a:lnTo>
                    <a:pt x="314325" y="152400"/>
                  </a:lnTo>
                  <a:lnTo>
                    <a:pt x="306313" y="104217"/>
                  </a:lnTo>
                  <a:lnTo>
                    <a:pt x="284007" y="62380"/>
                  </a:lnTo>
                  <a:lnTo>
                    <a:pt x="249996" y="29394"/>
                  </a:lnTo>
                  <a:lnTo>
                    <a:pt x="206872" y="7766"/>
                  </a:lnTo>
                  <a:lnTo>
                    <a:pt x="157225" y="0"/>
                  </a:lnTo>
                  <a:close/>
                </a:path>
              </a:pathLst>
            </a:custGeom>
            <a:solidFill>
              <a:srgbClr val="5FA7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0515600" y="4210050"/>
              <a:ext cx="314325" cy="304800"/>
            </a:xfrm>
            <a:custGeom>
              <a:avLst/>
              <a:gdLst/>
              <a:ahLst/>
              <a:cxnLst/>
              <a:rect l="l" t="t" r="r" b="b"/>
              <a:pathLst>
                <a:path w="314325" h="304800">
                  <a:moveTo>
                    <a:pt x="0" y="152400"/>
                  </a:moveTo>
                  <a:lnTo>
                    <a:pt x="8012" y="104217"/>
                  </a:lnTo>
                  <a:lnTo>
                    <a:pt x="30325" y="62380"/>
                  </a:lnTo>
                  <a:lnTo>
                    <a:pt x="64355" y="29394"/>
                  </a:lnTo>
                  <a:lnTo>
                    <a:pt x="107517" y="7766"/>
                  </a:lnTo>
                  <a:lnTo>
                    <a:pt x="157225" y="0"/>
                  </a:lnTo>
                  <a:lnTo>
                    <a:pt x="206872" y="7766"/>
                  </a:lnTo>
                  <a:lnTo>
                    <a:pt x="249996" y="29394"/>
                  </a:lnTo>
                  <a:lnTo>
                    <a:pt x="284007" y="62380"/>
                  </a:lnTo>
                  <a:lnTo>
                    <a:pt x="306313" y="104217"/>
                  </a:lnTo>
                  <a:lnTo>
                    <a:pt x="314325" y="152400"/>
                  </a:lnTo>
                  <a:lnTo>
                    <a:pt x="306313" y="200582"/>
                  </a:lnTo>
                  <a:lnTo>
                    <a:pt x="284007" y="242419"/>
                  </a:lnTo>
                  <a:lnTo>
                    <a:pt x="249996" y="275405"/>
                  </a:lnTo>
                  <a:lnTo>
                    <a:pt x="206872" y="297033"/>
                  </a:lnTo>
                  <a:lnTo>
                    <a:pt x="157225" y="304800"/>
                  </a:lnTo>
                  <a:lnTo>
                    <a:pt x="107517" y="297033"/>
                  </a:lnTo>
                  <a:lnTo>
                    <a:pt x="64355" y="275405"/>
                  </a:lnTo>
                  <a:lnTo>
                    <a:pt x="30325" y="242419"/>
                  </a:lnTo>
                  <a:lnTo>
                    <a:pt x="8012" y="200582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229600" y="4705350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157225" y="0"/>
                  </a:moveTo>
                  <a:lnTo>
                    <a:pt x="107517" y="8011"/>
                  </a:lnTo>
                  <a:lnTo>
                    <a:pt x="64355" y="30317"/>
                  </a:lnTo>
                  <a:lnTo>
                    <a:pt x="30325" y="64328"/>
                  </a:lnTo>
                  <a:lnTo>
                    <a:pt x="8012" y="107452"/>
                  </a:lnTo>
                  <a:lnTo>
                    <a:pt x="0" y="157099"/>
                  </a:lnTo>
                  <a:lnTo>
                    <a:pt x="8012" y="206807"/>
                  </a:lnTo>
                  <a:lnTo>
                    <a:pt x="30325" y="249969"/>
                  </a:lnTo>
                  <a:lnTo>
                    <a:pt x="64355" y="283999"/>
                  </a:lnTo>
                  <a:lnTo>
                    <a:pt x="107517" y="306312"/>
                  </a:lnTo>
                  <a:lnTo>
                    <a:pt x="157225" y="314325"/>
                  </a:lnTo>
                  <a:lnTo>
                    <a:pt x="206872" y="306312"/>
                  </a:lnTo>
                  <a:lnTo>
                    <a:pt x="249996" y="283999"/>
                  </a:lnTo>
                  <a:lnTo>
                    <a:pt x="284007" y="249969"/>
                  </a:lnTo>
                  <a:lnTo>
                    <a:pt x="306313" y="206807"/>
                  </a:lnTo>
                  <a:lnTo>
                    <a:pt x="314325" y="157099"/>
                  </a:lnTo>
                  <a:lnTo>
                    <a:pt x="306313" y="107452"/>
                  </a:lnTo>
                  <a:lnTo>
                    <a:pt x="284007" y="64328"/>
                  </a:lnTo>
                  <a:lnTo>
                    <a:pt x="249996" y="30317"/>
                  </a:lnTo>
                  <a:lnTo>
                    <a:pt x="206872" y="8011"/>
                  </a:lnTo>
                  <a:lnTo>
                    <a:pt x="157225" y="0"/>
                  </a:lnTo>
                  <a:close/>
                </a:path>
              </a:pathLst>
            </a:custGeom>
            <a:solidFill>
              <a:srgbClr val="F164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229600" y="4705350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0" y="157099"/>
                  </a:moveTo>
                  <a:lnTo>
                    <a:pt x="8012" y="107452"/>
                  </a:lnTo>
                  <a:lnTo>
                    <a:pt x="30325" y="64328"/>
                  </a:lnTo>
                  <a:lnTo>
                    <a:pt x="64355" y="30317"/>
                  </a:lnTo>
                  <a:lnTo>
                    <a:pt x="107517" y="8011"/>
                  </a:lnTo>
                  <a:lnTo>
                    <a:pt x="157225" y="0"/>
                  </a:lnTo>
                  <a:lnTo>
                    <a:pt x="206872" y="8011"/>
                  </a:lnTo>
                  <a:lnTo>
                    <a:pt x="249996" y="30317"/>
                  </a:lnTo>
                  <a:lnTo>
                    <a:pt x="284007" y="64328"/>
                  </a:lnTo>
                  <a:lnTo>
                    <a:pt x="306313" y="107452"/>
                  </a:lnTo>
                  <a:lnTo>
                    <a:pt x="314325" y="157099"/>
                  </a:lnTo>
                  <a:lnTo>
                    <a:pt x="306313" y="206807"/>
                  </a:lnTo>
                  <a:lnTo>
                    <a:pt x="284007" y="249969"/>
                  </a:lnTo>
                  <a:lnTo>
                    <a:pt x="249996" y="283999"/>
                  </a:lnTo>
                  <a:lnTo>
                    <a:pt x="206872" y="306312"/>
                  </a:lnTo>
                  <a:lnTo>
                    <a:pt x="157225" y="314325"/>
                  </a:lnTo>
                  <a:lnTo>
                    <a:pt x="107517" y="306312"/>
                  </a:lnTo>
                  <a:lnTo>
                    <a:pt x="64355" y="283999"/>
                  </a:lnTo>
                  <a:lnTo>
                    <a:pt x="30325" y="249969"/>
                  </a:lnTo>
                  <a:lnTo>
                    <a:pt x="8012" y="206807"/>
                  </a:lnTo>
                  <a:lnTo>
                    <a:pt x="0" y="15709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9144000" y="4848225"/>
              <a:ext cx="314325" cy="304800"/>
            </a:xfrm>
            <a:custGeom>
              <a:avLst/>
              <a:gdLst/>
              <a:ahLst/>
              <a:cxnLst/>
              <a:rect l="l" t="t" r="r" b="b"/>
              <a:pathLst>
                <a:path w="314325" h="304800">
                  <a:moveTo>
                    <a:pt x="157225" y="0"/>
                  </a:moveTo>
                  <a:lnTo>
                    <a:pt x="107517" y="7766"/>
                  </a:lnTo>
                  <a:lnTo>
                    <a:pt x="64355" y="29394"/>
                  </a:lnTo>
                  <a:lnTo>
                    <a:pt x="30325" y="62380"/>
                  </a:lnTo>
                  <a:lnTo>
                    <a:pt x="8012" y="104217"/>
                  </a:lnTo>
                  <a:lnTo>
                    <a:pt x="0" y="152400"/>
                  </a:lnTo>
                  <a:lnTo>
                    <a:pt x="8012" y="200582"/>
                  </a:lnTo>
                  <a:lnTo>
                    <a:pt x="30325" y="242419"/>
                  </a:lnTo>
                  <a:lnTo>
                    <a:pt x="64355" y="275405"/>
                  </a:lnTo>
                  <a:lnTo>
                    <a:pt x="107517" y="297033"/>
                  </a:lnTo>
                  <a:lnTo>
                    <a:pt x="157225" y="304800"/>
                  </a:lnTo>
                  <a:lnTo>
                    <a:pt x="206872" y="297033"/>
                  </a:lnTo>
                  <a:lnTo>
                    <a:pt x="249996" y="275405"/>
                  </a:lnTo>
                  <a:lnTo>
                    <a:pt x="284007" y="242419"/>
                  </a:lnTo>
                  <a:lnTo>
                    <a:pt x="306313" y="200582"/>
                  </a:lnTo>
                  <a:lnTo>
                    <a:pt x="314325" y="152400"/>
                  </a:lnTo>
                  <a:lnTo>
                    <a:pt x="306313" y="104217"/>
                  </a:lnTo>
                  <a:lnTo>
                    <a:pt x="284007" y="62380"/>
                  </a:lnTo>
                  <a:lnTo>
                    <a:pt x="249996" y="29394"/>
                  </a:lnTo>
                  <a:lnTo>
                    <a:pt x="206872" y="7766"/>
                  </a:lnTo>
                  <a:lnTo>
                    <a:pt x="157225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9144000" y="4848225"/>
              <a:ext cx="314325" cy="304800"/>
            </a:xfrm>
            <a:custGeom>
              <a:avLst/>
              <a:gdLst/>
              <a:ahLst/>
              <a:cxnLst/>
              <a:rect l="l" t="t" r="r" b="b"/>
              <a:pathLst>
                <a:path w="314325" h="304800">
                  <a:moveTo>
                    <a:pt x="0" y="152400"/>
                  </a:moveTo>
                  <a:lnTo>
                    <a:pt x="8012" y="104217"/>
                  </a:lnTo>
                  <a:lnTo>
                    <a:pt x="30325" y="62380"/>
                  </a:lnTo>
                  <a:lnTo>
                    <a:pt x="64355" y="29394"/>
                  </a:lnTo>
                  <a:lnTo>
                    <a:pt x="107517" y="7766"/>
                  </a:lnTo>
                  <a:lnTo>
                    <a:pt x="157225" y="0"/>
                  </a:lnTo>
                  <a:lnTo>
                    <a:pt x="206872" y="7766"/>
                  </a:lnTo>
                  <a:lnTo>
                    <a:pt x="249996" y="29394"/>
                  </a:lnTo>
                  <a:lnTo>
                    <a:pt x="284007" y="62380"/>
                  </a:lnTo>
                  <a:lnTo>
                    <a:pt x="306313" y="104217"/>
                  </a:lnTo>
                  <a:lnTo>
                    <a:pt x="314325" y="152400"/>
                  </a:lnTo>
                  <a:lnTo>
                    <a:pt x="306313" y="200582"/>
                  </a:lnTo>
                  <a:lnTo>
                    <a:pt x="284007" y="242419"/>
                  </a:lnTo>
                  <a:lnTo>
                    <a:pt x="249996" y="275405"/>
                  </a:lnTo>
                  <a:lnTo>
                    <a:pt x="206872" y="297033"/>
                  </a:lnTo>
                  <a:lnTo>
                    <a:pt x="157225" y="304800"/>
                  </a:lnTo>
                  <a:lnTo>
                    <a:pt x="107517" y="297033"/>
                  </a:lnTo>
                  <a:lnTo>
                    <a:pt x="64355" y="275405"/>
                  </a:lnTo>
                  <a:lnTo>
                    <a:pt x="30325" y="242419"/>
                  </a:lnTo>
                  <a:lnTo>
                    <a:pt x="8012" y="200582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0153650" y="4705350"/>
              <a:ext cx="304800" cy="314325"/>
            </a:xfrm>
            <a:custGeom>
              <a:avLst/>
              <a:gdLst/>
              <a:ahLst/>
              <a:cxnLst/>
              <a:rect l="l" t="t" r="r" b="b"/>
              <a:pathLst>
                <a:path w="304800" h="314325">
                  <a:moveTo>
                    <a:pt x="152400" y="0"/>
                  </a:moveTo>
                  <a:lnTo>
                    <a:pt x="104217" y="8011"/>
                  </a:lnTo>
                  <a:lnTo>
                    <a:pt x="62380" y="30317"/>
                  </a:lnTo>
                  <a:lnTo>
                    <a:pt x="29394" y="64328"/>
                  </a:lnTo>
                  <a:lnTo>
                    <a:pt x="7766" y="107452"/>
                  </a:lnTo>
                  <a:lnTo>
                    <a:pt x="0" y="157099"/>
                  </a:lnTo>
                  <a:lnTo>
                    <a:pt x="7766" y="206807"/>
                  </a:lnTo>
                  <a:lnTo>
                    <a:pt x="29394" y="249969"/>
                  </a:lnTo>
                  <a:lnTo>
                    <a:pt x="62380" y="283999"/>
                  </a:lnTo>
                  <a:lnTo>
                    <a:pt x="104217" y="306312"/>
                  </a:lnTo>
                  <a:lnTo>
                    <a:pt x="152400" y="314325"/>
                  </a:lnTo>
                  <a:lnTo>
                    <a:pt x="200582" y="306312"/>
                  </a:lnTo>
                  <a:lnTo>
                    <a:pt x="242419" y="283999"/>
                  </a:lnTo>
                  <a:lnTo>
                    <a:pt x="275405" y="249969"/>
                  </a:lnTo>
                  <a:lnTo>
                    <a:pt x="297033" y="206807"/>
                  </a:lnTo>
                  <a:lnTo>
                    <a:pt x="304800" y="157099"/>
                  </a:lnTo>
                  <a:lnTo>
                    <a:pt x="297033" y="107452"/>
                  </a:lnTo>
                  <a:lnTo>
                    <a:pt x="275405" y="64328"/>
                  </a:lnTo>
                  <a:lnTo>
                    <a:pt x="242419" y="30317"/>
                  </a:lnTo>
                  <a:lnTo>
                    <a:pt x="200582" y="8011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FA7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0153650" y="4705350"/>
              <a:ext cx="304800" cy="314325"/>
            </a:xfrm>
            <a:custGeom>
              <a:avLst/>
              <a:gdLst/>
              <a:ahLst/>
              <a:cxnLst/>
              <a:rect l="l" t="t" r="r" b="b"/>
              <a:pathLst>
                <a:path w="304800" h="314325">
                  <a:moveTo>
                    <a:pt x="0" y="157099"/>
                  </a:moveTo>
                  <a:lnTo>
                    <a:pt x="7766" y="107452"/>
                  </a:lnTo>
                  <a:lnTo>
                    <a:pt x="29394" y="64328"/>
                  </a:lnTo>
                  <a:lnTo>
                    <a:pt x="62380" y="30317"/>
                  </a:lnTo>
                  <a:lnTo>
                    <a:pt x="104217" y="8011"/>
                  </a:lnTo>
                  <a:lnTo>
                    <a:pt x="152400" y="0"/>
                  </a:lnTo>
                  <a:lnTo>
                    <a:pt x="200582" y="8011"/>
                  </a:lnTo>
                  <a:lnTo>
                    <a:pt x="242419" y="30317"/>
                  </a:lnTo>
                  <a:lnTo>
                    <a:pt x="275405" y="64328"/>
                  </a:lnTo>
                  <a:lnTo>
                    <a:pt x="297033" y="107452"/>
                  </a:lnTo>
                  <a:lnTo>
                    <a:pt x="304800" y="157099"/>
                  </a:lnTo>
                  <a:lnTo>
                    <a:pt x="297033" y="206807"/>
                  </a:lnTo>
                  <a:lnTo>
                    <a:pt x="275405" y="249969"/>
                  </a:lnTo>
                  <a:lnTo>
                    <a:pt x="242419" y="283999"/>
                  </a:lnTo>
                  <a:lnTo>
                    <a:pt x="200582" y="306312"/>
                  </a:lnTo>
                  <a:lnTo>
                    <a:pt x="152400" y="314325"/>
                  </a:lnTo>
                  <a:lnTo>
                    <a:pt x="104217" y="306312"/>
                  </a:lnTo>
                  <a:lnTo>
                    <a:pt x="62380" y="283999"/>
                  </a:lnTo>
                  <a:lnTo>
                    <a:pt x="29394" y="249969"/>
                  </a:lnTo>
                  <a:lnTo>
                    <a:pt x="7766" y="206807"/>
                  </a:lnTo>
                  <a:lnTo>
                    <a:pt x="0" y="15709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62825" y="5762625"/>
              <a:ext cx="142875" cy="14287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34425" y="5762625"/>
              <a:ext cx="142875" cy="14287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25050" y="5762625"/>
              <a:ext cx="142875" cy="142875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7655941" y="5739447"/>
            <a:ext cx="53022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dirty="0" sz="10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FFFFFF"/>
                </a:solidFill>
                <a:latin typeface="Times New Roman"/>
                <a:cs typeface="Times New Roman"/>
              </a:rPr>
              <a:t>risk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1694541" y="6471750"/>
            <a:ext cx="159385" cy="16256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50" spc="-25">
                <a:solidFill>
                  <a:srgbClr val="5B6773"/>
                </a:solidFill>
                <a:latin typeface="Times New Roman"/>
                <a:cs typeface="Times New Roman"/>
              </a:rPr>
              <a:t>02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028430" y="5739447"/>
            <a:ext cx="53276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FFFFFF"/>
                </a:solidFill>
                <a:latin typeface="Times New Roman"/>
                <a:cs typeface="Times New Roman"/>
              </a:rPr>
              <a:t>Moderate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218039" y="5739447"/>
            <a:ext cx="50165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Low</a:t>
            </a:r>
            <a:r>
              <a:rPr dirty="0" sz="105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FFFFFF"/>
                </a:solidFill>
                <a:latin typeface="Times New Roman"/>
                <a:cs typeface="Times New Roman"/>
              </a:rPr>
              <a:t>risk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9117" y="641667"/>
            <a:ext cx="5554980" cy="6096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dirty="0" spc="-140"/>
              <a:t> </a:t>
            </a:r>
            <a:r>
              <a:rPr dirty="0" spc="-45"/>
              <a:t>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38150" y="1752536"/>
            <a:ext cx="3748404" cy="4443730"/>
            <a:chOff x="438150" y="1752536"/>
            <a:chExt cx="3748404" cy="44437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150" y="1752536"/>
              <a:ext cx="3748151" cy="44434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57212" y="1833625"/>
              <a:ext cx="3515360" cy="4210050"/>
            </a:xfrm>
            <a:custGeom>
              <a:avLst/>
              <a:gdLst/>
              <a:ahLst/>
              <a:cxnLst/>
              <a:rect l="l" t="t" r="r" b="b"/>
              <a:pathLst>
                <a:path w="3515360" h="4210050">
                  <a:moveTo>
                    <a:pt x="3423475" y="0"/>
                  </a:moveTo>
                  <a:lnTo>
                    <a:pt x="91274" y="0"/>
                  </a:lnTo>
                  <a:lnTo>
                    <a:pt x="55748" y="7157"/>
                  </a:lnTo>
                  <a:lnTo>
                    <a:pt x="26735" y="26685"/>
                  </a:lnTo>
                  <a:lnTo>
                    <a:pt x="7173" y="55667"/>
                  </a:lnTo>
                  <a:lnTo>
                    <a:pt x="0" y="91186"/>
                  </a:lnTo>
                  <a:lnTo>
                    <a:pt x="0" y="4118711"/>
                  </a:lnTo>
                  <a:lnTo>
                    <a:pt x="7173" y="4154238"/>
                  </a:lnTo>
                  <a:lnTo>
                    <a:pt x="26735" y="4183251"/>
                  </a:lnTo>
                  <a:lnTo>
                    <a:pt x="55748" y="4202813"/>
                  </a:lnTo>
                  <a:lnTo>
                    <a:pt x="91274" y="4209986"/>
                  </a:lnTo>
                  <a:lnTo>
                    <a:pt x="3423475" y="4209986"/>
                  </a:lnTo>
                  <a:lnTo>
                    <a:pt x="3459013" y="4202813"/>
                  </a:lnTo>
                  <a:lnTo>
                    <a:pt x="3488039" y="4183251"/>
                  </a:lnTo>
                  <a:lnTo>
                    <a:pt x="3507611" y="4154238"/>
                  </a:lnTo>
                  <a:lnTo>
                    <a:pt x="3514788" y="4118711"/>
                  </a:lnTo>
                  <a:lnTo>
                    <a:pt x="3514788" y="91186"/>
                  </a:lnTo>
                  <a:lnTo>
                    <a:pt x="3507611" y="55667"/>
                  </a:lnTo>
                  <a:lnTo>
                    <a:pt x="3488039" y="26685"/>
                  </a:lnTo>
                  <a:lnTo>
                    <a:pt x="3459013" y="7157"/>
                  </a:lnTo>
                  <a:lnTo>
                    <a:pt x="3423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57212" y="1833625"/>
              <a:ext cx="3515360" cy="4210050"/>
            </a:xfrm>
            <a:custGeom>
              <a:avLst/>
              <a:gdLst/>
              <a:ahLst/>
              <a:cxnLst/>
              <a:rect l="l" t="t" r="r" b="b"/>
              <a:pathLst>
                <a:path w="3515360" h="4210050">
                  <a:moveTo>
                    <a:pt x="0" y="91186"/>
                  </a:moveTo>
                  <a:lnTo>
                    <a:pt x="7173" y="55667"/>
                  </a:lnTo>
                  <a:lnTo>
                    <a:pt x="26735" y="26685"/>
                  </a:lnTo>
                  <a:lnTo>
                    <a:pt x="55748" y="7157"/>
                  </a:lnTo>
                  <a:lnTo>
                    <a:pt x="91274" y="0"/>
                  </a:lnTo>
                  <a:lnTo>
                    <a:pt x="3423475" y="0"/>
                  </a:lnTo>
                  <a:lnTo>
                    <a:pt x="3459013" y="7157"/>
                  </a:lnTo>
                  <a:lnTo>
                    <a:pt x="3488039" y="26685"/>
                  </a:lnTo>
                  <a:lnTo>
                    <a:pt x="3507611" y="55667"/>
                  </a:lnTo>
                  <a:lnTo>
                    <a:pt x="3514788" y="91186"/>
                  </a:lnTo>
                  <a:lnTo>
                    <a:pt x="3514788" y="4118711"/>
                  </a:lnTo>
                  <a:lnTo>
                    <a:pt x="3507611" y="4154238"/>
                  </a:lnTo>
                  <a:lnTo>
                    <a:pt x="3488039" y="4183251"/>
                  </a:lnTo>
                  <a:lnTo>
                    <a:pt x="3459013" y="4202813"/>
                  </a:lnTo>
                  <a:lnTo>
                    <a:pt x="3423475" y="4209986"/>
                  </a:lnTo>
                  <a:lnTo>
                    <a:pt x="91274" y="4209986"/>
                  </a:lnTo>
                  <a:lnTo>
                    <a:pt x="55748" y="4202813"/>
                  </a:lnTo>
                  <a:lnTo>
                    <a:pt x="26735" y="4183251"/>
                  </a:lnTo>
                  <a:lnTo>
                    <a:pt x="7173" y="4154238"/>
                  </a:lnTo>
                  <a:lnTo>
                    <a:pt x="0" y="4118711"/>
                  </a:lnTo>
                  <a:lnTo>
                    <a:pt x="0" y="91186"/>
                  </a:lnTo>
                  <a:close/>
                </a:path>
              </a:pathLst>
            </a:custGeom>
            <a:ln w="12700">
              <a:solidFill>
                <a:srgbClr val="E2EB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95475" y="2190749"/>
              <a:ext cx="828675" cy="828675"/>
            </a:xfrm>
            <a:custGeom>
              <a:avLst/>
              <a:gdLst/>
              <a:ahLst/>
              <a:cxnLst/>
              <a:rect l="l" t="t" r="r" b="b"/>
              <a:pathLst>
                <a:path w="828675" h="828675">
                  <a:moveTo>
                    <a:pt x="414400" y="0"/>
                  </a:moveTo>
                  <a:lnTo>
                    <a:pt x="366075" y="2788"/>
                  </a:lnTo>
                  <a:lnTo>
                    <a:pt x="319386" y="10944"/>
                  </a:lnTo>
                  <a:lnTo>
                    <a:pt x="274645" y="24159"/>
                  </a:lnTo>
                  <a:lnTo>
                    <a:pt x="232163" y="42119"/>
                  </a:lnTo>
                  <a:lnTo>
                    <a:pt x="192251" y="64514"/>
                  </a:lnTo>
                  <a:lnTo>
                    <a:pt x="155219" y="91033"/>
                  </a:lnTo>
                  <a:lnTo>
                    <a:pt x="121380" y="121364"/>
                  </a:lnTo>
                  <a:lnTo>
                    <a:pt x="91043" y="155196"/>
                  </a:lnTo>
                  <a:lnTo>
                    <a:pt x="64520" y="192217"/>
                  </a:lnTo>
                  <a:lnTo>
                    <a:pt x="42122" y="232117"/>
                  </a:lnTo>
                  <a:lnTo>
                    <a:pt x="24160" y="274584"/>
                  </a:lnTo>
                  <a:lnTo>
                    <a:pt x="10945" y="319306"/>
                  </a:lnTo>
                  <a:lnTo>
                    <a:pt x="2788" y="365973"/>
                  </a:lnTo>
                  <a:lnTo>
                    <a:pt x="0" y="414274"/>
                  </a:lnTo>
                  <a:lnTo>
                    <a:pt x="2788" y="462599"/>
                  </a:lnTo>
                  <a:lnTo>
                    <a:pt x="10945" y="509288"/>
                  </a:lnTo>
                  <a:lnTo>
                    <a:pt x="24160" y="554029"/>
                  </a:lnTo>
                  <a:lnTo>
                    <a:pt x="42122" y="596511"/>
                  </a:lnTo>
                  <a:lnTo>
                    <a:pt x="64520" y="636423"/>
                  </a:lnTo>
                  <a:lnTo>
                    <a:pt x="91043" y="673455"/>
                  </a:lnTo>
                  <a:lnTo>
                    <a:pt x="121380" y="707294"/>
                  </a:lnTo>
                  <a:lnTo>
                    <a:pt x="155219" y="737631"/>
                  </a:lnTo>
                  <a:lnTo>
                    <a:pt x="192251" y="764154"/>
                  </a:lnTo>
                  <a:lnTo>
                    <a:pt x="232163" y="786552"/>
                  </a:lnTo>
                  <a:lnTo>
                    <a:pt x="274645" y="804514"/>
                  </a:lnTo>
                  <a:lnTo>
                    <a:pt x="319386" y="817729"/>
                  </a:lnTo>
                  <a:lnTo>
                    <a:pt x="366075" y="825886"/>
                  </a:lnTo>
                  <a:lnTo>
                    <a:pt x="414400" y="828675"/>
                  </a:lnTo>
                  <a:lnTo>
                    <a:pt x="462701" y="825886"/>
                  </a:lnTo>
                  <a:lnTo>
                    <a:pt x="509368" y="817729"/>
                  </a:lnTo>
                  <a:lnTo>
                    <a:pt x="554090" y="804514"/>
                  </a:lnTo>
                  <a:lnTo>
                    <a:pt x="596557" y="786552"/>
                  </a:lnTo>
                  <a:lnTo>
                    <a:pt x="636457" y="764154"/>
                  </a:lnTo>
                  <a:lnTo>
                    <a:pt x="673478" y="737631"/>
                  </a:lnTo>
                  <a:lnTo>
                    <a:pt x="707310" y="707294"/>
                  </a:lnTo>
                  <a:lnTo>
                    <a:pt x="737641" y="673455"/>
                  </a:lnTo>
                  <a:lnTo>
                    <a:pt x="764160" y="636423"/>
                  </a:lnTo>
                  <a:lnTo>
                    <a:pt x="786555" y="596511"/>
                  </a:lnTo>
                  <a:lnTo>
                    <a:pt x="804515" y="554029"/>
                  </a:lnTo>
                  <a:lnTo>
                    <a:pt x="817730" y="509288"/>
                  </a:lnTo>
                  <a:lnTo>
                    <a:pt x="825886" y="462599"/>
                  </a:lnTo>
                  <a:lnTo>
                    <a:pt x="828675" y="414274"/>
                  </a:lnTo>
                  <a:lnTo>
                    <a:pt x="825886" y="365973"/>
                  </a:lnTo>
                  <a:lnTo>
                    <a:pt x="817730" y="319306"/>
                  </a:lnTo>
                  <a:lnTo>
                    <a:pt x="804515" y="274584"/>
                  </a:lnTo>
                  <a:lnTo>
                    <a:pt x="786555" y="232117"/>
                  </a:lnTo>
                  <a:lnTo>
                    <a:pt x="764160" y="192217"/>
                  </a:lnTo>
                  <a:lnTo>
                    <a:pt x="737641" y="155196"/>
                  </a:lnTo>
                  <a:lnTo>
                    <a:pt x="707310" y="121364"/>
                  </a:lnTo>
                  <a:lnTo>
                    <a:pt x="673478" y="91033"/>
                  </a:lnTo>
                  <a:lnTo>
                    <a:pt x="636457" y="64514"/>
                  </a:lnTo>
                  <a:lnTo>
                    <a:pt x="596557" y="42119"/>
                  </a:lnTo>
                  <a:lnTo>
                    <a:pt x="554090" y="24159"/>
                  </a:lnTo>
                  <a:lnTo>
                    <a:pt x="509368" y="10944"/>
                  </a:lnTo>
                  <a:lnTo>
                    <a:pt x="462701" y="2788"/>
                  </a:lnTo>
                  <a:lnTo>
                    <a:pt x="414400" y="0"/>
                  </a:lnTo>
                  <a:close/>
                </a:path>
              </a:pathLst>
            </a:custGeom>
            <a:solidFill>
              <a:srgbClr val="1D4E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71700" y="2371724"/>
              <a:ext cx="276225" cy="495300"/>
            </a:xfrm>
            <a:custGeom>
              <a:avLst/>
              <a:gdLst/>
              <a:ahLst/>
              <a:cxnLst/>
              <a:rect l="l" t="t" r="r" b="b"/>
              <a:pathLst>
                <a:path w="276225" h="495300">
                  <a:moveTo>
                    <a:pt x="276225" y="142875"/>
                  </a:moveTo>
                  <a:lnTo>
                    <a:pt x="269176" y="97739"/>
                  </a:lnTo>
                  <a:lnTo>
                    <a:pt x="249567" y="58521"/>
                  </a:lnTo>
                  <a:lnTo>
                    <a:pt x="219684" y="27584"/>
                  </a:lnTo>
                  <a:lnTo>
                    <a:pt x="181787" y="7289"/>
                  </a:lnTo>
                  <a:lnTo>
                    <a:pt x="138176" y="0"/>
                  </a:lnTo>
                  <a:lnTo>
                    <a:pt x="94488" y="7289"/>
                  </a:lnTo>
                  <a:lnTo>
                    <a:pt x="56553" y="27584"/>
                  </a:lnTo>
                  <a:lnTo>
                    <a:pt x="26644" y="58521"/>
                  </a:lnTo>
                  <a:lnTo>
                    <a:pt x="7035" y="97739"/>
                  </a:lnTo>
                  <a:lnTo>
                    <a:pt x="0" y="142875"/>
                  </a:lnTo>
                  <a:lnTo>
                    <a:pt x="7035" y="188023"/>
                  </a:lnTo>
                  <a:lnTo>
                    <a:pt x="26644" y="227241"/>
                  </a:lnTo>
                  <a:lnTo>
                    <a:pt x="35407" y="236321"/>
                  </a:lnTo>
                  <a:lnTo>
                    <a:pt x="138176" y="495300"/>
                  </a:lnTo>
                  <a:lnTo>
                    <a:pt x="240817" y="236296"/>
                  </a:lnTo>
                  <a:lnTo>
                    <a:pt x="249567" y="227241"/>
                  </a:lnTo>
                  <a:lnTo>
                    <a:pt x="269176" y="188023"/>
                  </a:lnTo>
                  <a:lnTo>
                    <a:pt x="276225" y="142875"/>
                  </a:lnTo>
                  <a:close/>
                </a:path>
              </a:pathLst>
            </a:custGeom>
            <a:solidFill>
              <a:srgbClr val="F164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027112" y="3264598"/>
            <a:ext cx="256222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b="1">
                <a:solidFill>
                  <a:srgbClr val="1D4E88"/>
                </a:solidFill>
                <a:latin typeface="Times New Roman"/>
                <a:cs typeface="Times New Roman"/>
              </a:rPr>
              <a:t>Fragmented</a:t>
            </a:r>
            <a:r>
              <a:rPr dirty="0" sz="1700" spc="-75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1D4E88"/>
                </a:solidFill>
                <a:latin typeface="Times New Roman"/>
                <a:cs typeface="Times New Roman"/>
              </a:rPr>
              <a:t>Nutrition</a:t>
            </a:r>
            <a:r>
              <a:rPr dirty="0" sz="1700" spc="-70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700" spc="-20" b="1">
                <a:solidFill>
                  <a:srgbClr val="1D4E88"/>
                </a:solidFill>
                <a:latin typeface="Times New Roman"/>
                <a:cs typeface="Times New Roman"/>
              </a:rPr>
              <a:t>Data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4719" y="3985704"/>
            <a:ext cx="2760980" cy="1056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 indent="-7620">
              <a:lnSpc>
                <a:spcPct val="120700"/>
              </a:lnSpc>
              <a:spcBef>
                <a:spcPts val="90"/>
              </a:spcBef>
            </a:pPr>
            <a:r>
              <a:rPr dirty="0" sz="1400" spc="-10">
                <a:solidFill>
                  <a:srgbClr val="5B6773"/>
                </a:solidFill>
                <a:latin typeface="Times New Roman"/>
                <a:cs typeface="Times New Roman"/>
              </a:rPr>
              <a:t>District-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level</a:t>
            </a:r>
            <a:r>
              <a:rPr dirty="0" sz="1400" spc="-1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malnutrition</a:t>
            </a:r>
            <a:r>
              <a:rPr dirty="0" sz="1400" spc="-2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and</a:t>
            </a:r>
            <a:r>
              <a:rPr dirty="0" sz="1400" spc="-25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5B6773"/>
                </a:solidFill>
                <a:latin typeface="Times New Roman"/>
                <a:cs typeface="Times New Roman"/>
              </a:rPr>
              <a:t>food-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security</a:t>
            </a:r>
            <a:r>
              <a:rPr dirty="0" sz="1400" spc="-1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survey</a:t>
            </a:r>
            <a:r>
              <a:rPr dirty="0" sz="1400" spc="-1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records</a:t>
            </a:r>
            <a:r>
              <a:rPr dirty="0" sz="1400" spc="5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sit</a:t>
            </a:r>
            <a:r>
              <a:rPr dirty="0" sz="1400" spc="-7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in</a:t>
            </a:r>
            <a:r>
              <a:rPr dirty="0" sz="1400" spc="-5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5B6773"/>
                </a:solidFill>
                <a:latin typeface="Times New Roman"/>
                <a:cs typeface="Times New Roman"/>
              </a:rPr>
              <a:t>scattered spreadsheets</a:t>
            </a:r>
            <a:r>
              <a:rPr dirty="0" sz="1400" spc="-5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and</a:t>
            </a:r>
            <a:r>
              <a:rPr dirty="0" sz="1400" spc="-1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reports,</a:t>
            </a:r>
            <a:r>
              <a:rPr dirty="0" sz="1400" spc="-3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with</a:t>
            </a:r>
            <a:r>
              <a:rPr dirty="0" sz="1400" spc="-1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5B6773"/>
                </a:solidFill>
                <a:latin typeface="Times New Roman"/>
                <a:cs typeface="Times New Roman"/>
              </a:rPr>
              <a:t>no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unified</a:t>
            </a:r>
            <a:r>
              <a:rPr dirty="0" sz="1400" spc="-5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spatial</a:t>
            </a:r>
            <a:r>
              <a:rPr dirty="0" sz="1400" spc="-35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5B6773"/>
                </a:solidFill>
                <a:latin typeface="Times New Roman"/>
                <a:cs typeface="Times New Roman"/>
              </a:rPr>
              <a:t>view.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76725" y="1752536"/>
            <a:ext cx="3748404" cy="4443730"/>
            <a:chOff x="4276725" y="1752536"/>
            <a:chExt cx="3748404" cy="444373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6725" y="1752536"/>
              <a:ext cx="3748151" cy="44434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395851" y="1833625"/>
              <a:ext cx="3514725" cy="4210050"/>
            </a:xfrm>
            <a:custGeom>
              <a:avLst/>
              <a:gdLst/>
              <a:ahLst/>
              <a:cxnLst/>
              <a:rect l="l" t="t" r="r" b="b"/>
              <a:pathLst>
                <a:path w="3514725" h="4210050">
                  <a:moveTo>
                    <a:pt x="3423412" y="0"/>
                  </a:moveTo>
                  <a:lnTo>
                    <a:pt x="91186" y="0"/>
                  </a:lnTo>
                  <a:lnTo>
                    <a:pt x="55667" y="7157"/>
                  </a:lnTo>
                  <a:lnTo>
                    <a:pt x="26685" y="26685"/>
                  </a:lnTo>
                  <a:lnTo>
                    <a:pt x="7157" y="55667"/>
                  </a:lnTo>
                  <a:lnTo>
                    <a:pt x="0" y="91186"/>
                  </a:lnTo>
                  <a:lnTo>
                    <a:pt x="0" y="4118711"/>
                  </a:lnTo>
                  <a:lnTo>
                    <a:pt x="7157" y="4154238"/>
                  </a:lnTo>
                  <a:lnTo>
                    <a:pt x="26685" y="4183251"/>
                  </a:lnTo>
                  <a:lnTo>
                    <a:pt x="55667" y="4202813"/>
                  </a:lnTo>
                  <a:lnTo>
                    <a:pt x="91186" y="4209986"/>
                  </a:lnTo>
                  <a:lnTo>
                    <a:pt x="3423412" y="4209986"/>
                  </a:lnTo>
                  <a:lnTo>
                    <a:pt x="3458950" y="4202813"/>
                  </a:lnTo>
                  <a:lnTo>
                    <a:pt x="3487975" y="4183251"/>
                  </a:lnTo>
                  <a:lnTo>
                    <a:pt x="3507547" y="4154238"/>
                  </a:lnTo>
                  <a:lnTo>
                    <a:pt x="3514725" y="4118711"/>
                  </a:lnTo>
                  <a:lnTo>
                    <a:pt x="3514725" y="91186"/>
                  </a:lnTo>
                  <a:lnTo>
                    <a:pt x="3507547" y="55667"/>
                  </a:lnTo>
                  <a:lnTo>
                    <a:pt x="3487975" y="26685"/>
                  </a:lnTo>
                  <a:lnTo>
                    <a:pt x="3458950" y="7157"/>
                  </a:lnTo>
                  <a:lnTo>
                    <a:pt x="34234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395851" y="1833625"/>
              <a:ext cx="3514725" cy="4210050"/>
            </a:xfrm>
            <a:custGeom>
              <a:avLst/>
              <a:gdLst/>
              <a:ahLst/>
              <a:cxnLst/>
              <a:rect l="l" t="t" r="r" b="b"/>
              <a:pathLst>
                <a:path w="3514725" h="4210050">
                  <a:moveTo>
                    <a:pt x="0" y="91186"/>
                  </a:moveTo>
                  <a:lnTo>
                    <a:pt x="7157" y="55667"/>
                  </a:lnTo>
                  <a:lnTo>
                    <a:pt x="26685" y="26685"/>
                  </a:lnTo>
                  <a:lnTo>
                    <a:pt x="55667" y="7157"/>
                  </a:lnTo>
                  <a:lnTo>
                    <a:pt x="91186" y="0"/>
                  </a:lnTo>
                  <a:lnTo>
                    <a:pt x="3423412" y="0"/>
                  </a:lnTo>
                  <a:lnTo>
                    <a:pt x="3458950" y="7157"/>
                  </a:lnTo>
                  <a:lnTo>
                    <a:pt x="3487975" y="26685"/>
                  </a:lnTo>
                  <a:lnTo>
                    <a:pt x="3507547" y="55667"/>
                  </a:lnTo>
                  <a:lnTo>
                    <a:pt x="3514725" y="91186"/>
                  </a:lnTo>
                  <a:lnTo>
                    <a:pt x="3514725" y="4118711"/>
                  </a:lnTo>
                  <a:lnTo>
                    <a:pt x="3507547" y="4154238"/>
                  </a:lnTo>
                  <a:lnTo>
                    <a:pt x="3487975" y="4183251"/>
                  </a:lnTo>
                  <a:lnTo>
                    <a:pt x="3458950" y="4202813"/>
                  </a:lnTo>
                  <a:lnTo>
                    <a:pt x="3423412" y="4209986"/>
                  </a:lnTo>
                  <a:lnTo>
                    <a:pt x="91186" y="4209986"/>
                  </a:lnTo>
                  <a:lnTo>
                    <a:pt x="55667" y="4202813"/>
                  </a:lnTo>
                  <a:lnTo>
                    <a:pt x="26685" y="4183251"/>
                  </a:lnTo>
                  <a:lnTo>
                    <a:pt x="7157" y="4154238"/>
                  </a:lnTo>
                  <a:lnTo>
                    <a:pt x="0" y="4118711"/>
                  </a:lnTo>
                  <a:lnTo>
                    <a:pt x="0" y="91186"/>
                  </a:lnTo>
                  <a:close/>
                </a:path>
              </a:pathLst>
            </a:custGeom>
            <a:ln w="12699">
              <a:solidFill>
                <a:srgbClr val="E2EB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734050" y="2190749"/>
              <a:ext cx="828675" cy="828675"/>
            </a:xfrm>
            <a:custGeom>
              <a:avLst/>
              <a:gdLst/>
              <a:ahLst/>
              <a:cxnLst/>
              <a:rect l="l" t="t" r="r" b="b"/>
              <a:pathLst>
                <a:path w="828675" h="828675">
                  <a:moveTo>
                    <a:pt x="414400" y="0"/>
                  </a:moveTo>
                  <a:lnTo>
                    <a:pt x="366075" y="2788"/>
                  </a:lnTo>
                  <a:lnTo>
                    <a:pt x="319386" y="10944"/>
                  </a:lnTo>
                  <a:lnTo>
                    <a:pt x="274645" y="24159"/>
                  </a:lnTo>
                  <a:lnTo>
                    <a:pt x="232163" y="42119"/>
                  </a:lnTo>
                  <a:lnTo>
                    <a:pt x="192251" y="64514"/>
                  </a:lnTo>
                  <a:lnTo>
                    <a:pt x="155219" y="91033"/>
                  </a:lnTo>
                  <a:lnTo>
                    <a:pt x="121380" y="121364"/>
                  </a:lnTo>
                  <a:lnTo>
                    <a:pt x="91043" y="155196"/>
                  </a:lnTo>
                  <a:lnTo>
                    <a:pt x="64520" y="192217"/>
                  </a:lnTo>
                  <a:lnTo>
                    <a:pt x="42122" y="232117"/>
                  </a:lnTo>
                  <a:lnTo>
                    <a:pt x="24160" y="274584"/>
                  </a:lnTo>
                  <a:lnTo>
                    <a:pt x="10945" y="319306"/>
                  </a:lnTo>
                  <a:lnTo>
                    <a:pt x="2788" y="365973"/>
                  </a:lnTo>
                  <a:lnTo>
                    <a:pt x="0" y="414274"/>
                  </a:lnTo>
                  <a:lnTo>
                    <a:pt x="2788" y="462599"/>
                  </a:lnTo>
                  <a:lnTo>
                    <a:pt x="10945" y="509288"/>
                  </a:lnTo>
                  <a:lnTo>
                    <a:pt x="24160" y="554029"/>
                  </a:lnTo>
                  <a:lnTo>
                    <a:pt x="42122" y="596511"/>
                  </a:lnTo>
                  <a:lnTo>
                    <a:pt x="64520" y="636423"/>
                  </a:lnTo>
                  <a:lnTo>
                    <a:pt x="91043" y="673455"/>
                  </a:lnTo>
                  <a:lnTo>
                    <a:pt x="121380" y="707294"/>
                  </a:lnTo>
                  <a:lnTo>
                    <a:pt x="155219" y="737631"/>
                  </a:lnTo>
                  <a:lnTo>
                    <a:pt x="192251" y="764154"/>
                  </a:lnTo>
                  <a:lnTo>
                    <a:pt x="232163" y="786552"/>
                  </a:lnTo>
                  <a:lnTo>
                    <a:pt x="274645" y="804514"/>
                  </a:lnTo>
                  <a:lnTo>
                    <a:pt x="319386" y="817729"/>
                  </a:lnTo>
                  <a:lnTo>
                    <a:pt x="366075" y="825886"/>
                  </a:lnTo>
                  <a:lnTo>
                    <a:pt x="414400" y="828675"/>
                  </a:lnTo>
                  <a:lnTo>
                    <a:pt x="462701" y="825886"/>
                  </a:lnTo>
                  <a:lnTo>
                    <a:pt x="509368" y="817729"/>
                  </a:lnTo>
                  <a:lnTo>
                    <a:pt x="554090" y="804514"/>
                  </a:lnTo>
                  <a:lnTo>
                    <a:pt x="596557" y="786552"/>
                  </a:lnTo>
                  <a:lnTo>
                    <a:pt x="636457" y="764154"/>
                  </a:lnTo>
                  <a:lnTo>
                    <a:pt x="673478" y="737631"/>
                  </a:lnTo>
                  <a:lnTo>
                    <a:pt x="707310" y="707294"/>
                  </a:lnTo>
                  <a:lnTo>
                    <a:pt x="737641" y="673455"/>
                  </a:lnTo>
                  <a:lnTo>
                    <a:pt x="764160" y="636423"/>
                  </a:lnTo>
                  <a:lnTo>
                    <a:pt x="786555" y="596511"/>
                  </a:lnTo>
                  <a:lnTo>
                    <a:pt x="804515" y="554029"/>
                  </a:lnTo>
                  <a:lnTo>
                    <a:pt x="817730" y="509288"/>
                  </a:lnTo>
                  <a:lnTo>
                    <a:pt x="825886" y="462599"/>
                  </a:lnTo>
                  <a:lnTo>
                    <a:pt x="828675" y="414274"/>
                  </a:lnTo>
                  <a:lnTo>
                    <a:pt x="825886" y="365973"/>
                  </a:lnTo>
                  <a:lnTo>
                    <a:pt x="817730" y="319306"/>
                  </a:lnTo>
                  <a:lnTo>
                    <a:pt x="804515" y="274584"/>
                  </a:lnTo>
                  <a:lnTo>
                    <a:pt x="786555" y="232117"/>
                  </a:lnTo>
                  <a:lnTo>
                    <a:pt x="764160" y="192217"/>
                  </a:lnTo>
                  <a:lnTo>
                    <a:pt x="737641" y="155196"/>
                  </a:lnTo>
                  <a:lnTo>
                    <a:pt x="707310" y="121364"/>
                  </a:lnTo>
                  <a:lnTo>
                    <a:pt x="673478" y="91033"/>
                  </a:lnTo>
                  <a:lnTo>
                    <a:pt x="636457" y="64514"/>
                  </a:lnTo>
                  <a:lnTo>
                    <a:pt x="596557" y="42119"/>
                  </a:lnTo>
                  <a:lnTo>
                    <a:pt x="554090" y="24159"/>
                  </a:lnTo>
                  <a:lnTo>
                    <a:pt x="509368" y="10944"/>
                  </a:lnTo>
                  <a:lnTo>
                    <a:pt x="462701" y="2788"/>
                  </a:lnTo>
                  <a:lnTo>
                    <a:pt x="414400" y="0"/>
                  </a:lnTo>
                  <a:close/>
                </a:path>
              </a:pathLst>
            </a:custGeom>
            <a:solidFill>
              <a:srgbClr val="1D4E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972175" y="2371724"/>
              <a:ext cx="485775" cy="419100"/>
            </a:xfrm>
            <a:custGeom>
              <a:avLst/>
              <a:gdLst/>
              <a:ahLst/>
              <a:cxnLst/>
              <a:rect l="l" t="t" r="r" b="b"/>
              <a:pathLst>
                <a:path w="485775" h="419100">
                  <a:moveTo>
                    <a:pt x="114300" y="152400"/>
                  </a:moveTo>
                  <a:lnTo>
                    <a:pt x="0" y="152400"/>
                  </a:lnTo>
                  <a:lnTo>
                    <a:pt x="0" y="419100"/>
                  </a:lnTo>
                  <a:lnTo>
                    <a:pt x="114300" y="419100"/>
                  </a:lnTo>
                  <a:lnTo>
                    <a:pt x="114300" y="152400"/>
                  </a:lnTo>
                  <a:close/>
                </a:path>
                <a:path w="485775" h="419100">
                  <a:moveTo>
                    <a:pt x="304800" y="0"/>
                  </a:moveTo>
                  <a:lnTo>
                    <a:pt x="180975" y="0"/>
                  </a:lnTo>
                  <a:lnTo>
                    <a:pt x="180975" y="419100"/>
                  </a:lnTo>
                  <a:lnTo>
                    <a:pt x="304800" y="419100"/>
                  </a:lnTo>
                  <a:lnTo>
                    <a:pt x="304800" y="0"/>
                  </a:lnTo>
                  <a:close/>
                </a:path>
                <a:path w="485775" h="419100">
                  <a:moveTo>
                    <a:pt x="485775" y="85725"/>
                  </a:moveTo>
                  <a:lnTo>
                    <a:pt x="371475" y="85725"/>
                  </a:lnTo>
                  <a:lnTo>
                    <a:pt x="371475" y="419100"/>
                  </a:lnTo>
                  <a:lnTo>
                    <a:pt x="485775" y="419100"/>
                  </a:lnTo>
                  <a:lnTo>
                    <a:pt x="485775" y="85725"/>
                  </a:lnTo>
                  <a:close/>
                </a:path>
              </a:pathLst>
            </a:custGeom>
            <a:solidFill>
              <a:srgbClr val="F164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5008245" y="3264598"/>
            <a:ext cx="228600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b="1">
                <a:solidFill>
                  <a:srgbClr val="1D4E88"/>
                </a:solidFill>
                <a:latin typeface="Times New Roman"/>
                <a:cs typeface="Times New Roman"/>
              </a:rPr>
              <a:t>No</a:t>
            </a:r>
            <a:r>
              <a:rPr dirty="0" sz="1700" spc="-75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1D4E88"/>
                </a:solidFill>
                <a:latin typeface="Times New Roman"/>
                <a:cs typeface="Times New Roman"/>
              </a:rPr>
              <a:t>Visual</a:t>
            </a:r>
            <a:r>
              <a:rPr dirty="0" sz="1700" spc="-65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1D4E88"/>
                </a:solidFill>
                <a:latin typeface="Times New Roman"/>
                <a:cs typeface="Times New Roman"/>
              </a:rPr>
              <a:t>Risk</a:t>
            </a:r>
            <a:r>
              <a:rPr dirty="0" sz="1700" spc="-85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1D4E88"/>
                </a:solidFill>
                <a:latin typeface="Times New Roman"/>
                <a:cs typeface="Times New Roman"/>
              </a:rPr>
              <a:t>Mapping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52975" y="3985704"/>
            <a:ext cx="2800350" cy="1056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 indent="-1270">
              <a:lnSpc>
                <a:spcPct val="120700"/>
              </a:lnSpc>
              <a:spcBef>
                <a:spcPts val="90"/>
              </a:spcBef>
            </a:pP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Existing</a:t>
            </a:r>
            <a:r>
              <a:rPr dirty="0" sz="1400" spc="-45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reporting</a:t>
            </a:r>
            <a:r>
              <a:rPr dirty="0" sz="1400" spc="-45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shows</a:t>
            </a:r>
            <a:r>
              <a:rPr dirty="0" sz="1400" spc="-4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raw</a:t>
            </a:r>
            <a:r>
              <a:rPr dirty="0" sz="1400" spc="-6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5B6773"/>
                </a:solidFill>
                <a:latin typeface="Times New Roman"/>
                <a:cs typeface="Times New Roman"/>
              </a:rPr>
              <a:t>numbers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and</a:t>
            </a:r>
            <a:r>
              <a:rPr dirty="0" sz="1400" spc="-4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tables,</a:t>
            </a:r>
            <a:r>
              <a:rPr dirty="0" sz="1400" spc="1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but</a:t>
            </a:r>
            <a:r>
              <a:rPr dirty="0" sz="1400" spc="-25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fails</a:t>
            </a:r>
            <a:r>
              <a:rPr dirty="0" sz="1400" spc="-3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to</a:t>
            </a:r>
            <a:r>
              <a:rPr dirty="0" sz="1400" spc="-4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visually</a:t>
            </a:r>
            <a:r>
              <a:rPr dirty="0" sz="1400" spc="-4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5B6773"/>
                </a:solidFill>
                <a:latin typeface="Times New Roman"/>
                <a:cs typeface="Times New Roman"/>
              </a:rPr>
              <a:t>map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where</a:t>
            </a:r>
            <a:r>
              <a:rPr dirty="0" sz="1400" spc="-3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malnutrition</a:t>
            </a:r>
            <a:r>
              <a:rPr dirty="0" sz="1400" spc="-35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and</a:t>
            </a:r>
            <a:r>
              <a:rPr dirty="0" sz="1400" spc="-35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food</a:t>
            </a:r>
            <a:r>
              <a:rPr dirty="0" sz="1400" spc="-35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5B6773"/>
                </a:solidFill>
                <a:latin typeface="Times New Roman"/>
                <a:cs typeface="Times New Roman"/>
              </a:rPr>
              <a:t>insecurity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are</a:t>
            </a:r>
            <a:r>
              <a:rPr dirty="0" sz="1400" spc="25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5B6773"/>
                </a:solidFill>
                <a:latin typeface="Times New Roman"/>
                <a:cs typeface="Times New Roman"/>
              </a:rPr>
              <a:t>concentrated.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115300" y="1752536"/>
            <a:ext cx="3757929" cy="4443730"/>
            <a:chOff x="8115300" y="1752536"/>
            <a:chExt cx="3757929" cy="444373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15300" y="1752536"/>
              <a:ext cx="3757676" cy="444347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234426" y="1833625"/>
              <a:ext cx="3524250" cy="4210050"/>
            </a:xfrm>
            <a:custGeom>
              <a:avLst/>
              <a:gdLst/>
              <a:ahLst/>
              <a:cxnLst/>
              <a:rect l="l" t="t" r="r" b="b"/>
              <a:pathLst>
                <a:path w="3524250" h="4210050">
                  <a:moveTo>
                    <a:pt x="3432682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4118457"/>
                  </a:lnTo>
                  <a:lnTo>
                    <a:pt x="7179" y="4154083"/>
                  </a:lnTo>
                  <a:lnTo>
                    <a:pt x="26765" y="4183176"/>
                  </a:lnTo>
                  <a:lnTo>
                    <a:pt x="55828" y="4202793"/>
                  </a:lnTo>
                  <a:lnTo>
                    <a:pt x="91440" y="4209986"/>
                  </a:lnTo>
                  <a:lnTo>
                    <a:pt x="3432682" y="4209986"/>
                  </a:lnTo>
                  <a:lnTo>
                    <a:pt x="3468314" y="4202793"/>
                  </a:lnTo>
                  <a:lnTo>
                    <a:pt x="3497421" y="4183176"/>
                  </a:lnTo>
                  <a:lnTo>
                    <a:pt x="3517050" y="4154083"/>
                  </a:lnTo>
                  <a:lnTo>
                    <a:pt x="3524250" y="4118457"/>
                  </a:lnTo>
                  <a:lnTo>
                    <a:pt x="3524250" y="91439"/>
                  </a:lnTo>
                  <a:lnTo>
                    <a:pt x="3517050" y="55828"/>
                  </a:lnTo>
                  <a:lnTo>
                    <a:pt x="3497421" y="26765"/>
                  </a:lnTo>
                  <a:lnTo>
                    <a:pt x="3468314" y="7179"/>
                  </a:lnTo>
                  <a:lnTo>
                    <a:pt x="34326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234426" y="1833625"/>
              <a:ext cx="3524250" cy="4210050"/>
            </a:xfrm>
            <a:custGeom>
              <a:avLst/>
              <a:gdLst/>
              <a:ahLst/>
              <a:cxnLst/>
              <a:rect l="l" t="t" r="r" b="b"/>
              <a:pathLst>
                <a:path w="3524250" h="421005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3432682" y="0"/>
                  </a:lnTo>
                  <a:lnTo>
                    <a:pt x="3468314" y="7179"/>
                  </a:lnTo>
                  <a:lnTo>
                    <a:pt x="3497421" y="26765"/>
                  </a:lnTo>
                  <a:lnTo>
                    <a:pt x="3517050" y="55828"/>
                  </a:lnTo>
                  <a:lnTo>
                    <a:pt x="3524250" y="91439"/>
                  </a:lnTo>
                  <a:lnTo>
                    <a:pt x="3524250" y="4118457"/>
                  </a:lnTo>
                  <a:lnTo>
                    <a:pt x="3517050" y="4154083"/>
                  </a:lnTo>
                  <a:lnTo>
                    <a:pt x="3497421" y="4183176"/>
                  </a:lnTo>
                  <a:lnTo>
                    <a:pt x="3468314" y="4202793"/>
                  </a:lnTo>
                  <a:lnTo>
                    <a:pt x="3432682" y="4209986"/>
                  </a:lnTo>
                  <a:lnTo>
                    <a:pt x="91440" y="4209986"/>
                  </a:lnTo>
                  <a:lnTo>
                    <a:pt x="55828" y="4202793"/>
                  </a:lnTo>
                  <a:lnTo>
                    <a:pt x="26765" y="4183176"/>
                  </a:lnTo>
                  <a:lnTo>
                    <a:pt x="7179" y="4154083"/>
                  </a:lnTo>
                  <a:lnTo>
                    <a:pt x="0" y="4118457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2EB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582150" y="2190749"/>
              <a:ext cx="819150" cy="828675"/>
            </a:xfrm>
            <a:custGeom>
              <a:avLst/>
              <a:gdLst/>
              <a:ahLst/>
              <a:cxnLst/>
              <a:rect l="l" t="t" r="r" b="b"/>
              <a:pathLst>
                <a:path w="819150" h="828675">
                  <a:moveTo>
                    <a:pt x="409575" y="0"/>
                  </a:moveTo>
                  <a:lnTo>
                    <a:pt x="361812" y="2788"/>
                  </a:lnTo>
                  <a:lnTo>
                    <a:pt x="315667" y="10944"/>
                  </a:lnTo>
                  <a:lnTo>
                    <a:pt x="271448" y="24159"/>
                  </a:lnTo>
                  <a:lnTo>
                    <a:pt x="229460" y="42119"/>
                  </a:lnTo>
                  <a:lnTo>
                    <a:pt x="190013" y="64514"/>
                  </a:lnTo>
                  <a:lnTo>
                    <a:pt x="153413" y="91033"/>
                  </a:lnTo>
                  <a:lnTo>
                    <a:pt x="119967" y="121364"/>
                  </a:lnTo>
                  <a:lnTo>
                    <a:pt x="89983" y="155196"/>
                  </a:lnTo>
                  <a:lnTo>
                    <a:pt x="63769" y="192217"/>
                  </a:lnTo>
                  <a:lnTo>
                    <a:pt x="41632" y="232117"/>
                  </a:lnTo>
                  <a:lnTo>
                    <a:pt x="23879" y="274584"/>
                  </a:lnTo>
                  <a:lnTo>
                    <a:pt x="10817" y="319306"/>
                  </a:lnTo>
                  <a:lnTo>
                    <a:pt x="2755" y="365973"/>
                  </a:lnTo>
                  <a:lnTo>
                    <a:pt x="0" y="414274"/>
                  </a:lnTo>
                  <a:lnTo>
                    <a:pt x="2755" y="462599"/>
                  </a:lnTo>
                  <a:lnTo>
                    <a:pt x="10817" y="509288"/>
                  </a:lnTo>
                  <a:lnTo>
                    <a:pt x="23879" y="554029"/>
                  </a:lnTo>
                  <a:lnTo>
                    <a:pt x="41632" y="596511"/>
                  </a:lnTo>
                  <a:lnTo>
                    <a:pt x="63769" y="636423"/>
                  </a:lnTo>
                  <a:lnTo>
                    <a:pt x="89983" y="673455"/>
                  </a:lnTo>
                  <a:lnTo>
                    <a:pt x="119967" y="707294"/>
                  </a:lnTo>
                  <a:lnTo>
                    <a:pt x="153413" y="737631"/>
                  </a:lnTo>
                  <a:lnTo>
                    <a:pt x="190013" y="764154"/>
                  </a:lnTo>
                  <a:lnTo>
                    <a:pt x="229460" y="786552"/>
                  </a:lnTo>
                  <a:lnTo>
                    <a:pt x="271448" y="804514"/>
                  </a:lnTo>
                  <a:lnTo>
                    <a:pt x="315667" y="817729"/>
                  </a:lnTo>
                  <a:lnTo>
                    <a:pt x="361812" y="825886"/>
                  </a:lnTo>
                  <a:lnTo>
                    <a:pt x="409575" y="828675"/>
                  </a:lnTo>
                  <a:lnTo>
                    <a:pt x="457337" y="825886"/>
                  </a:lnTo>
                  <a:lnTo>
                    <a:pt x="503482" y="817729"/>
                  </a:lnTo>
                  <a:lnTo>
                    <a:pt x="547701" y="804514"/>
                  </a:lnTo>
                  <a:lnTo>
                    <a:pt x="589689" y="786552"/>
                  </a:lnTo>
                  <a:lnTo>
                    <a:pt x="629136" y="764154"/>
                  </a:lnTo>
                  <a:lnTo>
                    <a:pt x="665736" y="737631"/>
                  </a:lnTo>
                  <a:lnTo>
                    <a:pt x="699182" y="707294"/>
                  </a:lnTo>
                  <a:lnTo>
                    <a:pt x="729166" y="673455"/>
                  </a:lnTo>
                  <a:lnTo>
                    <a:pt x="755380" y="636423"/>
                  </a:lnTo>
                  <a:lnTo>
                    <a:pt x="777517" y="596511"/>
                  </a:lnTo>
                  <a:lnTo>
                    <a:pt x="795270" y="554029"/>
                  </a:lnTo>
                  <a:lnTo>
                    <a:pt x="808332" y="509288"/>
                  </a:lnTo>
                  <a:lnTo>
                    <a:pt x="816394" y="462599"/>
                  </a:lnTo>
                  <a:lnTo>
                    <a:pt x="819150" y="414274"/>
                  </a:lnTo>
                  <a:lnTo>
                    <a:pt x="816394" y="365973"/>
                  </a:lnTo>
                  <a:lnTo>
                    <a:pt x="808332" y="319306"/>
                  </a:lnTo>
                  <a:lnTo>
                    <a:pt x="795270" y="274584"/>
                  </a:lnTo>
                  <a:lnTo>
                    <a:pt x="777517" y="232117"/>
                  </a:lnTo>
                  <a:lnTo>
                    <a:pt x="755380" y="192217"/>
                  </a:lnTo>
                  <a:lnTo>
                    <a:pt x="729166" y="155196"/>
                  </a:lnTo>
                  <a:lnTo>
                    <a:pt x="699182" y="121364"/>
                  </a:lnTo>
                  <a:lnTo>
                    <a:pt x="665736" y="91033"/>
                  </a:lnTo>
                  <a:lnTo>
                    <a:pt x="629136" y="64514"/>
                  </a:lnTo>
                  <a:lnTo>
                    <a:pt x="589689" y="42119"/>
                  </a:lnTo>
                  <a:lnTo>
                    <a:pt x="547701" y="24159"/>
                  </a:lnTo>
                  <a:lnTo>
                    <a:pt x="503482" y="10944"/>
                  </a:lnTo>
                  <a:lnTo>
                    <a:pt x="457337" y="2788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1D4E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729850" y="2376550"/>
              <a:ext cx="523875" cy="243204"/>
            </a:xfrm>
            <a:custGeom>
              <a:avLst/>
              <a:gdLst/>
              <a:ahLst/>
              <a:cxnLst/>
              <a:rect l="l" t="t" r="r" b="b"/>
              <a:pathLst>
                <a:path w="523875" h="243205">
                  <a:moveTo>
                    <a:pt x="0" y="242824"/>
                  </a:moveTo>
                  <a:lnTo>
                    <a:pt x="4218" y="199175"/>
                  </a:lnTo>
                  <a:lnTo>
                    <a:pt x="16380" y="158093"/>
                  </a:lnTo>
                  <a:lnTo>
                    <a:pt x="35748" y="120264"/>
                  </a:lnTo>
                  <a:lnTo>
                    <a:pt x="61581" y="86373"/>
                  </a:lnTo>
                  <a:lnTo>
                    <a:pt x="93142" y="57107"/>
                  </a:lnTo>
                  <a:lnTo>
                    <a:pt x="129690" y="33151"/>
                  </a:lnTo>
                  <a:lnTo>
                    <a:pt x="170488" y="15191"/>
                  </a:lnTo>
                  <a:lnTo>
                    <a:pt x="214795" y="3912"/>
                  </a:lnTo>
                  <a:lnTo>
                    <a:pt x="261874" y="0"/>
                  </a:lnTo>
                  <a:lnTo>
                    <a:pt x="308956" y="3912"/>
                  </a:lnTo>
                  <a:lnTo>
                    <a:pt x="353276" y="15191"/>
                  </a:lnTo>
                  <a:lnTo>
                    <a:pt x="394090" y="33151"/>
                  </a:lnTo>
                  <a:lnTo>
                    <a:pt x="430658" y="57107"/>
                  </a:lnTo>
                  <a:lnTo>
                    <a:pt x="462240" y="86373"/>
                  </a:lnTo>
                  <a:lnTo>
                    <a:pt x="488093" y="120264"/>
                  </a:lnTo>
                  <a:lnTo>
                    <a:pt x="507478" y="158093"/>
                  </a:lnTo>
                  <a:lnTo>
                    <a:pt x="519652" y="199175"/>
                  </a:lnTo>
                  <a:lnTo>
                    <a:pt x="523875" y="242824"/>
                  </a:lnTo>
                </a:path>
              </a:pathLst>
            </a:custGeom>
            <a:ln w="31750">
              <a:solidFill>
                <a:srgbClr val="F1642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729850" y="2709925"/>
              <a:ext cx="523875" cy="0"/>
            </a:xfrm>
            <a:custGeom>
              <a:avLst/>
              <a:gdLst/>
              <a:ahLst/>
              <a:cxnLst/>
              <a:rect l="l" t="t" r="r" b="b"/>
              <a:pathLst>
                <a:path w="523875" h="0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ln w="25400">
              <a:solidFill>
                <a:srgbClr val="F1642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8679180" y="3264598"/>
            <a:ext cx="263906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b="1">
                <a:solidFill>
                  <a:srgbClr val="1D4E88"/>
                </a:solidFill>
                <a:latin typeface="Times New Roman"/>
                <a:cs typeface="Times New Roman"/>
              </a:rPr>
              <a:t>Unclear</a:t>
            </a:r>
            <a:r>
              <a:rPr dirty="0" sz="1700" spc="-105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700" b="1">
                <a:solidFill>
                  <a:srgbClr val="1D4E88"/>
                </a:solidFill>
                <a:latin typeface="Times New Roman"/>
                <a:cs typeface="Times New Roman"/>
              </a:rPr>
              <a:t>Estimate</a:t>
            </a:r>
            <a:r>
              <a:rPr dirty="0" sz="1700" spc="-35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1D4E88"/>
                </a:solidFill>
                <a:latin typeface="Times New Roman"/>
                <a:cs typeface="Times New Roman"/>
              </a:rPr>
              <a:t>Reliability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694541" y="6471750"/>
            <a:ext cx="159385" cy="16256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50" spc="-25">
                <a:solidFill>
                  <a:srgbClr val="5B6773"/>
                </a:solidFill>
                <a:latin typeface="Times New Roman"/>
                <a:cs typeface="Times New Roman"/>
              </a:rPr>
              <a:t>03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37651" y="3985704"/>
            <a:ext cx="2722245" cy="1056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 indent="5080">
              <a:lnSpc>
                <a:spcPct val="120700"/>
              </a:lnSpc>
              <a:spcBef>
                <a:spcPts val="90"/>
              </a:spcBef>
            </a:pP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Prevalence</a:t>
            </a:r>
            <a:r>
              <a:rPr dirty="0" sz="1400" spc="-2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figures</a:t>
            </a:r>
            <a:r>
              <a:rPr dirty="0" sz="1400" spc="-15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are</a:t>
            </a:r>
            <a:r>
              <a:rPr dirty="0" sz="1400" spc="-2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5B6773"/>
                </a:solidFill>
                <a:latin typeface="Times New Roman"/>
                <a:cs typeface="Times New Roman"/>
              </a:rPr>
              <a:t>published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without</a:t>
            </a:r>
            <a:r>
              <a:rPr dirty="0" sz="1400" spc="-25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5B6773"/>
                </a:solidFill>
                <a:latin typeface="Times New Roman"/>
                <a:cs typeface="Times New Roman"/>
              </a:rPr>
              <a:t>confidence</a:t>
            </a:r>
            <a:r>
              <a:rPr dirty="0" sz="1400" spc="-35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bounds,</a:t>
            </a:r>
            <a:r>
              <a:rPr dirty="0" sz="1400" spc="15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5B6773"/>
                </a:solidFill>
                <a:latin typeface="Times New Roman"/>
                <a:cs typeface="Times New Roman"/>
              </a:rPr>
              <a:t>making</a:t>
            </a:r>
            <a:r>
              <a:rPr dirty="0" sz="1400" spc="-4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5B6773"/>
                </a:solidFill>
                <a:latin typeface="Times New Roman"/>
                <a:cs typeface="Times New Roman"/>
              </a:rPr>
              <a:t>it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hard</a:t>
            </a:r>
            <a:r>
              <a:rPr dirty="0" sz="1400" spc="-4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for</a:t>
            </a:r>
            <a:r>
              <a:rPr dirty="0" sz="1400" spc="-25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policymakers</a:t>
            </a:r>
            <a:r>
              <a:rPr dirty="0" sz="1400" spc="-3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to</a:t>
            </a:r>
            <a:r>
              <a:rPr dirty="0" sz="1400" spc="-35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judge</a:t>
            </a:r>
            <a:r>
              <a:rPr dirty="0" sz="1400" spc="-3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5B6773"/>
                </a:solidFill>
                <a:latin typeface="Times New Roman"/>
                <a:cs typeface="Times New Roman"/>
              </a:rPr>
              <a:t>how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reliable</a:t>
            </a:r>
            <a:r>
              <a:rPr dirty="0" sz="1400" spc="-1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each</a:t>
            </a:r>
            <a:r>
              <a:rPr dirty="0" sz="1400" spc="-15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5B6773"/>
                </a:solidFill>
                <a:latin typeface="Times New Roman"/>
                <a:cs typeface="Times New Roman"/>
              </a:rPr>
              <a:t>estimate</a:t>
            </a:r>
            <a:r>
              <a:rPr dirty="0" sz="1400" spc="-10">
                <a:solidFill>
                  <a:srgbClr val="5B6773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5B6773"/>
                </a:solidFill>
                <a:latin typeface="Times New Roman"/>
                <a:cs typeface="Times New Roman"/>
              </a:rPr>
              <a:t>is.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OBJECTIVES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50862" y="1779651"/>
            <a:ext cx="5356860" cy="1317625"/>
            <a:chOff x="550862" y="1779651"/>
            <a:chExt cx="5356860" cy="1317625"/>
          </a:xfrm>
        </p:grpSpPr>
        <p:sp>
          <p:nvSpPr>
            <p:cNvPr id="4" name="object 4"/>
            <p:cNvSpPr/>
            <p:nvPr/>
          </p:nvSpPr>
          <p:spPr>
            <a:xfrm>
              <a:off x="557212" y="1786001"/>
              <a:ext cx="5344160" cy="1304925"/>
            </a:xfrm>
            <a:custGeom>
              <a:avLst/>
              <a:gdLst/>
              <a:ahLst/>
              <a:cxnLst/>
              <a:rect l="l" t="t" r="r" b="b"/>
              <a:pathLst>
                <a:path w="5344160" h="1304925">
                  <a:moveTo>
                    <a:pt x="5251640" y="0"/>
                  </a:moveTo>
                  <a:lnTo>
                    <a:pt x="91897" y="0"/>
                  </a:lnTo>
                  <a:lnTo>
                    <a:pt x="56128" y="7203"/>
                  </a:lnTo>
                  <a:lnTo>
                    <a:pt x="26917" y="26860"/>
                  </a:lnTo>
                  <a:lnTo>
                    <a:pt x="7222" y="56042"/>
                  </a:lnTo>
                  <a:lnTo>
                    <a:pt x="0" y="91821"/>
                  </a:lnTo>
                  <a:lnTo>
                    <a:pt x="0" y="1212977"/>
                  </a:lnTo>
                  <a:lnTo>
                    <a:pt x="7222" y="1248775"/>
                  </a:lnTo>
                  <a:lnTo>
                    <a:pt x="26917" y="1278001"/>
                  </a:lnTo>
                  <a:lnTo>
                    <a:pt x="56128" y="1297701"/>
                  </a:lnTo>
                  <a:lnTo>
                    <a:pt x="91897" y="1304925"/>
                  </a:lnTo>
                  <a:lnTo>
                    <a:pt x="5251640" y="1304925"/>
                  </a:lnTo>
                  <a:lnTo>
                    <a:pt x="5287438" y="1297701"/>
                  </a:lnTo>
                  <a:lnTo>
                    <a:pt x="5316664" y="1278001"/>
                  </a:lnTo>
                  <a:lnTo>
                    <a:pt x="5336365" y="1248775"/>
                  </a:lnTo>
                  <a:lnTo>
                    <a:pt x="5343588" y="1212977"/>
                  </a:lnTo>
                  <a:lnTo>
                    <a:pt x="5343588" y="91821"/>
                  </a:lnTo>
                  <a:lnTo>
                    <a:pt x="5336365" y="56042"/>
                  </a:lnTo>
                  <a:lnTo>
                    <a:pt x="5316664" y="26860"/>
                  </a:lnTo>
                  <a:lnTo>
                    <a:pt x="5287438" y="7203"/>
                  </a:lnTo>
                  <a:lnTo>
                    <a:pt x="5251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57212" y="1786001"/>
              <a:ext cx="5344160" cy="1304925"/>
            </a:xfrm>
            <a:custGeom>
              <a:avLst/>
              <a:gdLst/>
              <a:ahLst/>
              <a:cxnLst/>
              <a:rect l="l" t="t" r="r" b="b"/>
              <a:pathLst>
                <a:path w="5344160" h="1304925">
                  <a:moveTo>
                    <a:pt x="0" y="91821"/>
                  </a:moveTo>
                  <a:lnTo>
                    <a:pt x="7222" y="56042"/>
                  </a:lnTo>
                  <a:lnTo>
                    <a:pt x="26917" y="26860"/>
                  </a:lnTo>
                  <a:lnTo>
                    <a:pt x="56128" y="7203"/>
                  </a:lnTo>
                  <a:lnTo>
                    <a:pt x="91897" y="0"/>
                  </a:lnTo>
                  <a:lnTo>
                    <a:pt x="5251640" y="0"/>
                  </a:lnTo>
                  <a:lnTo>
                    <a:pt x="5287438" y="7203"/>
                  </a:lnTo>
                  <a:lnTo>
                    <a:pt x="5316664" y="26860"/>
                  </a:lnTo>
                  <a:lnTo>
                    <a:pt x="5336365" y="56042"/>
                  </a:lnTo>
                  <a:lnTo>
                    <a:pt x="5343588" y="91821"/>
                  </a:lnTo>
                  <a:lnTo>
                    <a:pt x="5343588" y="1212977"/>
                  </a:lnTo>
                  <a:lnTo>
                    <a:pt x="5336365" y="1248775"/>
                  </a:lnTo>
                  <a:lnTo>
                    <a:pt x="5316664" y="1278001"/>
                  </a:lnTo>
                  <a:lnTo>
                    <a:pt x="5287438" y="1297701"/>
                  </a:lnTo>
                  <a:lnTo>
                    <a:pt x="5251640" y="1304925"/>
                  </a:lnTo>
                  <a:lnTo>
                    <a:pt x="91897" y="1304925"/>
                  </a:lnTo>
                  <a:lnTo>
                    <a:pt x="56128" y="1297701"/>
                  </a:lnTo>
                  <a:lnTo>
                    <a:pt x="26917" y="1278001"/>
                  </a:lnTo>
                  <a:lnTo>
                    <a:pt x="7222" y="1248775"/>
                  </a:lnTo>
                  <a:lnTo>
                    <a:pt x="0" y="1212977"/>
                  </a:lnTo>
                  <a:lnTo>
                    <a:pt x="0" y="91821"/>
                  </a:lnTo>
                  <a:close/>
                </a:path>
              </a:pathLst>
            </a:custGeom>
            <a:ln w="12700">
              <a:solidFill>
                <a:srgbClr val="E2EB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00100" y="2124075"/>
              <a:ext cx="628650" cy="619125"/>
            </a:xfrm>
            <a:custGeom>
              <a:avLst/>
              <a:gdLst/>
              <a:ahLst/>
              <a:cxnLst/>
              <a:rect l="l" t="t" r="r" b="b"/>
              <a:pathLst>
                <a:path w="628650" h="619125">
                  <a:moveTo>
                    <a:pt x="314325" y="0"/>
                  </a:moveTo>
                  <a:lnTo>
                    <a:pt x="267876" y="3355"/>
                  </a:lnTo>
                  <a:lnTo>
                    <a:pt x="223544" y="13103"/>
                  </a:lnTo>
                  <a:lnTo>
                    <a:pt x="181813" y="28763"/>
                  </a:lnTo>
                  <a:lnTo>
                    <a:pt x="143172" y="49859"/>
                  </a:lnTo>
                  <a:lnTo>
                    <a:pt x="108104" y="75911"/>
                  </a:lnTo>
                  <a:lnTo>
                    <a:pt x="77098" y="106440"/>
                  </a:lnTo>
                  <a:lnTo>
                    <a:pt x="50639" y="140968"/>
                  </a:lnTo>
                  <a:lnTo>
                    <a:pt x="29214" y="179017"/>
                  </a:lnTo>
                  <a:lnTo>
                    <a:pt x="13308" y="220107"/>
                  </a:lnTo>
                  <a:lnTo>
                    <a:pt x="3408" y="263761"/>
                  </a:lnTo>
                  <a:lnTo>
                    <a:pt x="0" y="309499"/>
                  </a:lnTo>
                  <a:lnTo>
                    <a:pt x="3408" y="355268"/>
                  </a:lnTo>
                  <a:lnTo>
                    <a:pt x="13308" y="398947"/>
                  </a:lnTo>
                  <a:lnTo>
                    <a:pt x="29214" y="440058"/>
                  </a:lnTo>
                  <a:lnTo>
                    <a:pt x="50639" y="478123"/>
                  </a:lnTo>
                  <a:lnTo>
                    <a:pt x="77098" y="512663"/>
                  </a:lnTo>
                  <a:lnTo>
                    <a:pt x="108104" y="543201"/>
                  </a:lnTo>
                  <a:lnTo>
                    <a:pt x="143172" y="569259"/>
                  </a:lnTo>
                  <a:lnTo>
                    <a:pt x="181813" y="590358"/>
                  </a:lnTo>
                  <a:lnTo>
                    <a:pt x="223544" y="606021"/>
                  </a:lnTo>
                  <a:lnTo>
                    <a:pt x="267876" y="615769"/>
                  </a:lnTo>
                  <a:lnTo>
                    <a:pt x="314325" y="619125"/>
                  </a:lnTo>
                  <a:lnTo>
                    <a:pt x="360776" y="615769"/>
                  </a:lnTo>
                  <a:lnTo>
                    <a:pt x="405110" y="606021"/>
                  </a:lnTo>
                  <a:lnTo>
                    <a:pt x="446841" y="590358"/>
                  </a:lnTo>
                  <a:lnTo>
                    <a:pt x="485483" y="569259"/>
                  </a:lnTo>
                  <a:lnTo>
                    <a:pt x="520550" y="543201"/>
                  </a:lnTo>
                  <a:lnTo>
                    <a:pt x="551555" y="512663"/>
                  </a:lnTo>
                  <a:lnTo>
                    <a:pt x="578013" y="478123"/>
                  </a:lnTo>
                  <a:lnTo>
                    <a:pt x="599437" y="440058"/>
                  </a:lnTo>
                  <a:lnTo>
                    <a:pt x="615342" y="398947"/>
                  </a:lnTo>
                  <a:lnTo>
                    <a:pt x="625242" y="355268"/>
                  </a:lnTo>
                  <a:lnTo>
                    <a:pt x="628650" y="309499"/>
                  </a:lnTo>
                  <a:lnTo>
                    <a:pt x="625242" y="263761"/>
                  </a:lnTo>
                  <a:lnTo>
                    <a:pt x="615342" y="220107"/>
                  </a:lnTo>
                  <a:lnTo>
                    <a:pt x="599437" y="179017"/>
                  </a:lnTo>
                  <a:lnTo>
                    <a:pt x="578013" y="140968"/>
                  </a:lnTo>
                  <a:lnTo>
                    <a:pt x="551555" y="106440"/>
                  </a:lnTo>
                  <a:lnTo>
                    <a:pt x="520550" y="75911"/>
                  </a:lnTo>
                  <a:lnTo>
                    <a:pt x="485483" y="49859"/>
                  </a:lnTo>
                  <a:lnTo>
                    <a:pt x="446841" y="28763"/>
                  </a:lnTo>
                  <a:lnTo>
                    <a:pt x="405110" y="13103"/>
                  </a:lnTo>
                  <a:lnTo>
                    <a:pt x="360776" y="3355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1D4E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40130" y="2251392"/>
            <a:ext cx="15430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0210" y="2145347"/>
            <a:ext cx="3699510" cy="541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2700"/>
              </a:lnSpc>
              <a:spcBef>
                <a:spcPts val="95"/>
              </a:spcBef>
            </a:pP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Preprocess</a:t>
            </a:r>
            <a:r>
              <a:rPr dirty="0" sz="1500" spc="-3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and</a:t>
            </a:r>
            <a:r>
              <a:rPr dirty="0" sz="1500" spc="-4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validate</a:t>
            </a:r>
            <a:r>
              <a:rPr dirty="0" sz="1500" spc="-3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national</a:t>
            </a:r>
            <a:r>
              <a:rPr dirty="0" sz="15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1B2733"/>
                </a:solidFill>
                <a:latin typeface="Times New Roman"/>
                <a:cs typeface="Times New Roman"/>
              </a:rPr>
              <a:t>nutrition/health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survey</a:t>
            </a:r>
            <a:r>
              <a:rPr dirty="0" sz="1500" spc="-2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data</a:t>
            </a:r>
            <a:r>
              <a:rPr dirty="0" sz="1500" spc="-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at</a:t>
            </a:r>
            <a:r>
              <a:rPr dirty="0" sz="1500" spc="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district</a:t>
            </a:r>
            <a:r>
              <a:rPr dirty="0" sz="1500" spc="-6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 spc="-20">
                <a:solidFill>
                  <a:srgbClr val="1B2733"/>
                </a:solidFill>
                <a:latin typeface="Times New Roman"/>
                <a:cs typeface="Times New Roman"/>
              </a:rPr>
              <a:t>level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65926" y="1779651"/>
            <a:ext cx="5356225" cy="1317625"/>
            <a:chOff x="6265926" y="1779651"/>
            <a:chExt cx="5356225" cy="1317625"/>
          </a:xfrm>
        </p:grpSpPr>
        <p:sp>
          <p:nvSpPr>
            <p:cNvPr id="10" name="object 10"/>
            <p:cNvSpPr/>
            <p:nvPr/>
          </p:nvSpPr>
          <p:spPr>
            <a:xfrm>
              <a:off x="6272276" y="1786001"/>
              <a:ext cx="5343525" cy="1304925"/>
            </a:xfrm>
            <a:custGeom>
              <a:avLst/>
              <a:gdLst/>
              <a:ahLst/>
              <a:cxnLst/>
              <a:rect l="l" t="t" r="r" b="b"/>
              <a:pathLst>
                <a:path w="5343525" h="1304925">
                  <a:moveTo>
                    <a:pt x="5251577" y="0"/>
                  </a:moveTo>
                  <a:lnTo>
                    <a:pt x="91821" y="0"/>
                  </a:lnTo>
                  <a:lnTo>
                    <a:pt x="56042" y="7203"/>
                  </a:lnTo>
                  <a:lnTo>
                    <a:pt x="26860" y="26860"/>
                  </a:lnTo>
                  <a:lnTo>
                    <a:pt x="7203" y="56042"/>
                  </a:lnTo>
                  <a:lnTo>
                    <a:pt x="0" y="91821"/>
                  </a:lnTo>
                  <a:lnTo>
                    <a:pt x="0" y="1212977"/>
                  </a:lnTo>
                  <a:lnTo>
                    <a:pt x="7203" y="1248775"/>
                  </a:lnTo>
                  <a:lnTo>
                    <a:pt x="26860" y="1278001"/>
                  </a:lnTo>
                  <a:lnTo>
                    <a:pt x="56042" y="1297701"/>
                  </a:lnTo>
                  <a:lnTo>
                    <a:pt x="91821" y="1304925"/>
                  </a:lnTo>
                  <a:lnTo>
                    <a:pt x="5251577" y="1304925"/>
                  </a:lnTo>
                  <a:lnTo>
                    <a:pt x="5287375" y="1297701"/>
                  </a:lnTo>
                  <a:lnTo>
                    <a:pt x="5316601" y="1278001"/>
                  </a:lnTo>
                  <a:lnTo>
                    <a:pt x="5336301" y="1248775"/>
                  </a:lnTo>
                  <a:lnTo>
                    <a:pt x="5343525" y="1212977"/>
                  </a:lnTo>
                  <a:lnTo>
                    <a:pt x="5343525" y="91821"/>
                  </a:lnTo>
                  <a:lnTo>
                    <a:pt x="5336301" y="56042"/>
                  </a:lnTo>
                  <a:lnTo>
                    <a:pt x="5316601" y="26860"/>
                  </a:lnTo>
                  <a:lnTo>
                    <a:pt x="5287375" y="7203"/>
                  </a:lnTo>
                  <a:lnTo>
                    <a:pt x="52515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272276" y="1786001"/>
              <a:ext cx="5343525" cy="1304925"/>
            </a:xfrm>
            <a:custGeom>
              <a:avLst/>
              <a:gdLst/>
              <a:ahLst/>
              <a:cxnLst/>
              <a:rect l="l" t="t" r="r" b="b"/>
              <a:pathLst>
                <a:path w="5343525" h="1304925">
                  <a:moveTo>
                    <a:pt x="0" y="91821"/>
                  </a:moveTo>
                  <a:lnTo>
                    <a:pt x="7203" y="56042"/>
                  </a:lnTo>
                  <a:lnTo>
                    <a:pt x="26860" y="26860"/>
                  </a:lnTo>
                  <a:lnTo>
                    <a:pt x="56042" y="7203"/>
                  </a:lnTo>
                  <a:lnTo>
                    <a:pt x="91821" y="0"/>
                  </a:lnTo>
                  <a:lnTo>
                    <a:pt x="5251577" y="0"/>
                  </a:lnTo>
                  <a:lnTo>
                    <a:pt x="5287375" y="7203"/>
                  </a:lnTo>
                  <a:lnTo>
                    <a:pt x="5316601" y="26860"/>
                  </a:lnTo>
                  <a:lnTo>
                    <a:pt x="5336301" y="56042"/>
                  </a:lnTo>
                  <a:lnTo>
                    <a:pt x="5343525" y="91821"/>
                  </a:lnTo>
                  <a:lnTo>
                    <a:pt x="5343525" y="1212977"/>
                  </a:lnTo>
                  <a:lnTo>
                    <a:pt x="5336301" y="1248775"/>
                  </a:lnTo>
                  <a:lnTo>
                    <a:pt x="5316601" y="1278001"/>
                  </a:lnTo>
                  <a:lnTo>
                    <a:pt x="5287375" y="1297701"/>
                  </a:lnTo>
                  <a:lnTo>
                    <a:pt x="5251577" y="1304925"/>
                  </a:lnTo>
                  <a:lnTo>
                    <a:pt x="91821" y="1304925"/>
                  </a:lnTo>
                  <a:lnTo>
                    <a:pt x="56042" y="1297701"/>
                  </a:lnTo>
                  <a:lnTo>
                    <a:pt x="26860" y="1278001"/>
                  </a:lnTo>
                  <a:lnTo>
                    <a:pt x="7203" y="1248775"/>
                  </a:lnTo>
                  <a:lnTo>
                    <a:pt x="0" y="1212977"/>
                  </a:lnTo>
                  <a:lnTo>
                    <a:pt x="0" y="91821"/>
                  </a:lnTo>
                  <a:close/>
                </a:path>
              </a:pathLst>
            </a:custGeom>
            <a:ln w="12700">
              <a:solidFill>
                <a:srgbClr val="E2EB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515100" y="2124075"/>
              <a:ext cx="628650" cy="619125"/>
            </a:xfrm>
            <a:custGeom>
              <a:avLst/>
              <a:gdLst/>
              <a:ahLst/>
              <a:cxnLst/>
              <a:rect l="l" t="t" r="r" b="b"/>
              <a:pathLst>
                <a:path w="628650" h="619125">
                  <a:moveTo>
                    <a:pt x="314325" y="0"/>
                  </a:moveTo>
                  <a:lnTo>
                    <a:pt x="267873" y="3355"/>
                  </a:lnTo>
                  <a:lnTo>
                    <a:pt x="223539" y="13103"/>
                  </a:lnTo>
                  <a:lnTo>
                    <a:pt x="181808" y="28763"/>
                  </a:lnTo>
                  <a:lnTo>
                    <a:pt x="143166" y="49859"/>
                  </a:lnTo>
                  <a:lnTo>
                    <a:pt x="108099" y="75911"/>
                  </a:lnTo>
                  <a:lnTo>
                    <a:pt x="77094" y="106440"/>
                  </a:lnTo>
                  <a:lnTo>
                    <a:pt x="50636" y="140968"/>
                  </a:lnTo>
                  <a:lnTo>
                    <a:pt x="29212" y="179017"/>
                  </a:lnTo>
                  <a:lnTo>
                    <a:pt x="13307" y="220107"/>
                  </a:lnTo>
                  <a:lnTo>
                    <a:pt x="3407" y="263761"/>
                  </a:lnTo>
                  <a:lnTo>
                    <a:pt x="0" y="309499"/>
                  </a:lnTo>
                  <a:lnTo>
                    <a:pt x="3407" y="355268"/>
                  </a:lnTo>
                  <a:lnTo>
                    <a:pt x="13307" y="398947"/>
                  </a:lnTo>
                  <a:lnTo>
                    <a:pt x="29212" y="440058"/>
                  </a:lnTo>
                  <a:lnTo>
                    <a:pt x="50636" y="478123"/>
                  </a:lnTo>
                  <a:lnTo>
                    <a:pt x="77094" y="512663"/>
                  </a:lnTo>
                  <a:lnTo>
                    <a:pt x="108099" y="543201"/>
                  </a:lnTo>
                  <a:lnTo>
                    <a:pt x="143166" y="569259"/>
                  </a:lnTo>
                  <a:lnTo>
                    <a:pt x="181808" y="590358"/>
                  </a:lnTo>
                  <a:lnTo>
                    <a:pt x="223539" y="606021"/>
                  </a:lnTo>
                  <a:lnTo>
                    <a:pt x="267873" y="615769"/>
                  </a:lnTo>
                  <a:lnTo>
                    <a:pt x="314325" y="619125"/>
                  </a:lnTo>
                  <a:lnTo>
                    <a:pt x="360776" y="615769"/>
                  </a:lnTo>
                  <a:lnTo>
                    <a:pt x="405110" y="606021"/>
                  </a:lnTo>
                  <a:lnTo>
                    <a:pt x="446841" y="590358"/>
                  </a:lnTo>
                  <a:lnTo>
                    <a:pt x="485483" y="569259"/>
                  </a:lnTo>
                  <a:lnTo>
                    <a:pt x="520550" y="543201"/>
                  </a:lnTo>
                  <a:lnTo>
                    <a:pt x="551555" y="512663"/>
                  </a:lnTo>
                  <a:lnTo>
                    <a:pt x="578013" y="478123"/>
                  </a:lnTo>
                  <a:lnTo>
                    <a:pt x="599437" y="440058"/>
                  </a:lnTo>
                  <a:lnTo>
                    <a:pt x="615342" y="398947"/>
                  </a:lnTo>
                  <a:lnTo>
                    <a:pt x="625242" y="355268"/>
                  </a:lnTo>
                  <a:lnTo>
                    <a:pt x="628650" y="309499"/>
                  </a:lnTo>
                  <a:lnTo>
                    <a:pt x="625242" y="263761"/>
                  </a:lnTo>
                  <a:lnTo>
                    <a:pt x="615342" y="220107"/>
                  </a:lnTo>
                  <a:lnTo>
                    <a:pt x="599437" y="179017"/>
                  </a:lnTo>
                  <a:lnTo>
                    <a:pt x="578013" y="140968"/>
                  </a:lnTo>
                  <a:lnTo>
                    <a:pt x="551555" y="106440"/>
                  </a:lnTo>
                  <a:lnTo>
                    <a:pt x="520550" y="75911"/>
                  </a:lnTo>
                  <a:lnTo>
                    <a:pt x="485483" y="49859"/>
                  </a:lnTo>
                  <a:lnTo>
                    <a:pt x="446841" y="28763"/>
                  </a:lnTo>
                  <a:lnTo>
                    <a:pt x="405110" y="13103"/>
                  </a:lnTo>
                  <a:lnTo>
                    <a:pt x="360776" y="3355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5FA7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759575" y="2251392"/>
            <a:ext cx="15430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99655" y="2145347"/>
            <a:ext cx="3685540" cy="541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2700"/>
              </a:lnSpc>
              <a:spcBef>
                <a:spcPts val="95"/>
              </a:spcBef>
            </a:pP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Map</a:t>
            </a:r>
            <a:r>
              <a:rPr dirty="0" sz="1500" spc="-10">
                <a:solidFill>
                  <a:srgbClr val="1B2733"/>
                </a:solidFill>
                <a:latin typeface="Times New Roman"/>
                <a:cs typeface="Times New Roman"/>
              </a:rPr>
              <a:t> district-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wise malnutrition</a:t>
            </a:r>
            <a:r>
              <a:rPr dirty="0" sz="1500" spc="-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prevalence </a:t>
            </a:r>
            <a:r>
              <a:rPr dirty="0" sz="1500" spc="-10">
                <a:solidFill>
                  <a:srgbClr val="1B2733"/>
                </a:solidFill>
                <a:latin typeface="Times New Roman"/>
                <a:cs typeface="Times New Roman"/>
              </a:rPr>
              <a:t>using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choropleth</a:t>
            </a:r>
            <a:r>
              <a:rPr dirty="0" sz="1500" spc="-6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1B2733"/>
                </a:solidFill>
                <a:latin typeface="Times New Roman"/>
                <a:cs typeface="Times New Roman"/>
              </a:rPr>
              <a:t>visualization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50862" y="3332226"/>
            <a:ext cx="5356860" cy="1317625"/>
            <a:chOff x="550862" y="3332226"/>
            <a:chExt cx="5356860" cy="1317625"/>
          </a:xfrm>
        </p:grpSpPr>
        <p:sp>
          <p:nvSpPr>
            <p:cNvPr id="16" name="object 16"/>
            <p:cNvSpPr/>
            <p:nvPr/>
          </p:nvSpPr>
          <p:spPr>
            <a:xfrm>
              <a:off x="557212" y="3338576"/>
              <a:ext cx="5344160" cy="1304925"/>
            </a:xfrm>
            <a:custGeom>
              <a:avLst/>
              <a:gdLst/>
              <a:ahLst/>
              <a:cxnLst/>
              <a:rect l="l" t="t" r="r" b="b"/>
              <a:pathLst>
                <a:path w="5344160" h="1304925">
                  <a:moveTo>
                    <a:pt x="5251640" y="0"/>
                  </a:moveTo>
                  <a:lnTo>
                    <a:pt x="91897" y="0"/>
                  </a:lnTo>
                  <a:lnTo>
                    <a:pt x="56128" y="7203"/>
                  </a:lnTo>
                  <a:lnTo>
                    <a:pt x="26917" y="26860"/>
                  </a:lnTo>
                  <a:lnTo>
                    <a:pt x="7222" y="56042"/>
                  </a:lnTo>
                  <a:lnTo>
                    <a:pt x="0" y="91821"/>
                  </a:lnTo>
                  <a:lnTo>
                    <a:pt x="0" y="1212977"/>
                  </a:lnTo>
                  <a:lnTo>
                    <a:pt x="7222" y="1248775"/>
                  </a:lnTo>
                  <a:lnTo>
                    <a:pt x="26917" y="1278001"/>
                  </a:lnTo>
                  <a:lnTo>
                    <a:pt x="56128" y="1297701"/>
                  </a:lnTo>
                  <a:lnTo>
                    <a:pt x="91897" y="1304925"/>
                  </a:lnTo>
                  <a:lnTo>
                    <a:pt x="5251640" y="1304925"/>
                  </a:lnTo>
                  <a:lnTo>
                    <a:pt x="5287438" y="1297701"/>
                  </a:lnTo>
                  <a:lnTo>
                    <a:pt x="5316664" y="1278001"/>
                  </a:lnTo>
                  <a:lnTo>
                    <a:pt x="5336365" y="1248775"/>
                  </a:lnTo>
                  <a:lnTo>
                    <a:pt x="5343588" y="1212977"/>
                  </a:lnTo>
                  <a:lnTo>
                    <a:pt x="5343588" y="91821"/>
                  </a:lnTo>
                  <a:lnTo>
                    <a:pt x="5336365" y="56042"/>
                  </a:lnTo>
                  <a:lnTo>
                    <a:pt x="5316664" y="26860"/>
                  </a:lnTo>
                  <a:lnTo>
                    <a:pt x="5287438" y="7203"/>
                  </a:lnTo>
                  <a:lnTo>
                    <a:pt x="5251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57212" y="3338576"/>
              <a:ext cx="5344160" cy="1304925"/>
            </a:xfrm>
            <a:custGeom>
              <a:avLst/>
              <a:gdLst/>
              <a:ahLst/>
              <a:cxnLst/>
              <a:rect l="l" t="t" r="r" b="b"/>
              <a:pathLst>
                <a:path w="5344160" h="1304925">
                  <a:moveTo>
                    <a:pt x="0" y="91821"/>
                  </a:moveTo>
                  <a:lnTo>
                    <a:pt x="7222" y="56042"/>
                  </a:lnTo>
                  <a:lnTo>
                    <a:pt x="26917" y="26860"/>
                  </a:lnTo>
                  <a:lnTo>
                    <a:pt x="56128" y="7203"/>
                  </a:lnTo>
                  <a:lnTo>
                    <a:pt x="91897" y="0"/>
                  </a:lnTo>
                  <a:lnTo>
                    <a:pt x="5251640" y="0"/>
                  </a:lnTo>
                  <a:lnTo>
                    <a:pt x="5287438" y="7203"/>
                  </a:lnTo>
                  <a:lnTo>
                    <a:pt x="5316664" y="26860"/>
                  </a:lnTo>
                  <a:lnTo>
                    <a:pt x="5336365" y="56042"/>
                  </a:lnTo>
                  <a:lnTo>
                    <a:pt x="5343588" y="91821"/>
                  </a:lnTo>
                  <a:lnTo>
                    <a:pt x="5343588" y="1212977"/>
                  </a:lnTo>
                  <a:lnTo>
                    <a:pt x="5336365" y="1248775"/>
                  </a:lnTo>
                  <a:lnTo>
                    <a:pt x="5316664" y="1278001"/>
                  </a:lnTo>
                  <a:lnTo>
                    <a:pt x="5287438" y="1297701"/>
                  </a:lnTo>
                  <a:lnTo>
                    <a:pt x="5251640" y="1304925"/>
                  </a:lnTo>
                  <a:lnTo>
                    <a:pt x="91897" y="1304925"/>
                  </a:lnTo>
                  <a:lnTo>
                    <a:pt x="56128" y="1297701"/>
                  </a:lnTo>
                  <a:lnTo>
                    <a:pt x="26917" y="1278001"/>
                  </a:lnTo>
                  <a:lnTo>
                    <a:pt x="7222" y="1248775"/>
                  </a:lnTo>
                  <a:lnTo>
                    <a:pt x="0" y="1212977"/>
                  </a:lnTo>
                  <a:lnTo>
                    <a:pt x="0" y="91821"/>
                  </a:lnTo>
                  <a:close/>
                </a:path>
              </a:pathLst>
            </a:custGeom>
            <a:ln w="12700">
              <a:solidFill>
                <a:srgbClr val="E2EB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00100" y="3676650"/>
              <a:ext cx="628650" cy="619125"/>
            </a:xfrm>
            <a:custGeom>
              <a:avLst/>
              <a:gdLst/>
              <a:ahLst/>
              <a:cxnLst/>
              <a:rect l="l" t="t" r="r" b="b"/>
              <a:pathLst>
                <a:path w="628650" h="619125">
                  <a:moveTo>
                    <a:pt x="314325" y="0"/>
                  </a:moveTo>
                  <a:lnTo>
                    <a:pt x="267876" y="3355"/>
                  </a:lnTo>
                  <a:lnTo>
                    <a:pt x="223544" y="13103"/>
                  </a:lnTo>
                  <a:lnTo>
                    <a:pt x="181813" y="28763"/>
                  </a:lnTo>
                  <a:lnTo>
                    <a:pt x="143172" y="49859"/>
                  </a:lnTo>
                  <a:lnTo>
                    <a:pt x="108104" y="75911"/>
                  </a:lnTo>
                  <a:lnTo>
                    <a:pt x="77098" y="106440"/>
                  </a:lnTo>
                  <a:lnTo>
                    <a:pt x="50639" y="140968"/>
                  </a:lnTo>
                  <a:lnTo>
                    <a:pt x="29214" y="179017"/>
                  </a:lnTo>
                  <a:lnTo>
                    <a:pt x="13308" y="220107"/>
                  </a:lnTo>
                  <a:lnTo>
                    <a:pt x="3408" y="263761"/>
                  </a:lnTo>
                  <a:lnTo>
                    <a:pt x="0" y="309499"/>
                  </a:lnTo>
                  <a:lnTo>
                    <a:pt x="3408" y="355268"/>
                  </a:lnTo>
                  <a:lnTo>
                    <a:pt x="13308" y="398947"/>
                  </a:lnTo>
                  <a:lnTo>
                    <a:pt x="29214" y="440058"/>
                  </a:lnTo>
                  <a:lnTo>
                    <a:pt x="50639" y="478123"/>
                  </a:lnTo>
                  <a:lnTo>
                    <a:pt x="77098" y="512663"/>
                  </a:lnTo>
                  <a:lnTo>
                    <a:pt x="108104" y="543201"/>
                  </a:lnTo>
                  <a:lnTo>
                    <a:pt x="143172" y="569259"/>
                  </a:lnTo>
                  <a:lnTo>
                    <a:pt x="181813" y="590358"/>
                  </a:lnTo>
                  <a:lnTo>
                    <a:pt x="223544" y="606021"/>
                  </a:lnTo>
                  <a:lnTo>
                    <a:pt x="267876" y="615769"/>
                  </a:lnTo>
                  <a:lnTo>
                    <a:pt x="314325" y="619125"/>
                  </a:lnTo>
                  <a:lnTo>
                    <a:pt x="360776" y="615769"/>
                  </a:lnTo>
                  <a:lnTo>
                    <a:pt x="405110" y="606021"/>
                  </a:lnTo>
                  <a:lnTo>
                    <a:pt x="446841" y="590358"/>
                  </a:lnTo>
                  <a:lnTo>
                    <a:pt x="485483" y="569259"/>
                  </a:lnTo>
                  <a:lnTo>
                    <a:pt x="520550" y="543201"/>
                  </a:lnTo>
                  <a:lnTo>
                    <a:pt x="551555" y="512663"/>
                  </a:lnTo>
                  <a:lnTo>
                    <a:pt x="578013" y="478123"/>
                  </a:lnTo>
                  <a:lnTo>
                    <a:pt x="599437" y="440058"/>
                  </a:lnTo>
                  <a:lnTo>
                    <a:pt x="615342" y="398947"/>
                  </a:lnTo>
                  <a:lnTo>
                    <a:pt x="625242" y="355268"/>
                  </a:lnTo>
                  <a:lnTo>
                    <a:pt x="628650" y="309499"/>
                  </a:lnTo>
                  <a:lnTo>
                    <a:pt x="625242" y="263761"/>
                  </a:lnTo>
                  <a:lnTo>
                    <a:pt x="615342" y="220107"/>
                  </a:lnTo>
                  <a:lnTo>
                    <a:pt x="599437" y="179017"/>
                  </a:lnTo>
                  <a:lnTo>
                    <a:pt x="578013" y="140968"/>
                  </a:lnTo>
                  <a:lnTo>
                    <a:pt x="551555" y="106440"/>
                  </a:lnTo>
                  <a:lnTo>
                    <a:pt x="520550" y="75911"/>
                  </a:lnTo>
                  <a:lnTo>
                    <a:pt x="485483" y="49859"/>
                  </a:lnTo>
                  <a:lnTo>
                    <a:pt x="446841" y="28763"/>
                  </a:lnTo>
                  <a:lnTo>
                    <a:pt x="405110" y="13103"/>
                  </a:lnTo>
                  <a:lnTo>
                    <a:pt x="360776" y="3355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F164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040130" y="3808031"/>
            <a:ext cx="15430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80210" y="3701986"/>
            <a:ext cx="3366770" cy="541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2700"/>
              </a:lnSpc>
              <a:spcBef>
                <a:spcPts val="95"/>
              </a:spcBef>
            </a:pPr>
            <a:r>
              <a:rPr dirty="0" sz="1500" spc="-10">
                <a:solidFill>
                  <a:srgbClr val="1B2733"/>
                </a:solidFill>
                <a:latin typeface="Times New Roman"/>
                <a:cs typeface="Times New Roman"/>
              </a:rPr>
              <a:t>Visualize</a:t>
            </a:r>
            <a:r>
              <a:rPr dirty="0" sz="1500" spc="-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1B2733"/>
                </a:solidFill>
                <a:latin typeface="Times New Roman"/>
                <a:cs typeface="Times New Roman"/>
              </a:rPr>
              <a:t>weight-for-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age</a:t>
            </a:r>
            <a:r>
              <a:rPr dirty="0" sz="15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(BMI) </a:t>
            </a:r>
            <a:r>
              <a:rPr dirty="0" sz="1500" spc="-10">
                <a:solidFill>
                  <a:srgbClr val="1B2733"/>
                </a:solidFill>
                <a:latin typeface="Times New Roman"/>
                <a:cs typeface="Times New Roman"/>
              </a:rPr>
              <a:t>distribution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patterns</a:t>
            </a:r>
            <a:r>
              <a:rPr dirty="0" sz="1500" spc="-3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across</a:t>
            </a:r>
            <a:r>
              <a:rPr dirty="0" sz="1500" spc="-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age</a:t>
            </a:r>
            <a:r>
              <a:rPr dirty="0" sz="1500" spc="-3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1B2733"/>
                </a:solidFill>
                <a:latin typeface="Times New Roman"/>
                <a:cs typeface="Times New Roman"/>
              </a:rPr>
              <a:t>groups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265926" y="3332226"/>
            <a:ext cx="5356225" cy="1317625"/>
            <a:chOff x="6265926" y="3332226"/>
            <a:chExt cx="5356225" cy="1317625"/>
          </a:xfrm>
        </p:grpSpPr>
        <p:sp>
          <p:nvSpPr>
            <p:cNvPr id="22" name="object 22"/>
            <p:cNvSpPr/>
            <p:nvPr/>
          </p:nvSpPr>
          <p:spPr>
            <a:xfrm>
              <a:off x="6272276" y="3338576"/>
              <a:ext cx="5343525" cy="1304925"/>
            </a:xfrm>
            <a:custGeom>
              <a:avLst/>
              <a:gdLst/>
              <a:ahLst/>
              <a:cxnLst/>
              <a:rect l="l" t="t" r="r" b="b"/>
              <a:pathLst>
                <a:path w="5343525" h="1304925">
                  <a:moveTo>
                    <a:pt x="5251577" y="0"/>
                  </a:moveTo>
                  <a:lnTo>
                    <a:pt x="91821" y="0"/>
                  </a:lnTo>
                  <a:lnTo>
                    <a:pt x="56042" y="7203"/>
                  </a:lnTo>
                  <a:lnTo>
                    <a:pt x="26860" y="26860"/>
                  </a:lnTo>
                  <a:lnTo>
                    <a:pt x="7203" y="56042"/>
                  </a:lnTo>
                  <a:lnTo>
                    <a:pt x="0" y="91821"/>
                  </a:lnTo>
                  <a:lnTo>
                    <a:pt x="0" y="1212977"/>
                  </a:lnTo>
                  <a:lnTo>
                    <a:pt x="7203" y="1248775"/>
                  </a:lnTo>
                  <a:lnTo>
                    <a:pt x="26860" y="1278001"/>
                  </a:lnTo>
                  <a:lnTo>
                    <a:pt x="56042" y="1297701"/>
                  </a:lnTo>
                  <a:lnTo>
                    <a:pt x="91821" y="1304925"/>
                  </a:lnTo>
                  <a:lnTo>
                    <a:pt x="5251577" y="1304925"/>
                  </a:lnTo>
                  <a:lnTo>
                    <a:pt x="5287375" y="1297701"/>
                  </a:lnTo>
                  <a:lnTo>
                    <a:pt x="5316601" y="1278001"/>
                  </a:lnTo>
                  <a:lnTo>
                    <a:pt x="5336301" y="1248775"/>
                  </a:lnTo>
                  <a:lnTo>
                    <a:pt x="5343525" y="1212977"/>
                  </a:lnTo>
                  <a:lnTo>
                    <a:pt x="5343525" y="91821"/>
                  </a:lnTo>
                  <a:lnTo>
                    <a:pt x="5336301" y="56042"/>
                  </a:lnTo>
                  <a:lnTo>
                    <a:pt x="5316601" y="26860"/>
                  </a:lnTo>
                  <a:lnTo>
                    <a:pt x="5287375" y="7203"/>
                  </a:lnTo>
                  <a:lnTo>
                    <a:pt x="52515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272276" y="3338576"/>
              <a:ext cx="5343525" cy="1304925"/>
            </a:xfrm>
            <a:custGeom>
              <a:avLst/>
              <a:gdLst/>
              <a:ahLst/>
              <a:cxnLst/>
              <a:rect l="l" t="t" r="r" b="b"/>
              <a:pathLst>
                <a:path w="5343525" h="1304925">
                  <a:moveTo>
                    <a:pt x="0" y="91821"/>
                  </a:moveTo>
                  <a:lnTo>
                    <a:pt x="7203" y="56042"/>
                  </a:lnTo>
                  <a:lnTo>
                    <a:pt x="26860" y="26860"/>
                  </a:lnTo>
                  <a:lnTo>
                    <a:pt x="56042" y="7203"/>
                  </a:lnTo>
                  <a:lnTo>
                    <a:pt x="91821" y="0"/>
                  </a:lnTo>
                  <a:lnTo>
                    <a:pt x="5251577" y="0"/>
                  </a:lnTo>
                  <a:lnTo>
                    <a:pt x="5287375" y="7203"/>
                  </a:lnTo>
                  <a:lnTo>
                    <a:pt x="5316601" y="26860"/>
                  </a:lnTo>
                  <a:lnTo>
                    <a:pt x="5336301" y="56042"/>
                  </a:lnTo>
                  <a:lnTo>
                    <a:pt x="5343525" y="91821"/>
                  </a:lnTo>
                  <a:lnTo>
                    <a:pt x="5343525" y="1212977"/>
                  </a:lnTo>
                  <a:lnTo>
                    <a:pt x="5336301" y="1248775"/>
                  </a:lnTo>
                  <a:lnTo>
                    <a:pt x="5316601" y="1278001"/>
                  </a:lnTo>
                  <a:lnTo>
                    <a:pt x="5287375" y="1297701"/>
                  </a:lnTo>
                  <a:lnTo>
                    <a:pt x="5251577" y="1304925"/>
                  </a:lnTo>
                  <a:lnTo>
                    <a:pt x="91821" y="1304925"/>
                  </a:lnTo>
                  <a:lnTo>
                    <a:pt x="56042" y="1297701"/>
                  </a:lnTo>
                  <a:lnTo>
                    <a:pt x="26860" y="1278001"/>
                  </a:lnTo>
                  <a:lnTo>
                    <a:pt x="7203" y="1248775"/>
                  </a:lnTo>
                  <a:lnTo>
                    <a:pt x="0" y="1212977"/>
                  </a:lnTo>
                  <a:lnTo>
                    <a:pt x="0" y="91821"/>
                  </a:lnTo>
                  <a:close/>
                </a:path>
              </a:pathLst>
            </a:custGeom>
            <a:ln w="12700">
              <a:solidFill>
                <a:srgbClr val="E2EB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515100" y="3676650"/>
              <a:ext cx="628650" cy="619125"/>
            </a:xfrm>
            <a:custGeom>
              <a:avLst/>
              <a:gdLst/>
              <a:ahLst/>
              <a:cxnLst/>
              <a:rect l="l" t="t" r="r" b="b"/>
              <a:pathLst>
                <a:path w="628650" h="619125">
                  <a:moveTo>
                    <a:pt x="314325" y="0"/>
                  </a:moveTo>
                  <a:lnTo>
                    <a:pt x="267873" y="3355"/>
                  </a:lnTo>
                  <a:lnTo>
                    <a:pt x="223539" y="13103"/>
                  </a:lnTo>
                  <a:lnTo>
                    <a:pt x="181808" y="28763"/>
                  </a:lnTo>
                  <a:lnTo>
                    <a:pt x="143166" y="49859"/>
                  </a:lnTo>
                  <a:lnTo>
                    <a:pt x="108099" y="75911"/>
                  </a:lnTo>
                  <a:lnTo>
                    <a:pt x="77094" y="106440"/>
                  </a:lnTo>
                  <a:lnTo>
                    <a:pt x="50636" y="140968"/>
                  </a:lnTo>
                  <a:lnTo>
                    <a:pt x="29212" y="179017"/>
                  </a:lnTo>
                  <a:lnTo>
                    <a:pt x="13307" y="220107"/>
                  </a:lnTo>
                  <a:lnTo>
                    <a:pt x="3407" y="263761"/>
                  </a:lnTo>
                  <a:lnTo>
                    <a:pt x="0" y="309499"/>
                  </a:lnTo>
                  <a:lnTo>
                    <a:pt x="3407" y="355268"/>
                  </a:lnTo>
                  <a:lnTo>
                    <a:pt x="13307" y="398947"/>
                  </a:lnTo>
                  <a:lnTo>
                    <a:pt x="29212" y="440058"/>
                  </a:lnTo>
                  <a:lnTo>
                    <a:pt x="50636" y="478123"/>
                  </a:lnTo>
                  <a:lnTo>
                    <a:pt x="77094" y="512663"/>
                  </a:lnTo>
                  <a:lnTo>
                    <a:pt x="108099" y="543201"/>
                  </a:lnTo>
                  <a:lnTo>
                    <a:pt x="143166" y="569259"/>
                  </a:lnTo>
                  <a:lnTo>
                    <a:pt x="181808" y="590358"/>
                  </a:lnTo>
                  <a:lnTo>
                    <a:pt x="223539" y="606021"/>
                  </a:lnTo>
                  <a:lnTo>
                    <a:pt x="267873" y="615769"/>
                  </a:lnTo>
                  <a:lnTo>
                    <a:pt x="314325" y="619125"/>
                  </a:lnTo>
                  <a:lnTo>
                    <a:pt x="360776" y="615769"/>
                  </a:lnTo>
                  <a:lnTo>
                    <a:pt x="405110" y="606021"/>
                  </a:lnTo>
                  <a:lnTo>
                    <a:pt x="446841" y="590358"/>
                  </a:lnTo>
                  <a:lnTo>
                    <a:pt x="485483" y="569259"/>
                  </a:lnTo>
                  <a:lnTo>
                    <a:pt x="520550" y="543201"/>
                  </a:lnTo>
                  <a:lnTo>
                    <a:pt x="551555" y="512663"/>
                  </a:lnTo>
                  <a:lnTo>
                    <a:pt x="578013" y="478123"/>
                  </a:lnTo>
                  <a:lnTo>
                    <a:pt x="599437" y="440058"/>
                  </a:lnTo>
                  <a:lnTo>
                    <a:pt x="615342" y="398947"/>
                  </a:lnTo>
                  <a:lnTo>
                    <a:pt x="625242" y="355268"/>
                  </a:lnTo>
                  <a:lnTo>
                    <a:pt x="628650" y="309499"/>
                  </a:lnTo>
                  <a:lnTo>
                    <a:pt x="625242" y="263761"/>
                  </a:lnTo>
                  <a:lnTo>
                    <a:pt x="615342" y="220107"/>
                  </a:lnTo>
                  <a:lnTo>
                    <a:pt x="599437" y="179017"/>
                  </a:lnTo>
                  <a:lnTo>
                    <a:pt x="578013" y="140968"/>
                  </a:lnTo>
                  <a:lnTo>
                    <a:pt x="551555" y="106440"/>
                  </a:lnTo>
                  <a:lnTo>
                    <a:pt x="520550" y="75911"/>
                  </a:lnTo>
                  <a:lnTo>
                    <a:pt x="485483" y="49859"/>
                  </a:lnTo>
                  <a:lnTo>
                    <a:pt x="446841" y="28763"/>
                  </a:lnTo>
                  <a:lnTo>
                    <a:pt x="405110" y="13103"/>
                  </a:lnTo>
                  <a:lnTo>
                    <a:pt x="360776" y="3355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1D4E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759575" y="3808031"/>
            <a:ext cx="15430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99655" y="3701986"/>
            <a:ext cx="3874135" cy="541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2700"/>
              </a:lnSpc>
              <a:spcBef>
                <a:spcPts val="95"/>
              </a:spcBef>
            </a:pP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Represent</a:t>
            </a:r>
            <a:r>
              <a:rPr dirty="0" sz="1500" spc="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1B2733"/>
                </a:solidFill>
                <a:latin typeface="Times New Roman"/>
                <a:cs typeface="Times New Roman"/>
              </a:rPr>
              <a:t>food-security-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category</a:t>
            </a:r>
            <a:r>
              <a:rPr dirty="0" sz="15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proportions</a:t>
            </a:r>
            <a:r>
              <a:rPr dirty="0" sz="15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 spc="-20">
                <a:solidFill>
                  <a:srgbClr val="1B2733"/>
                </a:solidFill>
                <a:latin typeface="Times New Roman"/>
                <a:cs typeface="Times New Roman"/>
              </a:rPr>
              <a:t>with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stacked</a:t>
            </a:r>
            <a:r>
              <a:rPr dirty="0" sz="15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bar</a:t>
            </a:r>
            <a:r>
              <a:rPr dirty="0" sz="1500" spc="-6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1B2733"/>
                </a:solidFill>
                <a:latin typeface="Times New Roman"/>
                <a:cs typeface="Times New Roman"/>
              </a:rPr>
              <a:t>charts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50862" y="4894326"/>
            <a:ext cx="5356860" cy="1308100"/>
            <a:chOff x="550862" y="4894326"/>
            <a:chExt cx="5356860" cy="1308100"/>
          </a:xfrm>
        </p:grpSpPr>
        <p:sp>
          <p:nvSpPr>
            <p:cNvPr id="28" name="object 28"/>
            <p:cNvSpPr/>
            <p:nvPr/>
          </p:nvSpPr>
          <p:spPr>
            <a:xfrm>
              <a:off x="557212" y="4900676"/>
              <a:ext cx="5344160" cy="1295400"/>
            </a:xfrm>
            <a:custGeom>
              <a:avLst/>
              <a:gdLst/>
              <a:ahLst/>
              <a:cxnLst/>
              <a:rect l="l" t="t" r="r" b="b"/>
              <a:pathLst>
                <a:path w="5344160" h="1295400">
                  <a:moveTo>
                    <a:pt x="5252275" y="0"/>
                  </a:moveTo>
                  <a:lnTo>
                    <a:pt x="91224" y="0"/>
                  </a:lnTo>
                  <a:lnTo>
                    <a:pt x="55715" y="7157"/>
                  </a:lnTo>
                  <a:lnTo>
                    <a:pt x="26719" y="26685"/>
                  </a:lnTo>
                  <a:lnTo>
                    <a:pt x="7168" y="55667"/>
                  </a:lnTo>
                  <a:lnTo>
                    <a:pt x="0" y="91186"/>
                  </a:lnTo>
                  <a:lnTo>
                    <a:pt x="0" y="1204112"/>
                  </a:lnTo>
                  <a:lnTo>
                    <a:pt x="7168" y="1239620"/>
                  </a:lnTo>
                  <a:lnTo>
                    <a:pt x="26719" y="1268617"/>
                  </a:lnTo>
                  <a:lnTo>
                    <a:pt x="55715" y="1288167"/>
                  </a:lnTo>
                  <a:lnTo>
                    <a:pt x="91224" y="1295336"/>
                  </a:lnTo>
                  <a:lnTo>
                    <a:pt x="5252275" y="1295336"/>
                  </a:lnTo>
                  <a:lnTo>
                    <a:pt x="5287813" y="1288167"/>
                  </a:lnTo>
                  <a:lnTo>
                    <a:pt x="5316839" y="1268617"/>
                  </a:lnTo>
                  <a:lnTo>
                    <a:pt x="5336411" y="1239620"/>
                  </a:lnTo>
                  <a:lnTo>
                    <a:pt x="5343588" y="1204112"/>
                  </a:lnTo>
                  <a:lnTo>
                    <a:pt x="5343588" y="91186"/>
                  </a:lnTo>
                  <a:lnTo>
                    <a:pt x="5336411" y="55667"/>
                  </a:lnTo>
                  <a:lnTo>
                    <a:pt x="5316839" y="26685"/>
                  </a:lnTo>
                  <a:lnTo>
                    <a:pt x="5287813" y="7157"/>
                  </a:lnTo>
                  <a:lnTo>
                    <a:pt x="52522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57212" y="4900676"/>
              <a:ext cx="5344160" cy="1295400"/>
            </a:xfrm>
            <a:custGeom>
              <a:avLst/>
              <a:gdLst/>
              <a:ahLst/>
              <a:cxnLst/>
              <a:rect l="l" t="t" r="r" b="b"/>
              <a:pathLst>
                <a:path w="5344160" h="1295400">
                  <a:moveTo>
                    <a:pt x="0" y="91186"/>
                  </a:moveTo>
                  <a:lnTo>
                    <a:pt x="7168" y="55667"/>
                  </a:lnTo>
                  <a:lnTo>
                    <a:pt x="26719" y="26685"/>
                  </a:lnTo>
                  <a:lnTo>
                    <a:pt x="55715" y="7157"/>
                  </a:lnTo>
                  <a:lnTo>
                    <a:pt x="91224" y="0"/>
                  </a:lnTo>
                  <a:lnTo>
                    <a:pt x="5252275" y="0"/>
                  </a:lnTo>
                  <a:lnTo>
                    <a:pt x="5287813" y="7157"/>
                  </a:lnTo>
                  <a:lnTo>
                    <a:pt x="5316839" y="26685"/>
                  </a:lnTo>
                  <a:lnTo>
                    <a:pt x="5336411" y="55667"/>
                  </a:lnTo>
                  <a:lnTo>
                    <a:pt x="5343588" y="91186"/>
                  </a:lnTo>
                  <a:lnTo>
                    <a:pt x="5343588" y="1204112"/>
                  </a:lnTo>
                  <a:lnTo>
                    <a:pt x="5336411" y="1239620"/>
                  </a:lnTo>
                  <a:lnTo>
                    <a:pt x="5316839" y="1268617"/>
                  </a:lnTo>
                  <a:lnTo>
                    <a:pt x="5287813" y="1288167"/>
                  </a:lnTo>
                  <a:lnTo>
                    <a:pt x="5252275" y="1295336"/>
                  </a:lnTo>
                  <a:lnTo>
                    <a:pt x="91224" y="1295336"/>
                  </a:lnTo>
                  <a:lnTo>
                    <a:pt x="55715" y="1288167"/>
                  </a:lnTo>
                  <a:lnTo>
                    <a:pt x="26719" y="1268617"/>
                  </a:lnTo>
                  <a:lnTo>
                    <a:pt x="7168" y="1239620"/>
                  </a:lnTo>
                  <a:lnTo>
                    <a:pt x="0" y="1204112"/>
                  </a:lnTo>
                  <a:lnTo>
                    <a:pt x="0" y="91186"/>
                  </a:lnTo>
                  <a:close/>
                </a:path>
              </a:pathLst>
            </a:custGeom>
            <a:ln w="12700">
              <a:solidFill>
                <a:srgbClr val="E2EB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00100" y="5229225"/>
              <a:ext cx="628650" cy="619125"/>
            </a:xfrm>
            <a:custGeom>
              <a:avLst/>
              <a:gdLst/>
              <a:ahLst/>
              <a:cxnLst/>
              <a:rect l="l" t="t" r="r" b="b"/>
              <a:pathLst>
                <a:path w="628650" h="619125">
                  <a:moveTo>
                    <a:pt x="314325" y="0"/>
                  </a:moveTo>
                  <a:lnTo>
                    <a:pt x="267876" y="3355"/>
                  </a:lnTo>
                  <a:lnTo>
                    <a:pt x="223544" y="13103"/>
                  </a:lnTo>
                  <a:lnTo>
                    <a:pt x="181813" y="28766"/>
                  </a:lnTo>
                  <a:lnTo>
                    <a:pt x="143172" y="49865"/>
                  </a:lnTo>
                  <a:lnTo>
                    <a:pt x="108104" y="75923"/>
                  </a:lnTo>
                  <a:lnTo>
                    <a:pt x="77098" y="106461"/>
                  </a:lnTo>
                  <a:lnTo>
                    <a:pt x="50639" y="141001"/>
                  </a:lnTo>
                  <a:lnTo>
                    <a:pt x="29214" y="179066"/>
                  </a:lnTo>
                  <a:lnTo>
                    <a:pt x="13308" y="220177"/>
                  </a:lnTo>
                  <a:lnTo>
                    <a:pt x="3408" y="263856"/>
                  </a:lnTo>
                  <a:lnTo>
                    <a:pt x="0" y="309625"/>
                  </a:lnTo>
                  <a:lnTo>
                    <a:pt x="3408" y="355355"/>
                  </a:lnTo>
                  <a:lnTo>
                    <a:pt x="13308" y="399003"/>
                  </a:lnTo>
                  <a:lnTo>
                    <a:pt x="29214" y="440090"/>
                  </a:lnTo>
                  <a:lnTo>
                    <a:pt x="50639" y="478139"/>
                  </a:lnTo>
                  <a:lnTo>
                    <a:pt x="77098" y="512668"/>
                  </a:lnTo>
                  <a:lnTo>
                    <a:pt x="108104" y="543200"/>
                  </a:lnTo>
                  <a:lnTo>
                    <a:pt x="143172" y="569255"/>
                  </a:lnTo>
                  <a:lnTo>
                    <a:pt x="181813" y="590354"/>
                  </a:lnTo>
                  <a:lnTo>
                    <a:pt x="223544" y="606018"/>
                  </a:lnTo>
                  <a:lnTo>
                    <a:pt x="267876" y="615768"/>
                  </a:lnTo>
                  <a:lnTo>
                    <a:pt x="314325" y="619125"/>
                  </a:lnTo>
                  <a:lnTo>
                    <a:pt x="360776" y="615768"/>
                  </a:lnTo>
                  <a:lnTo>
                    <a:pt x="405110" y="606018"/>
                  </a:lnTo>
                  <a:lnTo>
                    <a:pt x="446841" y="590354"/>
                  </a:lnTo>
                  <a:lnTo>
                    <a:pt x="485483" y="569255"/>
                  </a:lnTo>
                  <a:lnTo>
                    <a:pt x="520550" y="543200"/>
                  </a:lnTo>
                  <a:lnTo>
                    <a:pt x="551555" y="512668"/>
                  </a:lnTo>
                  <a:lnTo>
                    <a:pt x="578013" y="478139"/>
                  </a:lnTo>
                  <a:lnTo>
                    <a:pt x="599437" y="440090"/>
                  </a:lnTo>
                  <a:lnTo>
                    <a:pt x="615342" y="399003"/>
                  </a:lnTo>
                  <a:lnTo>
                    <a:pt x="625242" y="355355"/>
                  </a:lnTo>
                  <a:lnTo>
                    <a:pt x="628650" y="309625"/>
                  </a:lnTo>
                  <a:lnTo>
                    <a:pt x="625242" y="263856"/>
                  </a:lnTo>
                  <a:lnTo>
                    <a:pt x="615342" y="220177"/>
                  </a:lnTo>
                  <a:lnTo>
                    <a:pt x="599437" y="179066"/>
                  </a:lnTo>
                  <a:lnTo>
                    <a:pt x="578013" y="141001"/>
                  </a:lnTo>
                  <a:lnTo>
                    <a:pt x="551555" y="106461"/>
                  </a:lnTo>
                  <a:lnTo>
                    <a:pt x="520550" y="75923"/>
                  </a:lnTo>
                  <a:lnTo>
                    <a:pt x="485483" y="49865"/>
                  </a:lnTo>
                  <a:lnTo>
                    <a:pt x="446841" y="28766"/>
                  </a:lnTo>
                  <a:lnTo>
                    <a:pt x="405110" y="13103"/>
                  </a:lnTo>
                  <a:lnTo>
                    <a:pt x="360776" y="3355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5FA7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1040130" y="5364479"/>
            <a:ext cx="15430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80210" y="5258815"/>
            <a:ext cx="3651885" cy="540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99"/>
              </a:lnSpc>
              <a:spcBef>
                <a:spcPts val="100"/>
              </a:spcBef>
            </a:pP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Quantify</a:t>
            </a:r>
            <a:r>
              <a:rPr dirty="0" sz="1500" spc="-2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estimate</a:t>
            </a:r>
            <a:r>
              <a:rPr dirty="0" sz="1500" spc="-9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reliability</a:t>
            </a:r>
            <a:r>
              <a:rPr dirty="0" sz="1500" spc="-2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using</a:t>
            </a:r>
            <a:r>
              <a:rPr dirty="0" sz="1500" spc="-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1B2733"/>
                </a:solidFill>
                <a:latin typeface="Times New Roman"/>
                <a:cs typeface="Times New Roman"/>
              </a:rPr>
              <a:t>bootstrapped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confidence</a:t>
            </a:r>
            <a:r>
              <a:rPr dirty="0" sz="15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1B2733"/>
                </a:solidFill>
                <a:latin typeface="Times New Roman"/>
                <a:cs typeface="Times New Roman"/>
              </a:rPr>
              <a:t>intervals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265926" y="4894326"/>
            <a:ext cx="5356225" cy="1308100"/>
            <a:chOff x="6265926" y="4894326"/>
            <a:chExt cx="5356225" cy="1308100"/>
          </a:xfrm>
        </p:grpSpPr>
        <p:sp>
          <p:nvSpPr>
            <p:cNvPr id="34" name="object 34"/>
            <p:cNvSpPr/>
            <p:nvPr/>
          </p:nvSpPr>
          <p:spPr>
            <a:xfrm>
              <a:off x="6272276" y="4900676"/>
              <a:ext cx="5343525" cy="1295400"/>
            </a:xfrm>
            <a:custGeom>
              <a:avLst/>
              <a:gdLst/>
              <a:ahLst/>
              <a:cxnLst/>
              <a:rect l="l" t="t" r="r" b="b"/>
              <a:pathLst>
                <a:path w="5343525" h="1295400">
                  <a:moveTo>
                    <a:pt x="5252212" y="0"/>
                  </a:moveTo>
                  <a:lnTo>
                    <a:pt x="91186" y="0"/>
                  </a:lnTo>
                  <a:lnTo>
                    <a:pt x="55667" y="7157"/>
                  </a:lnTo>
                  <a:lnTo>
                    <a:pt x="26685" y="26685"/>
                  </a:lnTo>
                  <a:lnTo>
                    <a:pt x="7157" y="55667"/>
                  </a:lnTo>
                  <a:lnTo>
                    <a:pt x="0" y="91186"/>
                  </a:lnTo>
                  <a:lnTo>
                    <a:pt x="0" y="1204112"/>
                  </a:lnTo>
                  <a:lnTo>
                    <a:pt x="7157" y="1239620"/>
                  </a:lnTo>
                  <a:lnTo>
                    <a:pt x="26685" y="1268617"/>
                  </a:lnTo>
                  <a:lnTo>
                    <a:pt x="55667" y="1288167"/>
                  </a:lnTo>
                  <a:lnTo>
                    <a:pt x="91186" y="1295336"/>
                  </a:lnTo>
                  <a:lnTo>
                    <a:pt x="5252212" y="1295336"/>
                  </a:lnTo>
                  <a:lnTo>
                    <a:pt x="5287750" y="1288167"/>
                  </a:lnTo>
                  <a:lnTo>
                    <a:pt x="5316775" y="1268617"/>
                  </a:lnTo>
                  <a:lnTo>
                    <a:pt x="5336347" y="1239620"/>
                  </a:lnTo>
                  <a:lnTo>
                    <a:pt x="5343525" y="1204112"/>
                  </a:lnTo>
                  <a:lnTo>
                    <a:pt x="5343525" y="91186"/>
                  </a:lnTo>
                  <a:lnTo>
                    <a:pt x="5336347" y="55667"/>
                  </a:lnTo>
                  <a:lnTo>
                    <a:pt x="5316775" y="26685"/>
                  </a:lnTo>
                  <a:lnTo>
                    <a:pt x="5287750" y="7157"/>
                  </a:lnTo>
                  <a:lnTo>
                    <a:pt x="52522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272276" y="4900676"/>
              <a:ext cx="5343525" cy="1295400"/>
            </a:xfrm>
            <a:custGeom>
              <a:avLst/>
              <a:gdLst/>
              <a:ahLst/>
              <a:cxnLst/>
              <a:rect l="l" t="t" r="r" b="b"/>
              <a:pathLst>
                <a:path w="5343525" h="1295400">
                  <a:moveTo>
                    <a:pt x="0" y="91186"/>
                  </a:moveTo>
                  <a:lnTo>
                    <a:pt x="7157" y="55667"/>
                  </a:lnTo>
                  <a:lnTo>
                    <a:pt x="26685" y="26685"/>
                  </a:lnTo>
                  <a:lnTo>
                    <a:pt x="55667" y="7157"/>
                  </a:lnTo>
                  <a:lnTo>
                    <a:pt x="91186" y="0"/>
                  </a:lnTo>
                  <a:lnTo>
                    <a:pt x="5252212" y="0"/>
                  </a:lnTo>
                  <a:lnTo>
                    <a:pt x="5287750" y="7157"/>
                  </a:lnTo>
                  <a:lnTo>
                    <a:pt x="5316775" y="26685"/>
                  </a:lnTo>
                  <a:lnTo>
                    <a:pt x="5336347" y="55667"/>
                  </a:lnTo>
                  <a:lnTo>
                    <a:pt x="5343525" y="91186"/>
                  </a:lnTo>
                  <a:lnTo>
                    <a:pt x="5343525" y="1204112"/>
                  </a:lnTo>
                  <a:lnTo>
                    <a:pt x="5336347" y="1239620"/>
                  </a:lnTo>
                  <a:lnTo>
                    <a:pt x="5316775" y="1268617"/>
                  </a:lnTo>
                  <a:lnTo>
                    <a:pt x="5287750" y="1288167"/>
                  </a:lnTo>
                  <a:lnTo>
                    <a:pt x="5252212" y="1295336"/>
                  </a:lnTo>
                  <a:lnTo>
                    <a:pt x="91186" y="1295336"/>
                  </a:lnTo>
                  <a:lnTo>
                    <a:pt x="55667" y="1288167"/>
                  </a:lnTo>
                  <a:lnTo>
                    <a:pt x="26685" y="1268617"/>
                  </a:lnTo>
                  <a:lnTo>
                    <a:pt x="7157" y="1239620"/>
                  </a:lnTo>
                  <a:lnTo>
                    <a:pt x="0" y="1204112"/>
                  </a:lnTo>
                  <a:lnTo>
                    <a:pt x="0" y="91186"/>
                  </a:lnTo>
                  <a:close/>
                </a:path>
              </a:pathLst>
            </a:custGeom>
            <a:ln w="12700">
              <a:solidFill>
                <a:srgbClr val="E2EB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515100" y="5229225"/>
              <a:ext cx="628650" cy="619125"/>
            </a:xfrm>
            <a:custGeom>
              <a:avLst/>
              <a:gdLst/>
              <a:ahLst/>
              <a:cxnLst/>
              <a:rect l="l" t="t" r="r" b="b"/>
              <a:pathLst>
                <a:path w="628650" h="619125">
                  <a:moveTo>
                    <a:pt x="314325" y="0"/>
                  </a:moveTo>
                  <a:lnTo>
                    <a:pt x="267873" y="3355"/>
                  </a:lnTo>
                  <a:lnTo>
                    <a:pt x="223539" y="13103"/>
                  </a:lnTo>
                  <a:lnTo>
                    <a:pt x="181808" y="28766"/>
                  </a:lnTo>
                  <a:lnTo>
                    <a:pt x="143166" y="49865"/>
                  </a:lnTo>
                  <a:lnTo>
                    <a:pt x="108099" y="75923"/>
                  </a:lnTo>
                  <a:lnTo>
                    <a:pt x="77094" y="106461"/>
                  </a:lnTo>
                  <a:lnTo>
                    <a:pt x="50636" y="141001"/>
                  </a:lnTo>
                  <a:lnTo>
                    <a:pt x="29212" y="179066"/>
                  </a:lnTo>
                  <a:lnTo>
                    <a:pt x="13307" y="220177"/>
                  </a:lnTo>
                  <a:lnTo>
                    <a:pt x="3407" y="263856"/>
                  </a:lnTo>
                  <a:lnTo>
                    <a:pt x="0" y="309625"/>
                  </a:lnTo>
                  <a:lnTo>
                    <a:pt x="3407" y="355355"/>
                  </a:lnTo>
                  <a:lnTo>
                    <a:pt x="13307" y="399003"/>
                  </a:lnTo>
                  <a:lnTo>
                    <a:pt x="29212" y="440090"/>
                  </a:lnTo>
                  <a:lnTo>
                    <a:pt x="50636" y="478139"/>
                  </a:lnTo>
                  <a:lnTo>
                    <a:pt x="77094" y="512668"/>
                  </a:lnTo>
                  <a:lnTo>
                    <a:pt x="108099" y="543200"/>
                  </a:lnTo>
                  <a:lnTo>
                    <a:pt x="143166" y="569255"/>
                  </a:lnTo>
                  <a:lnTo>
                    <a:pt x="181808" y="590354"/>
                  </a:lnTo>
                  <a:lnTo>
                    <a:pt x="223539" y="606018"/>
                  </a:lnTo>
                  <a:lnTo>
                    <a:pt x="267873" y="615768"/>
                  </a:lnTo>
                  <a:lnTo>
                    <a:pt x="314325" y="619125"/>
                  </a:lnTo>
                  <a:lnTo>
                    <a:pt x="360776" y="615768"/>
                  </a:lnTo>
                  <a:lnTo>
                    <a:pt x="405110" y="606018"/>
                  </a:lnTo>
                  <a:lnTo>
                    <a:pt x="446841" y="590354"/>
                  </a:lnTo>
                  <a:lnTo>
                    <a:pt x="485483" y="569255"/>
                  </a:lnTo>
                  <a:lnTo>
                    <a:pt x="520550" y="543200"/>
                  </a:lnTo>
                  <a:lnTo>
                    <a:pt x="551555" y="512668"/>
                  </a:lnTo>
                  <a:lnTo>
                    <a:pt x="578013" y="478139"/>
                  </a:lnTo>
                  <a:lnTo>
                    <a:pt x="599437" y="440090"/>
                  </a:lnTo>
                  <a:lnTo>
                    <a:pt x="615342" y="399003"/>
                  </a:lnTo>
                  <a:lnTo>
                    <a:pt x="625242" y="355355"/>
                  </a:lnTo>
                  <a:lnTo>
                    <a:pt x="628650" y="309625"/>
                  </a:lnTo>
                  <a:lnTo>
                    <a:pt x="625242" y="263856"/>
                  </a:lnTo>
                  <a:lnTo>
                    <a:pt x="615342" y="220177"/>
                  </a:lnTo>
                  <a:lnTo>
                    <a:pt x="599437" y="179066"/>
                  </a:lnTo>
                  <a:lnTo>
                    <a:pt x="578013" y="141001"/>
                  </a:lnTo>
                  <a:lnTo>
                    <a:pt x="551555" y="106461"/>
                  </a:lnTo>
                  <a:lnTo>
                    <a:pt x="520550" y="75923"/>
                  </a:lnTo>
                  <a:lnTo>
                    <a:pt x="485483" y="49865"/>
                  </a:lnTo>
                  <a:lnTo>
                    <a:pt x="446841" y="28766"/>
                  </a:lnTo>
                  <a:lnTo>
                    <a:pt x="405110" y="13103"/>
                  </a:lnTo>
                  <a:lnTo>
                    <a:pt x="360776" y="3355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F164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759575" y="5364479"/>
            <a:ext cx="15430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694541" y="6471750"/>
            <a:ext cx="159385" cy="16256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50" spc="-25">
                <a:solidFill>
                  <a:srgbClr val="5B6773"/>
                </a:solidFill>
                <a:latin typeface="Times New Roman"/>
                <a:cs typeface="Times New Roman"/>
              </a:rPr>
              <a:t>04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399655" y="5258815"/>
            <a:ext cx="3907790" cy="540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99"/>
              </a:lnSpc>
              <a:spcBef>
                <a:spcPts val="100"/>
              </a:spcBef>
            </a:pP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Deliver an</a:t>
            </a:r>
            <a:r>
              <a:rPr dirty="0" sz="1500" spc="-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integrated</a:t>
            </a:r>
            <a:r>
              <a:rPr dirty="0" sz="1500" spc="-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dashboard</a:t>
            </a:r>
            <a:r>
              <a:rPr dirty="0" sz="1500" spc="-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for </a:t>
            </a:r>
            <a:r>
              <a:rPr dirty="0" sz="1500" spc="-10">
                <a:solidFill>
                  <a:srgbClr val="1B2733"/>
                </a:solidFill>
                <a:latin typeface="Times New Roman"/>
                <a:cs typeface="Times New Roman"/>
              </a:rPr>
              <a:t>policy-focused </a:t>
            </a:r>
            <a:r>
              <a:rPr dirty="0" sz="1500">
                <a:solidFill>
                  <a:srgbClr val="1B2733"/>
                </a:solidFill>
                <a:latin typeface="Times New Roman"/>
                <a:cs typeface="Times New Roman"/>
              </a:rPr>
              <a:t>decision </a:t>
            </a:r>
            <a:r>
              <a:rPr dirty="0" sz="1500" spc="-10">
                <a:solidFill>
                  <a:srgbClr val="1B2733"/>
                </a:solidFill>
                <a:latin typeface="Times New Roman"/>
                <a:cs typeface="Times New Roman"/>
              </a:rPr>
              <a:t>making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D4E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963150" y="0"/>
            <a:ext cx="2228850" cy="2743200"/>
          </a:xfrm>
          <a:custGeom>
            <a:avLst/>
            <a:gdLst/>
            <a:ahLst/>
            <a:cxnLst/>
            <a:rect l="l" t="t" r="r" b="b"/>
            <a:pathLst>
              <a:path w="2228850" h="2743200">
                <a:moveTo>
                  <a:pt x="2228850" y="0"/>
                </a:moveTo>
                <a:lnTo>
                  <a:pt x="98569" y="0"/>
                </a:lnTo>
                <a:lnTo>
                  <a:pt x="87922" y="34233"/>
                </a:lnTo>
                <a:lnTo>
                  <a:pt x="75194" y="78581"/>
                </a:lnTo>
                <a:lnTo>
                  <a:pt x="63418" y="123323"/>
                </a:lnTo>
                <a:lnTo>
                  <a:pt x="52605" y="168447"/>
                </a:lnTo>
                <a:lnTo>
                  <a:pt x="42767" y="213943"/>
                </a:lnTo>
                <a:lnTo>
                  <a:pt x="33915" y="259798"/>
                </a:lnTo>
                <a:lnTo>
                  <a:pt x="26061" y="306000"/>
                </a:lnTo>
                <a:lnTo>
                  <a:pt x="19216" y="352538"/>
                </a:lnTo>
                <a:lnTo>
                  <a:pt x="13393" y="399401"/>
                </a:lnTo>
                <a:lnTo>
                  <a:pt x="8602" y="446577"/>
                </a:lnTo>
                <a:lnTo>
                  <a:pt x="4856" y="494053"/>
                </a:lnTo>
                <a:lnTo>
                  <a:pt x="2166" y="541820"/>
                </a:lnTo>
                <a:lnTo>
                  <a:pt x="543" y="589864"/>
                </a:lnTo>
                <a:lnTo>
                  <a:pt x="0" y="638175"/>
                </a:lnTo>
                <a:lnTo>
                  <a:pt x="543" y="686485"/>
                </a:lnTo>
                <a:lnTo>
                  <a:pt x="2166" y="734529"/>
                </a:lnTo>
                <a:lnTo>
                  <a:pt x="4856" y="782296"/>
                </a:lnTo>
                <a:lnTo>
                  <a:pt x="8602" y="829772"/>
                </a:lnTo>
                <a:lnTo>
                  <a:pt x="13393" y="876948"/>
                </a:lnTo>
                <a:lnTo>
                  <a:pt x="19216" y="923811"/>
                </a:lnTo>
                <a:lnTo>
                  <a:pt x="26061" y="970349"/>
                </a:lnTo>
                <a:lnTo>
                  <a:pt x="33915" y="1016551"/>
                </a:lnTo>
                <a:lnTo>
                  <a:pt x="42767" y="1062406"/>
                </a:lnTo>
                <a:lnTo>
                  <a:pt x="52605" y="1107902"/>
                </a:lnTo>
                <a:lnTo>
                  <a:pt x="63418" y="1153026"/>
                </a:lnTo>
                <a:lnTo>
                  <a:pt x="75194" y="1197768"/>
                </a:lnTo>
                <a:lnTo>
                  <a:pt x="87922" y="1242116"/>
                </a:lnTo>
                <a:lnTo>
                  <a:pt x="101589" y="1286059"/>
                </a:lnTo>
                <a:lnTo>
                  <a:pt x="116185" y="1329584"/>
                </a:lnTo>
                <a:lnTo>
                  <a:pt x="131697" y="1372680"/>
                </a:lnTo>
                <a:lnTo>
                  <a:pt x="148114" y="1415335"/>
                </a:lnTo>
                <a:lnTo>
                  <a:pt x="165425" y="1457539"/>
                </a:lnTo>
                <a:lnTo>
                  <a:pt x="183617" y="1499278"/>
                </a:lnTo>
                <a:lnTo>
                  <a:pt x="202680" y="1540543"/>
                </a:lnTo>
                <a:lnTo>
                  <a:pt x="222601" y="1581320"/>
                </a:lnTo>
                <a:lnTo>
                  <a:pt x="243370" y="1621599"/>
                </a:lnTo>
                <a:lnTo>
                  <a:pt x="264973" y="1661367"/>
                </a:lnTo>
                <a:lnTo>
                  <a:pt x="287400" y="1700614"/>
                </a:lnTo>
                <a:lnTo>
                  <a:pt x="310640" y="1739327"/>
                </a:lnTo>
                <a:lnTo>
                  <a:pt x="334680" y="1777496"/>
                </a:lnTo>
                <a:lnTo>
                  <a:pt x="359509" y="1815107"/>
                </a:lnTo>
                <a:lnTo>
                  <a:pt x="385115" y="1852151"/>
                </a:lnTo>
                <a:lnTo>
                  <a:pt x="411487" y="1888614"/>
                </a:lnTo>
                <a:lnTo>
                  <a:pt x="438613" y="1924486"/>
                </a:lnTo>
                <a:lnTo>
                  <a:pt x="466481" y="1959755"/>
                </a:lnTo>
                <a:lnTo>
                  <a:pt x="495080" y="1994409"/>
                </a:lnTo>
                <a:lnTo>
                  <a:pt x="524398" y="2028437"/>
                </a:lnTo>
                <a:lnTo>
                  <a:pt x="554424" y="2061827"/>
                </a:lnTo>
                <a:lnTo>
                  <a:pt x="585146" y="2094567"/>
                </a:lnTo>
                <a:lnTo>
                  <a:pt x="616553" y="2126646"/>
                </a:lnTo>
                <a:lnTo>
                  <a:pt x="648632" y="2158053"/>
                </a:lnTo>
                <a:lnTo>
                  <a:pt x="681372" y="2188775"/>
                </a:lnTo>
                <a:lnTo>
                  <a:pt x="714762" y="2218801"/>
                </a:lnTo>
                <a:lnTo>
                  <a:pt x="748790" y="2248119"/>
                </a:lnTo>
                <a:lnTo>
                  <a:pt x="783444" y="2276718"/>
                </a:lnTo>
                <a:lnTo>
                  <a:pt x="818713" y="2304586"/>
                </a:lnTo>
                <a:lnTo>
                  <a:pt x="854585" y="2331712"/>
                </a:lnTo>
                <a:lnTo>
                  <a:pt x="891048" y="2358084"/>
                </a:lnTo>
                <a:lnTo>
                  <a:pt x="928092" y="2383690"/>
                </a:lnTo>
                <a:lnTo>
                  <a:pt x="965703" y="2408519"/>
                </a:lnTo>
                <a:lnTo>
                  <a:pt x="1003872" y="2432559"/>
                </a:lnTo>
                <a:lnTo>
                  <a:pt x="1042585" y="2455799"/>
                </a:lnTo>
                <a:lnTo>
                  <a:pt x="1081832" y="2478226"/>
                </a:lnTo>
                <a:lnTo>
                  <a:pt x="1121600" y="2499829"/>
                </a:lnTo>
                <a:lnTo>
                  <a:pt x="1161879" y="2520598"/>
                </a:lnTo>
                <a:lnTo>
                  <a:pt x="1202656" y="2540519"/>
                </a:lnTo>
                <a:lnTo>
                  <a:pt x="1243921" y="2559582"/>
                </a:lnTo>
                <a:lnTo>
                  <a:pt x="1285660" y="2577774"/>
                </a:lnTo>
                <a:lnTo>
                  <a:pt x="1327864" y="2595085"/>
                </a:lnTo>
                <a:lnTo>
                  <a:pt x="1370519" y="2611502"/>
                </a:lnTo>
                <a:lnTo>
                  <a:pt x="1413615" y="2627014"/>
                </a:lnTo>
                <a:lnTo>
                  <a:pt x="1457140" y="2641610"/>
                </a:lnTo>
                <a:lnTo>
                  <a:pt x="1501083" y="2655277"/>
                </a:lnTo>
                <a:lnTo>
                  <a:pt x="1545431" y="2668005"/>
                </a:lnTo>
                <a:lnTo>
                  <a:pt x="1590173" y="2679781"/>
                </a:lnTo>
                <a:lnTo>
                  <a:pt x="1635297" y="2690594"/>
                </a:lnTo>
                <a:lnTo>
                  <a:pt x="1680793" y="2700432"/>
                </a:lnTo>
                <a:lnTo>
                  <a:pt x="1726648" y="2709284"/>
                </a:lnTo>
                <a:lnTo>
                  <a:pt x="1772850" y="2717138"/>
                </a:lnTo>
                <a:lnTo>
                  <a:pt x="1819388" y="2723983"/>
                </a:lnTo>
                <a:lnTo>
                  <a:pt x="1866251" y="2729806"/>
                </a:lnTo>
                <a:lnTo>
                  <a:pt x="1913427" y="2734597"/>
                </a:lnTo>
                <a:lnTo>
                  <a:pt x="1960903" y="2738343"/>
                </a:lnTo>
                <a:lnTo>
                  <a:pt x="2008670" y="2741033"/>
                </a:lnTo>
                <a:lnTo>
                  <a:pt x="2056714" y="2742656"/>
                </a:lnTo>
                <a:lnTo>
                  <a:pt x="2105025" y="2743200"/>
                </a:lnTo>
                <a:lnTo>
                  <a:pt x="2153335" y="2742656"/>
                </a:lnTo>
                <a:lnTo>
                  <a:pt x="2201379" y="2741033"/>
                </a:lnTo>
                <a:lnTo>
                  <a:pt x="2228850" y="2739486"/>
                </a:lnTo>
                <a:lnTo>
                  <a:pt x="2228850" y="0"/>
                </a:lnTo>
                <a:close/>
              </a:path>
            </a:pathLst>
          </a:custGeom>
          <a:solidFill>
            <a:srgbClr val="5FA744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4848225"/>
            <a:ext cx="2190750" cy="2009775"/>
          </a:xfrm>
          <a:custGeom>
            <a:avLst/>
            <a:gdLst/>
            <a:ahLst/>
            <a:cxnLst/>
            <a:rect l="l" t="t" r="r" b="b"/>
            <a:pathLst>
              <a:path w="2190750" h="2009775">
                <a:moveTo>
                  <a:pt x="361950" y="0"/>
                </a:moveTo>
                <a:lnTo>
                  <a:pt x="314000" y="616"/>
                </a:lnTo>
                <a:lnTo>
                  <a:pt x="266356" y="2455"/>
                </a:lnTo>
                <a:lnTo>
                  <a:pt x="219030" y="5502"/>
                </a:lnTo>
                <a:lnTo>
                  <a:pt x="172038" y="9741"/>
                </a:lnTo>
                <a:lnTo>
                  <a:pt x="125396" y="15158"/>
                </a:lnTo>
                <a:lnTo>
                  <a:pt x="79119" y="21737"/>
                </a:lnTo>
                <a:lnTo>
                  <a:pt x="33220" y="29464"/>
                </a:lnTo>
                <a:lnTo>
                  <a:pt x="0" y="35932"/>
                </a:lnTo>
                <a:lnTo>
                  <a:pt x="0" y="2009775"/>
                </a:lnTo>
                <a:lnTo>
                  <a:pt x="2181814" y="2009775"/>
                </a:lnTo>
                <a:lnTo>
                  <a:pt x="2185247" y="1971719"/>
                </a:lnTo>
                <a:lnTo>
                  <a:pt x="2188294" y="1924393"/>
                </a:lnTo>
                <a:lnTo>
                  <a:pt x="2190133" y="1876749"/>
                </a:lnTo>
                <a:lnTo>
                  <a:pt x="2190750" y="1828800"/>
                </a:lnTo>
                <a:lnTo>
                  <a:pt x="2190133" y="1780850"/>
                </a:lnTo>
                <a:lnTo>
                  <a:pt x="2188294" y="1733206"/>
                </a:lnTo>
                <a:lnTo>
                  <a:pt x="2185247" y="1685880"/>
                </a:lnTo>
                <a:lnTo>
                  <a:pt x="2181008" y="1638888"/>
                </a:lnTo>
                <a:lnTo>
                  <a:pt x="2175591" y="1592246"/>
                </a:lnTo>
                <a:lnTo>
                  <a:pt x="2169012" y="1545969"/>
                </a:lnTo>
                <a:lnTo>
                  <a:pt x="2161285" y="1500070"/>
                </a:lnTo>
                <a:lnTo>
                  <a:pt x="2152427" y="1454567"/>
                </a:lnTo>
                <a:lnTo>
                  <a:pt x="2142450" y="1409472"/>
                </a:lnTo>
                <a:lnTo>
                  <a:pt x="2131372" y="1364803"/>
                </a:lnTo>
                <a:lnTo>
                  <a:pt x="2119206" y="1320573"/>
                </a:lnTo>
                <a:lnTo>
                  <a:pt x="2105968" y="1276798"/>
                </a:lnTo>
                <a:lnTo>
                  <a:pt x="2091673" y="1233492"/>
                </a:lnTo>
                <a:lnTo>
                  <a:pt x="2076337" y="1190672"/>
                </a:lnTo>
                <a:lnTo>
                  <a:pt x="2059973" y="1148351"/>
                </a:lnTo>
                <a:lnTo>
                  <a:pt x="2042597" y="1106546"/>
                </a:lnTo>
                <a:lnTo>
                  <a:pt x="2024225" y="1065270"/>
                </a:lnTo>
                <a:lnTo>
                  <a:pt x="2004870" y="1024540"/>
                </a:lnTo>
                <a:lnTo>
                  <a:pt x="1984549" y="984369"/>
                </a:lnTo>
                <a:lnTo>
                  <a:pt x="1963277" y="944774"/>
                </a:lnTo>
                <a:lnTo>
                  <a:pt x="1941067" y="905769"/>
                </a:lnTo>
                <a:lnTo>
                  <a:pt x="1917937" y="867370"/>
                </a:lnTo>
                <a:lnTo>
                  <a:pt x="1893899" y="829590"/>
                </a:lnTo>
                <a:lnTo>
                  <a:pt x="1868971" y="792447"/>
                </a:lnTo>
                <a:lnTo>
                  <a:pt x="1843166" y="755953"/>
                </a:lnTo>
                <a:lnTo>
                  <a:pt x="1816499" y="720126"/>
                </a:lnTo>
                <a:lnTo>
                  <a:pt x="1788987" y="684978"/>
                </a:lnTo>
                <a:lnTo>
                  <a:pt x="1760643" y="650527"/>
                </a:lnTo>
                <a:lnTo>
                  <a:pt x="1731483" y="616786"/>
                </a:lnTo>
                <a:lnTo>
                  <a:pt x="1701522" y="583771"/>
                </a:lnTo>
                <a:lnTo>
                  <a:pt x="1670775" y="551497"/>
                </a:lnTo>
                <a:lnTo>
                  <a:pt x="1639257" y="519979"/>
                </a:lnTo>
                <a:lnTo>
                  <a:pt x="1606983" y="489232"/>
                </a:lnTo>
                <a:lnTo>
                  <a:pt x="1573968" y="459270"/>
                </a:lnTo>
                <a:lnTo>
                  <a:pt x="1540227" y="430110"/>
                </a:lnTo>
                <a:lnTo>
                  <a:pt x="1505776" y="401766"/>
                </a:lnTo>
                <a:lnTo>
                  <a:pt x="1470629" y="374254"/>
                </a:lnTo>
                <a:lnTo>
                  <a:pt x="1434801" y="347587"/>
                </a:lnTo>
                <a:lnTo>
                  <a:pt x="1398308" y="321782"/>
                </a:lnTo>
                <a:lnTo>
                  <a:pt x="1361164" y="296853"/>
                </a:lnTo>
                <a:lnTo>
                  <a:pt x="1323385" y="272815"/>
                </a:lnTo>
                <a:lnTo>
                  <a:pt x="1284986" y="249684"/>
                </a:lnTo>
                <a:lnTo>
                  <a:pt x="1245981" y="227475"/>
                </a:lnTo>
                <a:lnTo>
                  <a:pt x="1206385" y="206202"/>
                </a:lnTo>
                <a:lnTo>
                  <a:pt x="1166215" y="185881"/>
                </a:lnTo>
                <a:lnTo>
                  <a:pt x="1125484" y="166526"/>
                </a:lnTo>
                <a:lnTo>
                  <a:pt x="1084209" y="148154"/>
                </a:lnTo>
                <a:lnTo>
                  <a:pt x="1042403" y="130778"/>
                </a:lnTo>
                <a:lnTo>
                  <a:pt x="1000082" y="114414"/>
                </a:lnTo>
                <a:lnTo>
                  <a:pt x="957261" y="99077"/>
                </a:lnTo>
                <a:lnTo>
                  <a:pt x="913956" y="84782"/>
                </a:lnTo>
                <a:lnTo>
                  <a:pt x="870181" y="71544"/>
                </a:lnTo>
                <a:lnTo>
                  <a:pt x="825950" y="59378"/>
                </a:lnTo>
                <a:lnTo>
                  <a:pt x="781281" y="48299"/>
                </a:lnTo>
                <a:lnTo>
                  <a:pt x="736186" y="38323"/>
                </a:lnTo>
                <a:lnTo>
                  <a:pt x="690682" y="29464"/>
                </a:lnTo>
                <a:lnTo>
                  <a:pt x="644783" y="21737"/>
                </a:lnTo>
                <a:lnTo>
                  <a:pt x="598505" y="15158"/>
                </a:lnTo>
                <a:lnTo>
                  <a:pt x="551863" y="9741"/>
                </a:lnTo>
                <a:lnTo>
                  <a:pt x="504871" y="5502"/>
                </a:lnTo>
                <a:lnTo>
                  <a:pt x="457545" y="2455"/>
                </a:lnTo>
                <a:lnTo>
                  <a:pt x="409899" y="616"/>
                </a:lnTo>
                <a:lnTo>
                  <a:pt x="361950" y="0"/>
                </a:lnTo>
                <a:close/>
              </a:path>
            </a:pathLst>
          </a:custGeom>
          <a:solidFill>
            <a:srgbClr val="F16421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877550" y="5124450"/>
            <a:ext cx="1314450" cy="1733550"/>
          </a:xfrm>
          <a:custGeom>
            <a:avLst/>
            <a:gdLst/>
            <a:ahLst/>
            <a:cxnLst/>
            <a:rect l="l" t="t" r="r" b="b"/>
            <a:pathLst>
              <a:path w="1314450" h="1733550">
                <a:moveTo>
                  <a:pt x="962025" y="0"/>
                </a:moveTo>
                <a:lnTo>
                  <a:pt x="914005" y="1171"/>
                </a:lnTo>
                <a:lnTo>
                  <a:pt x="866595" y="4649"/>
                </a:lnTo>
                <a:lnTo>
                  <a:pt x="819851" y="10380"/>
                </a:lnTo>
                <a:lnTo>
                  <a:pt x="773826" y="18307"/>
                </a:lnTo>
                <a:lnTo>
                  <a:pt x="728577" y="28376"/>
                </a:lnTo>
                <a:lnTo>
                  <a:pt x="684158" y="40533"/>
                </a:lnTo>
                <a:lnTo>
                  <a:pt x="640625" y="54722"/>
                </a:lnTo>
                <a:lnTo>
                  <a:pt x="598032" y="70888"/>
                </a:lnTo>
                <a:lnTo>
                  <a:pt x="556435" y="88977"/>
                </a:lnTo>
                <a:lnTo>
                  <a:pt x="515888" y="108934"/>
                </a:lnTo>
                <a:lnTo>
                  <a:pt x="476447" y="130704"/>
                </a:lnTo>
                <a:lnTo>
                  <a:pt x="438167" y="154232"/>
                </a:lnTo>
                <a:lnTo>
                  <a:pt x="401103" y="179463"/>
                </a:lnTo>
                <a:lnTo>
                  <a:pt x="365310" y="206342"/>
                </a:lnTo>
                <a:lnTo>
                  <a:pt x="330843" y="234815"/>
                </a:lnTo>
                <a:lnTo>
                  <a:pt x="297757" y="264826"/>
                </a:lnTo>
                <a:lnTo>
                  <a:pt x="266107" y="296321"/>
                </a:lnTo>
                <a:lnTo>
                  <a:pt x="235949" y="329245"/>
                </a:lnTo>
                <a:lnTo>
                  <a:pt x="207337" y="363543"/>
                </a:lnTo>
                <a:lnTo>
                  <a:pt x="180327" y="399161"/>
                </a:lnTo>
                <a:lnTo>
                  <a:pt x="154973" y="436042"/>
                </a:lnTo>
                <a:lnTo>
                  <a:pt x="131332" y="474133"/>
                </a:lnTo>
                <a:lnTo>
                  <a:pt x="109457" y="513378"/>
                </a:lnTo>
                <a:lnTo>
                  <a:pt x="89403" y="553723"/>
                </a:lnTo>
                <a:lnTo>
                  <a:pt x="71227" y="595113"/>
                </a:lnTo>
                <a:lnTo>
                  <a:pt x="54983" y="637493"/>
                </a:lnTo>
                <a:lnTo>
                  <a:pt x="40726" y="680808"/>
                </a:lnTo>
                <a:lnTo>
                  <a:pt x="28511" y="725003"/>
                </a:lnTo>
                <a:lnTo>
                  <a:pt x="18394" y="770024"/>
                </a:lnTo>
                <a:lnTo>
                  <a:pt x="10429" y="815815"/>
                </a:lnTo>
                <a:lnTo>
                  <a:pt x="4672" y="862321"/>
                </a:lnTo>
                <a:lnTo>
                  <a:pt x="1177" y="909489"/>
                </a:lnTo>
                <a:lnTo>
                  <a:pt x="0" y="957262"/>
                </a:lnTo>
                <a:lnTo>
                  <a:pt x="1177" y="1005039"/>
                </a:lnTo>
                <a:lnTo>
                  <a:pt x="4672" y="1052209"/>
                </a:lnTo>
                <a:lnTo>
                  <a:pt x="10429" y="1098718"/>
                </a:lnTo>
                <a:lnTo>
                  <a:pt x="18394" y="1144511"/>
                </a:lnTo>
                <a:lnTo>
                  <a:pt x="28511" y="1189533"/>
                </a:lnTo>
                <a:lnTo>
                  <a:pt x="40726" y="1233730"/>
                </a:lnTo>
                <a:lnTo>
                  <a:pt x="54983" y="1277046"/>
                </a:lnTo>
                <a:lnTo>
                  <a:pt x="71227" y="1319427"/>
                </a:lnTo>
                <a:lnTo>
                  <a:pt x="89403" y="1360817"/>
                </a:lnTo>
                <a:lnTo>
                  <a:pt x="109457" y="1401163"/>
                </a:lnTo>
                <a:lnTo>
                  <a:pt x="131332" y="1440408"/>
                </a:lnTo>
                <a:lnTo>
                  <a:pt x="154973" y="1478499"/>
                </a:lnTo>
                <a:lnTo>
                  <a:pt x="180327" y="1515380"/>
                </a:lnTo>
                <a:lnTo>
                  <a:pt x="207337" y="1550997"/>
                </a:lnTo>
                <a:lnTo>
                  <a:pt x="235949" y="1585294"/>
                </a:lnTo>
                <a:lnTo>
                  <a:pt x="266107" y="1618217"/>
                </a:lnTo>
                <a:lnTo>
                  <a:pt x="297757" y="1649712"/>
                </a:lnTo>
                <a:lnTo>
                  <a:pt x="330843" y="1679722"/>
                </a:lnTo>
                <a:lnTo>
                  <a:pt x="365310" y="1708194"/>
                </a:lnTo>
                <a:lnTo>
                  <a:pt x="399075" y="1733550"/>
                </a:lnTo>
                <a:lnTo>
                  <a:pt x="1314450" y="1733550"/>
                </a:lnTo>
                <a:lnTo>
                  <a:pt x="1314450" y="66497"/>
                </a:lnTo>
                <a:lnTo>
                  <a:pt x="1283424" y="54722"/>
                </a:lnTo>
                <a:lnTo>
                  <a:pt x="1239891" y="40533"/>
                </a:lnTo>
                <a:lnTo>
                  <a:pt x="1195472" y="28376"/>
                </a:lnTo>
                <a:lnTo>
                  <a:pt x="1150223" y="18307"/>
                </a:lnTo>
                <a:lnTo>
                  <a:pt x="1104198" y="10380"/>
                </a:lnTo>
                <a:lnTo>
                  <a:pt x="1057454" y="4649"/>
                </a:lnTo>
                <a:lnTo>
                  <a:pt x="1010044" y="1171"/>
                </a:lnTo>
                <a:lnTo>
                  <a:pt x="962025" y="0"/>
                </a:lnTo>
                <a:close/>
              </a:path>
            </a:pathLst>
          </a:custGeom>
          <a:solidFill>
            <a:srgbClr val="F16421">
              <a:alpha val="2509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FFFFFF"/>
                </a:solidFill>
              </a:rPr>
              <a:t>ARCHITECTURE</a:t>
            </a:r>
            <a:r>
              <a:rPr dirty="0" spc="-2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DIAGRAM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2562225" y="1638236"/>
            <a:ext cx="7072630" cy="767080"/>
            <a:chOff x="2562225" y="1638236"/>
            <a:chExt cx="7072630" cy="76708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2225" y="1638236"/>
              <a:ext cx="7072376" cy="76676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647950" y="1695449"/>
              <a:ext cx="6905625" cy="600075"/>
            </a:xfrm>
            <a:custGeom>
              <a:avLst/>
              <a:gdLst/>
              <a:ahLst/>
              <a:cxnLst/>
              <a:rect l="l" t="t" r="r" b="b"/>
              <a:pathLst>
                <a:path w="6905625" h="600075">
                  <a:moveTo>
                    <a:pt x="6823836" y="0"/>
                  </a:moveTo>
                  <a:lnTo>
                    <a:pt x="81787" y="0"/>
                  </a:lnTo>
                  <a:lnTo>
                    <a:pt x="49934" y="6421"/>
                  </a:lnTo>
                  <a:lnTo>
                    <a:pt x="23939" y="23939"/>
                  </a:lnTo>
                  <a:lnTo>
                    <a:pt x="6421" y="49934"/>
                  </a:lnTo>
                  <a:lnTo>
                    <a:pt x="0" y="81787"/>
                  </a:lnTo>
                  <a:lnTo>
                    <a:pt x="0" y="518287"/>
                  </a:lnTo>
                  <a:lnTo>
                    <a:pt x="6421" y="550140"/>
                  </a:lnTo>
                  <a:lnTo>
                    <a:pt x="23939" y="576135"/>
                  </a:lnTo>
                  <a:lnTo>
                    <a:pt x="49934" y="593653"/>
                  </a:lnTo>
                  <a:lnTo>
                    <a:pt x="81787" y="600075"/>
                  </a:lnTo>
                  <a:lnTo>
                    <a:pt x="6823836" y="600075"/>
                  </a:lnTo>
                  <a:lnTo>
                    <a:pt x="6855690" y="593653"/>
                  </a:lnTo>
                  <a:lnTo>
                    <a:pt x="6881685" y="576135"/>
                  </a:lnTo>
                  <a:lnTo>
                    <a:pt x="6899203" y="550140"/>
                  </a:lnTo>
                  <a:lnTo>
                    <a:pt x="6905625" y="518287"/>
                  </a:lnTo>
                  <a:lnTo>
                    <a:pt x="6905625" y="81787"/>
                  </a:lnTo>
                  <a:lnTo>
                    <a:pt x="6899203" y="49934"/>
                  </a:lnTo>
                  <a:lnTo>
                    <a:pt x="6881685" y="23939"/>
                  </a:lnTo>
                  <a:lnTo>
                    <a:pt x="6855690" y="6421"/>
                  </a:lnTo>
                  <a:lnTo>
                    <a:pt x="6823836" y="0"/>
                  </a:lnTo>
                  <a:close/>
                </a:path>
              </a:pathLst>
            </a:custGeom>
            <a:solidFill>
              <a:srgbClr val="F164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525390" y="1870773"/>
            <a:ext cx="316928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2335A"/>
                </a:solidFill>
                <a:latin typeface="Times New Roman"/>
                <a:cs typeface="Times New Roman"/>
              </a:rPr>
              <a:t>National</a:t>
            </a:r>
            <a:r>
              <a:rPr dirty="0" sz="1350" spc="20" b="1">
                <a:solidFill>
                  <a:srgbClr val="12335A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12335A"/>
                </a:solidFill>
                <a:latin typeface="Times New Roman"/>
                <a:cs typeface="Times New Roman"/>
              </a:rPr>
              <a:t>Nutrition</a:t>
            </a:r>
            <a:r>
              <a:rPr dirty="0" sz="1350" spc="-55" b="1">
                <a:solidFill>
                  <a:srgbClr val="12335A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12335A"/>
                </a:solidFill>
                <a:latin typeface="Times New Roman"/>
                <a:cs typeface="Times New Roman"/>
              </a:rPr>
              <a:t>/</a:t>
            </a:r>
            <a:r>
              <a:rPr dirty="0" sz="1350" spc="25" b="1">
                <a:solidFill>
                  <a:srgbClr val="12335A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12335A"/>
                </a:solidFill>
                <a:latin typeface="Times New Roman"/>
                <a:cs typeface="Times New Roman"/>
              </a:rPr>
              <a:t>Health</a:t>
            </a:r>
            <a:r>
              <a:rPr dirty="0" sz="1350" spc="-55" b="1">
                <a:solidFill>
                  <a:srgbClr val="12335A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12335A"/>
                </a:solidFill>
                <a:latin typeface="Times New Roman"/>
                <a:cs typeface="Times New Roman"/>
              </a:rPr>
              <a:t>Survey</a:t>
            </a:r>
            <a:r>
              <a:rPr dirty="0" sz="1350" spc="20" b="1">
                <a:solidFill>
                  <a:srgbClr val="12335A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12335A"/>
                </a:solidFill>
                <a:latin typeface="Times New Roman"/>
                <a:cs typeface="Times New Roman"/>
              </a:rPr>
              <a:t>Dataset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62225" y="2295525"/>
            <a:ext cx="7072630" cy="881380"/>
            <a:chOff x="2562225" y="2295525"/>
            <a:chExt cx="7072630" cy="881380"/>
          </a:xfrm>
        </p:grpSpPr>
        <p:sp>
          <p:nvSpPr>
            <p:cNvPr id="12" name="object 12"/>
            <p:cNvSpPr/>
            <p:nvPr/>
          </p:nvSpPr>
          <p:spPr>
            <a:xfrm>
              <a:off x="6019800" y="2295525"/>
              <a:ext cx="161925" cy="152400"/>
            </a:xfrm>
            <a:custGeom>
              <a:avLst/>
              <a:gdLst/>
              <a:ahLst/>
              <a:cxnLst/>
              <a:rect l="l" t="t" r="r" b="b"/>
              <a:pathLst>
                <a:path w="161925" h="152400">
                  <a:moveTo>
                    <a:pt x="161925" y="0"/>
                  </a:moveTo>
                  <a:lnTo>
                    <a:pt x="0" y="0"/>
                  </a:lnTo>
                  <a:lnTo>
                    <a:pt x="81025" y="152400"/>
                  </a:lnTo>
                  <a:lnTo>
                    <a:pt x="161925" y="0"/>
                  </a:lnTo>
                  <a:close/>
                </a:path>
              </a:pathLst>
            </a:custGeom>
            <a:solidFill>
              <a:srgbClr val="F164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2225" y="2409761"/>
              <a:ext cx="7072376" cy="76676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647950" y="2466975"/>
              <a:ext cx="6905625" cy="600075"/>
            </a:xfrm>
            <a:custGeom>
              <a:avLst/>
              <a:gdLst/>
              <a:ahLst/>
              <a:cxnLst/>
              <a:rect l="l" t="t" r="r" b="b"/>
              <a:pathLst>
                <a:path w="6905625" h="600075">
                  <a:moveTo>
                    <a:pt x="6823836" y="0"/>
                  </a:moveTo>
                  <a:lnTo>
                    <a:pt x="81787" y="0"/>
                  </a:lnTo>
                  <a:lnTo>
                    <a:pt x="49934" y="6421"/>
                  </a:lnTo>
                  <a:lnTo>
                    <a:pt x="23939" y="23939"/>
                  </a:lnTo>
                  <a:lnTo>
                    <a:pt x="6421" y="49934"/>
                  </a:lnTo>
                  <a:lnTo>
                    <a:pt x="0" y="81787"/>
                  </a:lnTo>
                  <a:lnTo>
                    <a:pt x="0" y="518287"/>
                  </a:lnTo>
                  <a:lnTo>
                    <a:pt x="6421" y="550140"/>
                  </a:lnTo>
                  <a:lnTo>
                    <a:pt x="23939" y="576135"/>
                  </a:lnTo>
                  <a:lnTo>
                    <a:pt x="49934" y="593653"/>
                  </a:lnTo>
                  <a:lnTo>
                    <a:pt x="81787" y="600075"/>
                  </a:lnTo>
                  <a:lnTo>
                    <a:pt x="6823836" y="600075"/>
                  </a:lnTo>
                  <a:lnTo>
                    <a:pt x="6855690" y="593653"/>
                  </a:lnTo>
                  <a:lnTo>
                    <a:pt x="6881685" y="576135"/>
                  </a:lnTo>
                  <a:lnTo>
                    <a:pt x="6899203" y="550140"/>
                  </a:lnTo>
                  <a:lnTo>
                    <a:pt x="6905625" y="518287"/>
                  </a:lnTo>
                  <a:lnTo>
                    <a:pt x="6905625" y="81787"/>
                  </a:lnTo>
                  <a:lnTo>
                    <a:pt x="6899203" y="49934"/>
                  </a:lnTo>
                  <a:lnTo>
                    <a:pt x="6881685" y="23939"/>
                  </a:lnTo>
                  <a:lnTo>
                    <a:pt x="6855690" y="6421"/>
                  </a:lnTo>
                  <a:lnTo>
                    <a:pt x="68238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575809" y="2644457"/>
            <a:ext cx="307403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D4E88"/>
                </a:solidFill>
                <a:latin typeface="Times New Roman"/>
                <a:cs typeface="Times New Roman"/>
              </a:rPr>
              <a:t>Data</a:t>
            </a:r>
            <a:r>
              <a:rPr dirty="0" sz="1350" spc="35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1D4E88"/>
                </a:solidFill>
                <a:latin typeface="Times New Roman"/>
                <a:cs typeface="Times New Roman"/>
              </a:rPr>
              <a:t>Preprocessing</a:t>
            </a:r>
            <a:r>
              <a:rPr dirty="0" sz="1350" spc="-30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1D4E88"/>
                </a:solidFill>
                <a:latin typeface="Times New Roman"/>
                <a:cs typeface="Times New Roman"/>
              </a:rPr>
              <a:t>&amp;</a:t>
            </a:r>
            <a:r>
              <a:rPr dirty="0" sz="1350" spc="45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1D4E88"/>
                </a:solidFill>
                <a:latin typeface="Times New Roman"/>
                <a:cs typeface="Times New Roman"/>
              </a:rPr>
              <a:t>Cleaning</a:t>
            </a:r>
            <a:r>
              <a:rPr dirty="0" sz="1350" spc="365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1D4E88"/>
                </a:solidFill>
                <a:latin typeface="Times New Roman"/>
                <a:cs typeface="Times New Roman"/>
              </a:rPr>
              <a:t>(Pandas)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62225" y="3067050"/>
            <a:ext cx="7072630" cy="881380"/>
            <a:chOff x="2562225" y="3067050"/>
            <a:chExt cx="7072630" cy="881380"/>
          </a:xfrm>
        </p:grpSpPr>
        <p:sp>
          <p:nvSpPr>
            <p:cNvPr id="17" name="object 17"/>
            <p:cNvSpPr/>
            <p:nvPr/>
          </p:nvSpPr>
          <p:spPr>
            <a:xfrm>
              <a:off x="6019800" y="3067050"/>
              <a:ext cx="161925" cy="152400"/>
            </a:xfrm>
            <a:custGeom>
              <a:avLst/>
              <a:gdLst/>
              <a:ahLst/>
              <a:cxnLst/>
              <a:rect l="l" t="t" r="r" b="b"/>
              <a:pathLst>
                <a:path w="161925" h="152400">
                  <a:moveTo>
                    <a:pt x="161925" y="0"/>
                  </a:moveTo>
                  <a:lnTo>
                    <a:pt x="0" y="0"/>
                  </a:lnTo>
                  <a:lnTo>
                    <a:pt x="81025" y="152400"/>
                  </a:lnTo>
                  <a:lnTo>
                    <a:pt x="161925" y="0"/>
                  </a:lnTo>
                  <a:close/>
                </a:path>
              </a:pathLst>
            </a:custGeom>
            <a:solidFill>
              <a:srgbClr val="F164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2225" y="3181286"/>
              <a:ext cx="7072376" cy="76676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647950" y="3238500"/>
              <a:ext cx="6905625" cy="600075"/>
            </a:xfrm>
            <a:custGeom>
              <a:avLst/>
              <a:gdLst/>
              <a:ahLst/>
              <a:cxnLst/>
              <a:rect l="l" t="t" r="r" b="b"/>
              <a:pathLst>
                <a:path w="6905625" h="600075">
                  <a:moveTo>
                    <a:pt x="6823836" y="0"/>
                  </a:moveTo>
                  <a:lnTo>
                    <a:pt x="81787" y="0"/>
                  </a:lnTo>
                  <a:lnTo>
                    <a:pt x="49934" y="6421"/>
                  </a:lnTo>
                  <a:lnTo>
                    <a:pt x="23939" y="23939"/>
                  </a:lnTo>
                  <a:lnTo>
                    <a:pt x="6421" y="49934"/>
                  </a:lnTo>
                  <a:lnTo>
                    <a:pt x="0" y="81787"/>
                  </a:lnTo>
                  <a:lnTo>
                    <a:pt x="0" y="518287"/>
                  </a:lnTo>
                  <a:lnTo>
                    <a:pt x="6421" y="550140"/>
                  </a:lnTo>
                  <a:lnTo>
                    <a:pt x="23939" y="576135"/>
                  </a:lnTo>
                  <a:lnTo>
                    <a:pt x="49934" y="593653"/>
                  </a:lnTo>
                  <a:lnTo>
                    <a:pt x="81787" y="600075"/>
                  </a:lnTo>
                  <a:lnTo>
                    <a:pt x="6823836" y="600075"/>
                  </a:lnTo>
                  <a:lnTo>
                    <a:pt x="6855690" y="593653"/>
                  </a:lnTo>
                  <a:lnTo>
                    <a:pt x="6881685" y="576135"/>
                  </a:lnTo>
                  <a:lnTo>
                    <a:pt x="6899203" y="550140"/>
                  </a:lnTo>
                  <a:lnTo>
                    <a:pt x="6905625" y="518287"/>
                  </a:lnTo>
                  <a:lnTo>
                    <a:pt x="6905625" y="81787"/>
                  </a:lnTo>
                  <a:lnTo>
                    <a:pt x="6899203" y="49934"/>
                  </a:lnTo>
                  <a:lnTo>
                    <a:pt x="6881685" y="23939"/>
                  </a:lnTo>
                  <a:lnTo>
                    <a:pt x="6855690" y="6421"/>
                  </a:lnTo>
                  <a:lnTo>
                    <a:pt x="68238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112895" y="3418141"/>
            <a:ext cx="398716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D4E88"/>
                </a:solidFill>
                <a:latin typeface="Times New Roman"/>
                <a:cs typeface="Times New Roman"/>
              </a:rPr>
              <a:t>Regional</a:t>
            </a:r>
            <a:r>
              <a:rPr dirty="0" sz="1350" spc="5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1D4E88"/>
                </a:solidFill>
                <a:latin typeface="Times New Roman"/>
                <a:cs typeface="Times New Roman"/>
              </a:rPr>
              <a:t>Mapping</a:t>
            </a:r>
            <a:r>
              <a:rPr dirty="0" sz="1350" spc="-65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1D4E88"/>
                </a:solidFill>
                <a:latin typeface="Times New Roman"/>
                <a:cs typeface="Times New Roman"/>
              </a:rPr>
              <a:t>Engine</a:t>
            </a:r>
            <a:r>
              <a:rPr dirty="0" sz="1350" spc="280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1D4E88"/>
                </a:solidFill>
                <a:latin typeface="Times New Roman"/>
                <a:cs typeface="Times New Roman"/>
              </a:rPr>
              <a:t>(GeoPandas</a:t>
            </a:r>
            <a:r>
              <a:rPr dirty="0" sz="1350" spc="10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1D4E88"/>
                </a:solidFill>
                <a:latin typeface="Times New Roman"/>
                <a:cs typeface="Times New Roman"/>
              </a:rPr>
              <a:t>+</a:t>
            </a:r>
            <a:r>
              <a:rPr dirty="0" sz="1350" spc="-80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1D4E88"/>
                </a:solidFill>
                <a:latin typeface="Times New Roman"/>
                <a:cs typeface="Times New Roman"/>
              </a:rPr>
              <a:t>Choropleth)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562225" y="3838575"/>
            <a:ext cx="7072630" cy="881380"/>
            <a:chOff x="2562225" y="3838575"/>
            <a:chExt cx="7072630" cy="881380"/>
          </a:xfrm>
        </p:grpSpPr>
        <p:sp>
          <p:nvSpPr>
            <p:cNvPr id="22" name="object 22"/>
            <p:cNvSpPr/>
            <p:nvPr/>
          </p:nvSpPr>
          <p:spPr>
            <a:xfrm>
              <a:off x="6019800" y="3838575"/>
              <a:ext cx="161925" cy="152400"/>
            </a:xfrm>
            <a:custGeom>
              <a:avLst/>
              <a:gdLst/>
              <a:ahLst/>
              <a:cxnLst/>
              <a:rect l="l" t="t" r="r" b="b"/>
              <a:pathLst>
                <a:path w="161925" h="152400">
                  <a:moveTo>
                    <a:pt x="161925" y="0"/>
                  </a:moveTo>
                  <a:lnTo>
                    <a:pt x="0" y="0"/>
                  </a:lnTo>
                  <a:lnTo>
                    <a:pt x="81025" y="152400"/>
                  </a:lnTo>
                  <a:lnTo>
                    <a:pt x="161925" y="0"/>
                  </a:lnTo>
                  <a:close/>
                </a:path>
              </a:pathLst>
            </a:custGeom>
            <a:solidFill>
              <a:srgbClr val="F164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2225" y="3952811"/>
              <a:ext cx="7072376" cy="76676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647950" y="4010025"/>
              <a:ext cx="6905625" cy="600075"/>
            </a:xfrm>
            <a:custGeom>
              <a:avLst/>
              <a:gdLst/>
              <a:ahLst/>
              <a:cxnLst/>
              <a:rect l="l" t="t" r="r" b="b"/>
              <a:pathLst>
                <a:path w="6905625" h="600075">
                  <a:moveTo>
                    <a:pt x="6823836" y="0"/>
                  </a:moveTo>
                  <a:lnTo>
                    <a:pt x="81787" y="0"/>
                  </a:lnTo>
                  <a:lnTo>
                    <a:pt x="49934" y="6421"/>
                  </a:lnTo>
                  <a:lnTo>
                    <a:pt x="23939" y="23939"/>
                  </a:lnTo>
                  <a:lnTo>
                    <a:pt x="6421" y="49934"/>
                  </a:lnTo>
                  <a:lnTo>
                    <a:pt x="0" y="81787"/>
                  </a:lnTo>
                  <a:lnTo>
                    <a:pt x="0" y="518287"/>
                  </a:lnTo>
                  <a:lnTo>
                    <a:pt x="6421" y="550140"/>
                  </a:lnTo>
                  <a:lnTo>
                    <a:pt x="23939" y="576135"/>
                  </a:lnTo>
                  <a:lnTo>
                    <a:pt x="49934" y="593653"/>
                  </a:lnTo>
                  <a:lnTo>
                    <a:pt x="81787" y="600075"/>
                  </a:lnTo>
                  <a:lnTo>
                    <a:pt x="6823836" y="600075"/>
                  </a:lnTo>
                  <a:lnTo>
                    <a:pt x="6855690" y="593653"/>
                  </a:lnTo>
                  <a:lnTo>
                    <a:pt x="6881685" y="576135"/>
                  </a:lnTo>
                  <a:lnTo>
                    <a:pt x="6899203" y="550140"/>
                  </a:lnTo>
                  <a:lnTo>
                    <a:pt x="6905625" y="518287"/>
                  </a:lnTo>
                  <a:lnTo>
                    <a:pt x="6905625" y="81787"/>
                  </a:lnTo>
                  <a:lnTo>
                    <a:pt x="6899203" y="49934"/>
                  </a:lnTo>
                  <a:lnTo>
                    <a:pt x="6881685" y="23939"/>
                  </a:lnTo>
                  <a:lnTo>
                    <a:pt x="6855690" y="6421"/>
                  </a:lnTo>
                  <a:lnTo>
                    <a:pt x="68238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752215" y="4191952"/>
            <a:ext cx="471106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D4E88"/>
                </a:solidFill>
                <a:latin typeface="Times New Roman"/>
                <a:cs typeface="Times New Roman"/>
              </a:rPr>
              <a:t>Distribution</a:t>
            </a:r>
            <a:r>
              <a:rPr dirty="0" sz="1350" spc="10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1D4E88"/>
                </a:solidFill>
                <a:latin typeface="Times New Roman"/>
                <a:cs typeface="Times New Roman"/>
              </a:rPr>
              <a:t>&amp;</a:t>
            </a:r>
            <a:r>
              <a:rPr dirty="0" sz="1350" spc="-45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1D4E88"/>
                </a:solidFill>
                <a:latin typeface="Times New Roman"/>
                <a:cs typeface="Times New Roman"/>
              </a:rPr>
              <a:t>Proportion</a:t>
            </a:r>
            <a:r>
              <a:rPr dirty="0" sz="1350" spc="-114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1D4E88"/>
                </a:solidFill>
                <a:latin typeface="Times New Roman"/>
                <a:cs typeface="Times New Roman"/>
              </a:rPr>
              <a:t>Analysis</a:t>
            </a:r>
            <a:r>
              <a:rPr dirty="0" sz="1350" spc="320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1D4E88"/>
                </a:solidFill>
                <a:latin typeface="Times New Roman"/>
                <a:cs typeface="Times New Roman"/>
              </a:rPr>
              <a:t>(Histograms,</a:t>
            </a:r>
            <a:r>
              <a:rPr dirty="0" sz="1350" spc="-10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1D4E88"/>
                </a:solidFill>
                <a:latin typeface="Times New Roman"/>
                <a:cs typeface="Times New Roman"/>
              </a:rPr>
              <a:t>Stacked</a:t>
            </a:r>
            <a:r>
              <a:rPr dirty="0" sz="1350" spc="30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1D4E88"/>
                </a:solidFill>
                <a:latin typeface="Times New Roman"/>
                <a:cs typeface="Times New Roman"/>
              </a:rPr>
              <a:t>Bars)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562225" y="4619625"/>
            <a:ext cx="7072630" cy="871855"/>
            <a:chOff x="2562225" y="4619625"/>
            <a:chExt cx="7072630" cy="871855"/>
          </a:xfrm>
        </p:grpSpPr>
        <p:sp>
          <p:nvSpPr>
            <p:cNvPr id="27" name="object 27"/>
            <p:cNvSpPr/>
            <p:nvPr/>
          </p:nvSpPr>
          <p:spPr>
            <a:xfrm>
              <a:off x="6019800" y="4619625"/>
              <a:ext cx="161925" cy="142875"/>
            </a:xfrm>
            <a:custGeom>
              <a:avLst/>
              <a:gdLst/>
              <a:ahLst/>
              <a:cxnLst/>
              <a:rect l="l" t="t" r="r" b="b"/>
              <a:pathLst>
                <a:path w="161925" h="142875">
                  <a:moveTo>
                    <a:pt x="161925" y="0"/>
                  </a:moveTo>
                  <a:lnTo>
                    <a:pt x="0" y="0"/>
                  </a:lnTo>
                  <a:lnTo>
                    <a:pt x="81025" y="142875"/>
                  </a:lnTo>
                  <a:lnTo>
                    <a:pt x="161925" y="0"/>
                  </a:lnTo>
                  <a:close/>
                </a:path>
              </a:pathLst>
            </a:custGeom>
            <a:solidFill>
              <a:srgbClr val="F164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2225" y="4724463"/>
              <a:ext cx="7072376" cy="76676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647950" y="4781550"/>
              <a:ext cx="6905625" cy="600075"/>
            </a:xfrm>
            <a:custGeom>
              <a:avLst/>
              <a:gdLst/>
              <a:ahLst/>
              <a:cxnLst/>
              <a:rect l="l" t="t" r="r" b="b"/>
              <a:pathLst>
                <a:path w="6905625" h="600075">
                  <a:moveTo>
                    <a:pt x="6823836" y="0"/>
                  </a:moveTo>
                  <a:lnTo>
                    <a:pt x="81787" y="0"/>
                  </a:lnTo>
                  <a:lnTo>
                    <a:pt x="49934" y="6421"/>
                  </a:lnTo>
                  <a:lnTo>
                    <a:pt x="23939" y="23939"/>
                  </a:lnTo>
                  <a:lnTo>
                    <a:pt x="6421" y="49934"/>
                  </a:lnTo>
                  <a:lnTo>
                    <a:pt x="0" y="81787"/>
                  </a:lnTo>
                  <a:lnTo>
                    <a:pt x="0" y="518287"/>
                  </a:lnTo>
                  <a:lnTo>
                    <a:pt x="6421" y="550140"/>
                  </a:lnTo>
                  <a:lnTo>
                    <a:pt x="23939" y="576135"/>
                  </a:lnTo>
                  <a:lnTo>
                    <a:pt x="49934" y="593653"/>
                  </a:lnTo>
                  <a:lnTo>
                    <a:pt x="81787" y="600075"/>
                  </a:lnTo>
                  <a:lnTo>
                    <a:pt x="6823836" y="600075"/>
                  </a:lnTo>
                  <a:lnTo>
                    <a:pt x="6855690" y="593653"/>
                  </a:lnTo>
                  <a:lnTo>
                    <a:pt x="6881685" y="576135"/>
                  </a:lnTo>
                  <a:lnTo>
                    <a:pt x="6899203" y="550140"/>
                  </a:lnTo>
                  <a:lnTo>
                    <a:pt x="6905625" y="518287"/>
                  </a:lnTo>
                  <a:lnTo>
                    <a:pt x="6905625" y="81787"/>
                  </a:lnTo>
                  <a:lnTo>
                    <a:pt x="6899203" y="49934"/>
                  </a:lnTo>
                  <a:lnTo>
                    <a:pt x="6881685" y="23939"/>
                  </a:lnTo>
                  <a:lnTo>
                    <a:pt x="6855690" y="6421"/>
                  </a:lnTo>
                  <a:lnTo>
                    <a:pt x="68238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853179" y="4965763"/>
            <a:ext cx="451167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D4E88"/>
                </a:solidFill>
                <a:latin typeface="Times New Roman"/>
                <a:cs typeface="Times New Roman"/>
              </a:rPr>
              <a:t>Uncertainty</a:t>
            </a:r>
            <a:r>
              <a:rPr dirty="0" sz="1350" spc="20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1D4E88"/>
                </a:solidFill>
                <a:latin typeface="Times New Roman"/>
                <a:cs typeface="Times New Roman"/>
              </a:rPr>
              <a:t>Estimation</a:t>
            </a:r>
            <a:r>
              <a:rPr dirty="0" sz="1350" spc="315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1D4E88"/>
                </a:solidFill>
                <a:latin typeface="Times New Roman"/>
                <a:cs typeface="Times New Roman"/>
              </a:rPr>
              <a:t>(Bootstrapped</a:t>
            </a:r>
            <a:r>
              <a:rPr dirty="0" sz="1350" spc="-45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1D4E88"/>
                </a:solidFill>
                <a:latin typeface="Times New Roman"/>
                <a:cs typeface="Times New Roman"/>
              </a:rPr>
              <a:t>Confidence</a:t>
            </a:r>
            <a:r>
              <a:rPr dirty="0" sz="1350" spc="30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1D4E88"/>
                </a:solidFill>
                <a:latin typeface="Times New Roman"/>
                <a:cs typeface="Times New Roman"/>
              </a:rPr>
              <a:t>Intervals)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562225" y="5391150"/>
            <a:ext cx="7072630" cy="881380"/>
            <a:chOff x="2562225" y="5391150"/>
            <a:chExt cx="7072630" cy="881380"/>
          </a:xfrm>
        </p:grpSpPr>
        <p:sp>
          <p:nvSpPr>
            <p:cNvPr id="32" name="object 32"/>
            <p:cNvSpPr/>
            <p:nvPr/>
          </p:nvSpPr>
          <p:spPr>
            <a:xfrm>
              <a:off x="6019800" y="5391150"/>
              <a:ext cx="161925" cy="142875"/>
            </a:xfrm>
            <a:custGeom>
              <a:avLst/>
              <a:gdLst/>
              <a:ahLst/>
              <a:cxnLst/>
              <a:rect l="l" t="t" r="r" b="b"/>
              <a:pathLst>
                <a:path w="161925" h="142875">
                  <a:moveTo>
                    <a:pt x="161925" y="0"/>
                  </a:moveTo>
                  <a:lnTo>
                    <a:pt x="0" y="0"/>
                  </a:lnTo>
                  <a:lnTo>
                    <a:pt x="81025" y="142875"/>
                  </a:lnTo>
                  <a:lnTo>
                    <a:pt x="161925" y="0"/>
                  </a:lnTo>
                  <a:close/>
                </a:path>
              </a:pathLst>
            </a:custGeom>
            <a:solidFill>
              <a:srgbClr val="F164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2225" y="5495925"/>
              <a:ext cx="7072376" cy="77628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647950" y="5553075"/>
              <a:ext cx="6905625" cy="609600"/>
            </a:xfrm>
            <a:custGeom>
              <a:avLst/>
              <a:gdLst/>
              <a:ahLst/>
              <a:cxnLst/>
              <a:rect l="l" t="t" r="r" b="b"/>
              <a:pathLst>
                <a:path w="6905625" h="609600">
                  <a:moveTo>
                    <a:pt x="6822440" y="0"/>
                  </a:moveTo>
                  <a:lnTo>
                    <a:pt x="83185" y="0"/>
                  </a:lnTo>
                  <a:lnTo>
                    <a:pt x="50792" y="6531"/>
                  </a:lnTo>
                  <a:lnTo>
                    <a:pt x="24352" y="24344"/>
                  </a:lnTo>
                  <a:lnTo>
                    <a:pt x="6532" y="50765"/>
                  </a:lnTo>
                  <a:lnTo>
                    <a:pt x="0" y="83121"/>
                  </a:lnTo>
                  <a:lnTo>
                    <a:pt x="0" y="526478"/>
                  </a:lnTo>
                  <a:lnTo>
                    <a:pt x="6532" y="558834"/>
                  </a:lnTo>
                  <a:lnTo>
                    <a:pt x="24352" y="585255"/>
                  </a:lnTo>
                  <a:lnTo>
                    <a:pt x="50792" y="603068"/>
                  </a:lnTo>
                  <a:lnTo>
                    <a:pt x="83185" y="609600"/>
                  </a:lnTo>
                  <a:lnTo>
                    <a:pt x="6822440" y="609600"/>
                  </a:lnTo>
                  <a:lnTo>
                    <a:pt x="6854832" y="603068"/>
                  </a:lnTo>
                  <a:lnTo>
                    <a:pt x="6881272" y="585255"/>
                  </a:lnTo>
                  <a:lnTo>
                    <a:pt x="6899092" y="558834"/>
                  </a:lnTo>
                  <a:lnTo>
                    <a:pt x="6905625" y="526478"/>
                  </a:lnTo>
                  <a:lnTo>
                    <a:pt x="6905625" y="83121"/>
                  </a:lnTo>
                  <a:lnTo>
                    <a:pt x="6899092" y="50765"/>
                  </a:lnTo>
                  <a:lnTo>
                    <a:pt x="6881272" y="24344"/>
                  </a:lnTo>
                  <a:lnTo>
                    <a:pt x="6854832" y="6531"/>
                  </a:lnTo>
                  <a:lnTo>
                    <a:pt x="6822440" y="0"/>
                  </a:lnTo>
                  <a:close/>
                </a:path>
              </a:pathLst>
            </a:custGeom>
            <a:solidFill>
              <a:srgbClr val="F164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4339335" y="5739447"/>
            <a:ext cx="354012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12335A"/>
                </a:solidFill>
                <a:latin typeface="Times New Roman"/>
                <a:cs typeface="Times New Roman"/>
              </a:rPr>
              <a:t>Nutrition</a:t>
            </a:r>
            <a:r>
              <a:rPr dirty="0" sz="1350" spc="-5" b="1">
                <a:solidFill>
                  <a:srgbClr val="12335A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12335A"/>
                </a:solidFill>
                <a:latin typeface="Times New Roman"/>
                <a:cs typeface="Times New Roman"/>
              </a:rPr>
              <a:t>Dashboard</a:t>
            </a:r>
            <a:r>
              <a:rPr dirty="0" sz="1350" spc="275" b="1">
                <a:solidFill>
                  <a:srgbClr val="12335A"/>
                </a:solidFill>
                <a:latin typeface="Times New Roman"/>
                <a:cs typeface="Times New Roman"/>
              </a:rPr>
              <a:t> </a:t>
            </a:r>
            <a:r>
              <a:rPr dirty="0" sz="1350" b="1">
                <a:solidFill>
                  <a:srgbClr val="12335A"/>
                </a:solidFill>
                <a:latin typeface="Times New Roman"/>
                <a:cs typeface="Times New Roman"/>
              </a:rPr>
              <a:t>(Policy</a:t>
            </a:r>
            <a:r>
              <a:rPr dirty="0" sz="1350" spc="-65" b="1">
                <a:solidFill>
                  <a:srgbClr val="12335A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12335A"/>
                </a:solidFill>
                <a:latin typeface="Times New Roman"/>
                <a:cs typeface="Times New Roman"/>
              </a:rPr>
              <a:t>Targeting</a:t>
            </a:r>
            <a:r>
              <a:rPr dirty="0" sz="1350" b="1">
                <a:solidFill>
                  <a:srgbClr val="12335A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12335A"/>
                </a:solidFill>
                <a:latin typeface="Times New Roman"/>
                <a:cs typeface="Times New Roman"/>
              </a:rPr>
              <a:t>Output)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694541" y="6471750"/>
            <a:ext cx="159385" cy="16256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50" spc="-25">
                <a:solidFill>
                  <a:srgbClr val="5B6773"/>
                </a:solidFill>
                <a:latin typeface="Times New Roman"/>
                <a:cs typeface="Times New Roman"/>
              </a:rPr>
              <a:t>05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4825" y="590550"/>
            <a:ext cx="1419225" cy="457200"/>
          </a:xfrm>
          <a:custGeom>
            <a:avLst/>
            <a:gdLst/>
            <a:ahLst/>
            <a:cxnLst/>
            <a:rect l="l" t="t" r="r" b="b"/>
            <a:pathLst>
              <a:path w="1419225" h="457200">
                <a:moveTo>
                  <a:pt x="1346073" y="0"/>
                </a:moveTo>
                <a:lnTo>
                  <a:pt x="73151" y="0"/>
                </a:lnTo>
                <a:lnTo>
                  <a:pt x="44678" y="5750"/>
                </a:lnTo>
                <a:lnTo>
                  <a:pt x="21426" y="21431"/>
                </a:lnTo>
                <a:lnTo>
                  <a:pt x="5748" y="44684"/>
                </a:lnTo>
                <a:lnTo>
                  <a:pt x="0" y="73151"/>
                </a:lnTo>
                <a:lnTo>
                  <a:pt x="0" y="384048"/>
                </a:lnTo>
                <a:lnTo>
                  <a:pt x="5748" y="412515"/>
                </a:lnTo>
                <a:lnTo>
                  <a:pt x="21426" y="435768"/>
                </a:lnTo>
                <a:lnTo>
                  <a:pt x="44678" y="451449"/>
                </a:lnTo>
                <a:lnTo>
                  <a:pt x="73151" y="457200"/>
                </a:lnTo>
                <a:lnTo>
                  <a:pt x="1346073" y="457200"/>
                </a:lnTo>
                <a:lnTo>
                  <a:pt x="1374540" y="451449"/>
                </a:lnTo>
                <a:lnTo>
                  <a:pt x="1397793" y="435768"/>
                </a:lnTo>
                <a:lnTo>
                  <a:pt x="1413474" y="412515"/>
                </a:lnTo>
                <a:lnTo>
                  <a:pt x="1419225" y="384048"/>
                </a:lnTo>
                <a:lnTo>
                  <a:pt x="1419225" y="73151"/>
                </a:lnTo>
                <a:lnTo>
                  <a:pt x="1413474" y="44684"/>
                </a:lnTo>
                <a:lnTo>
                  <a:pt x="1397793" y="21431"/>
                </a:lnTo>
                <a:lnTo>
                  <a:pt x="1374540" y="5750"/>
                </a:lnTo>
                <a:lnTo>
                  <a:pt x="1346073" y="0"/>
                </a:lnTo>
                <a:close/>
              </a:path>
            </a:pathLst>
          </a:custGeom>
          <a:solidFill>
            <a:srgbClr val="F164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5962" y="702627"/>
            <a:ext cx="98361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105" b="1">
                <a:solidFill>
                  <a:srgbClr val="12335A"/>
                </a:solidFill>
                <a:latin typeface="Times New Roman"/>
                <a:cs typeface="Times New Roman"/>
              </a:rPr>
              <a:t>MODULE</a:t>
            </a:r>
            <a:r>
              <a:rPr dirty="0" sz="1250" spc="280" b="1">
                <a:solidFill>
                  <a:srgbClr val="12335A"/>
                </a:solidFill>
                <a:latin typeface="Times New Roman"/>
                <a:cs typeface="Times New Roman"/>
              </a:rPr>
              <a:t> </a:t>
            </a:r>
            <a:r>
              <a:rPr dirty="0" sz="1250" spc="-50" b="1">
                <a:solidFill>
                  <a:srgbClr val="12335A"/>
                </a:solidFill>
                <a:latin typeface="Times New Roman"/>
                <a:cs typeface="Times New Roman"/>
              </a:rPr>
              <a:t>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83383" y="475297"/>
            <a:ext cx="7981950" cy="691515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75"/>
              </a:spcBef>
            </a:pPr>
            <a:r>
              <a:rPr dirty="0" sz="2150"/>
              <a:t>NUTRITION</a:t>
            </a:r>
            <a:r>
              <a:rPr dirty="0" sz="2150" spc="180"/>
              <a:t> </a:t>
            </a:r>
            <a:r>
              <a:rPr dirty="0" sz="2150"/>
              <a:t>SURVEY</a:t>
            </a:r>
            <a:r>
              <a:rPr dirty="0" sz="2150" spc="10"/>
              <a:t> </a:t>
            </a:r>
            <a:r>
              <a:rPr dirty="0" sz="2150" spc="-50"/>
              <a:t>DATA</a:t>
            </a:r>
            <a:r>
              <a:rPr dirty="0" sz="2150" spc="10"/>
              <a:t> </a:t>
            </a:r>
            <a:r>
              <a:rPr dirty="0" sz="2150"/>
              <a:t>PREPROCESSING</a:t>
            </a:r>
            <a:r>
              <a:rPr dirty="0" sz="2150" spc="145"/>
              <a:t> </a:t>
            </a:r>
            <a:r>
              <a:rPr dirty="0" sz="2150"/>
              <a:t>&amp;</a:t>
            </a:r>
            <a:r>
              <a:rPr dirty="0" sz="2150" spc="175"/>
              <a:t> </a:t>
            </a:r>
            <a:r>
              <a:rPr dirty="0" sz="2150" spc="-10"/>
              <a:t>REGIONAL MAPPING</a:t>
            </a:r>
            <a:endParaRPr sz="2150"/>
          </a:p>
        </p:txBody>
      </p:sp>
      <p:sp>
        <p:nvSpPr>
          <p:cNvPr id="5" name="object 5"/>
          <p:cNvSpPr/>
          <p:nvPr/>
        </p:nvSpPr>
        <p:spPr>
          <a:xfrm>
            <a:off x="509587" y="1243075"/>
            <a:ext cx="11202035" cy="0"/>
          </a:xfrm>
          <a:custGeom>
            <a:avLst/>
            <a:gdLst/>
            <a:ahLst/>
            <a:cxnLst/>
            <a:rect l="l" t="t" r="r" b="b"/>
            <a:pathLst>
              <a:path w="11202035" h="0">
                <a:moveTo>
                  <a:pt x="0" y="0"/>
                </a:moveTo>
                <a:lnTo>
                  <a:pt x="11201463" y="0"/>
                </a:lnTo>
              </a:path>
            </a:pathLst>
          </a:custGeom>
          <a:ln w="12700">
            <a:solidFill>
              <a:srgbClr val="D7E2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04825" y="1504950"/>
            <a:ext cx="2333625" cy="390525"/>
          </a:xfrm>
          <a:custGeom>
            <a:avLst/>
            <a:gdLst/>
            <a:ahLst/>
            <a:cxnLst/>
            <a:rect l="l" t="t" r="r" b="b"/>
            <a:pathLst>
              <a:path w="2333625" h="390525">
                <a:moveTo>
                  <a:pt x="2277872" y="0"/>
                </a:moveTo>
                <a:lnTo>
                  <a:pt x="55791" y="0"/>
                </a:lnTo>
                <a:lnTo>
                  <a:pt x="34075" y="4389"/>
                </a:lnTo>
                <a:lnTo>
                  <a:pt x="16341" y="16351"/>
                </a:lnTo>
                <a:lnTo>
                  <a:pt x="4384" y="34075"/>
                </a:lnTo>
                <a:lnTo>
                  <a:pt x="0" y="55752"/>
                </a:lnTo>
                <a:lnTo>
                  <a:pt x="0" y="334772"/>
                </a:lnTo>
                <a:lnTo>
                  <a:pt x="4384" y="356449"/>
                </a:lnTo>
                <a:lnTo>
                  <a:pt x="16341" y="374173"/>
                </a:lnTo>
                <a:lnTo>
                  <a:pt x="34075" y="386135"/>
                </a:lnTo>
                <a:lnTo>
                  <a:pt x="55791" y="390525"/>
                </a:lnTo>
                <a:lnTo>
                  <a:pt x="2277872" y="390525"/>
                </a:lnTo>
                <a:lnTo>
                  <a:pt x="2299549" y="386135"/>
                </a:lnTo>
                <a:lnTo>
                  <a:pt x="2317273" y="374173"/>
                </a:lnTo>
                <a:lnTo>
                  <a:pt x="2329235" y="356449"/>
                </a:lnTo>
                <a:lnTo>
                  <a:pt x="2333625" y="334772"/>
                </a:lnTo>
                <a:lnTo>
                  <a:pt x="2333625" y="55752"/>
                </a:lnTo>
                <a:lnTo>
                  <a:pt x="2329235" y="34075"/>
                </a:lnTo>
                <a:lnTo>
                  <a:pt x="2317273" y="16351"/>
                </a:lnTo>
                <a:lnTo>
                  <a:pt x="2299549" y="4389"/>
                </a:lnTo>
                <a:lnTo>
                  <a:pt x="2277872" y="0"/>
                </a:lnTo>
                <a:close/>
              </a:path>
            </a:pathLst>
          </a:custGeom>
          <a:solidFill>
            <a:srgbClr val="1D4E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96277" y="1600517"/>
            <a:ext cx="194119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FFFFFF"/>
                </a:solidFill>
                <a:latin typeface="Times New Roman"/>
                <a:cs typeface="Times New Roman"/>
              </a:rPr>
              <a:t>PURPOSE</a:t>
            </a:r>
            <a:r>
              <a:rPr dirty="0" sz="105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b="1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1050" spc="2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b="1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105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spc="-10" b="1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977" y="2042223"/>
            <a:ext cx="10130790" cy="674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300"/>
              </a:lnSpc>
              <a:spcBef>
                <a:spcPts val="100"/>
              </a:spcBef>
            </a:pP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Clean</a:t>
            </a:r>
            <a:r>
              <a:rPr dirty="0" sz="1800" spc="-10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and</a:t>
            </a:r>
            <a:r>
              <a:rPr dirty="0" sz="1800" spc="-10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structure</a:t>
            </a:r>
            <a:r>
              <a:rPr dirty="0" sz="1800" spc="20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national</a:t>
            </a:r>
            <a:r>
              <a:rPr dirty="0" sz="1800" spc="1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nutrition</a:t>
            </a:r>
            <a:r>
              <a:rPr dirty="0" sz="1800" spc="-10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survey</a:t>
            </a:r>
            <a:r>
              <a:rPr dirty="0" sz="1800" spc="1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data,</a:t>
            </a:r>
            <a:r>
              <a:rPr dirty="0" sz="1800" spc="-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then</a:t>
            </a:r>
            <a:r>
              <a:rPr dirty="0" sz="1800" spc="-10" i="1">
                <a:solidFill>
                  <a:srgbClr val="1B2733"/>
                </a:solidFill>
                <a:latin typeface="Times New Roman"/>
                <a:cs typeface="Times New Roman"/>
              </a:rPr>
              <a:t> prepare</a:t>
            </a:r>
            <a:r>
              <a:rPr dirty="0" sz="1800" spc="1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20" i="1">
                <a:solidFill>
                  <a:srgbClr val="1B2733"/>
                </a:solidFill>
                <a:latin typeface="Times New Roman"/>
                <a:cs typeface="Times New Roman"/>
              </a:rPr>
              <a:t>district-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level</a:t>
            </a:r>
            <a:r>
              <a:rPr dirty="0" sz="1800" spc="-5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geospatial</a:t>
            </a:r>
            <a:r>
              <a:rPr dirty="0" sz="1800" spc="-60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layers</a:t>
            </a:r>
            <a:r>
              <a:rPr dirty="0" sz="1800" spc="-40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for</a:t>
            </a:r>
            <a:r>
              <a:rPr dirty="0" sz="1800" spc="-3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 i="1">
                <a:solidFill>
                  <a:srgbClr val="1B2733"/>
                </a:solidFill>
                <a:latin typeface="Times New Roman"/>
                <a:cs typeface="Times New Roman"/>
              </a:rPr>
              <a:t>prevalence mapping.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4825" y="3000375"/>
            <a:ext cx="1419225" cy="381000"/>
          </a:xfrm>
          <a:custGeom>
            <a:avLst/>
            <a:gdLst/>
            <a:ahLst/>
            <a:cxnLst/>
            <a:rect l="l" t="t" r="r" b="b"/>
            <a:pathLst>
              <a:path w="1419225" h="381000">
                <a:moveTo>
                  <a:pt x="1364742" y="0"/>
                </a:moveTo>
                <a:lnTo>
                  <a:pt x="54432" y="0"/>
                </a:lnTo>
                <a:lnTo>
                  <a:pt x="33245" y="4280"/>
                </a:lnTo>
                <a:lnTo>
                  <a:pt x="15943" y="15954"/>
                </a:lnTo>
                <a:lnTo>
                  <a:pt x="4277" y="33272"/>
                </a:lnTo>
                <a:lnTo>
                  <a:pt x="0" y="54483"/>
                </a:lnTo>
                <a:lnTo>
                  <a:pt x="0" y="326516"/>
                </a:lnTo>
                <a:lnTo>
                  <a:pt x="4277" y="347727"/>
                </a:lnTo>
                <a:lnTo>
                  <a:pt x="15943" y="365045"/>
                </a:lnTo>
                <a:lnTo>
                  <a:pt x="33245" y="376719"/>
                </a:lnTo>
                <a:lnTo>
                  <a:pt x="54432" y="381000"/>
                </a:lnTo>
                <a:lnTo>
                  <a:pt x="1364742" y="381000"/>
                </a:lnTo>
                <a:lnTo>
                  <a:pt x="1385952" y="376719"/>
                </a:lnTo>
                <a:lnTo>
                  <a:pt x="1403270" y="365045"/>
                </a:lnTo>
                <a:lnTo>
                  <a:pt x="1414944" y="347727"/>
                </a:lnTo>
                <a:lnTo>
                  <a:pt x="1419225" y="326516"/>
                </a:lnTo>
                <a:lnTo>
                  <a:pt x="1419225" y="54483"/>
                </a:lnTo>
                <a:lnTo>
                  <a:pt x="1414944" y="33272"/>
                </a:lnTo>
                <a:lnTo>
                  <a:pt x="1403270" y="15954"/>
                </a:lnTo>
                <a:lnTo>
                  <a:pt x="1385952" y="4280"/>
                </a:lnTo>
                <a:lnTo>
                  <a:pt x="1364742" y="0"/>
                </a:lnTo>
                <a:close/>
              </a:path>
            </a:pathLst>
          </a:custGeom>
          <a:solidFill>
            <a:srgbClr val="5FA7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60400" y="3079750"/>
            <a:ext cx="10947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FFFFFF"/>
                </a:solidFill>
                <a:latin typeface="Times New Roman"/>
                <a:cs typeface="Times New Roman"/>
              </a:rPr>
              <a:t>WHAT</a:t>
            </a:r>
            <a:r>
              <a:rPr dirty="0" sz="1050" spc="1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b="1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1050" spc="2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spc="-20" b="1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94541" y="6471750"/>
            <a:ext cx="159385" cy="16256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50" spc="-25">
                <a:solidFill>
                  <a:srgbClr val="5B6773"/>
                </a:solidFill>
                <a:latin typeface="Times New Roman"/>
                <a:cs typeface="Times New Roman"/>
              </a:rPr>
              <a:t>06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1977" y="3589591"/>
            <a:ext cx="9451975" cy="2103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Ingest</a:t>
            </a:r>
            <a:r>
              <a:rPr dirty="0" sz="1800" spc="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the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national</a:t>
            </a:r>
            <a:r>
              <a:rPr dirty="0" sz="1800" spc="-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nutrition/health</a:t>
            </a:r>
            <a:r>
              <a:rPr dirty="0" sz="1800" spc="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survey</a:t>
            </a:r>
            <a:r>
              <a:rPr dirty="0" sz="1800" spc="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dataset</a:t>
            </a:r>
            <a:r>
              <a:rPr dirty="0" sz="1800" spc="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(district,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age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group,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weight-for-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age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z-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score</a:t>
            </a:r>
            <a:r>
              <a:rPr dirty="0" sz="1800" spc="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fields).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370"/>
              </a:spcBef>
              <a:buChar char="•"/>
              <a:tabLst>
                <a:tab pos="241300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Clean,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validate, and</a:t>
            </a:r>
            <a:r>
              <a:rPr dirty="0" sz="1800" spc="-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standardize</a:t>
            </a:r>
            <a:r>
              <a:rPr dirty="0" sz="18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raw</a:t>
            </a:r>
            <a:r>
              <a:rPr dirty="0" sz="1800" spc="-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survey</a:t>
            </a:r>
            <a:r>
              <a:rPr dirty="0" sz="1800" spc="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records.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445"/>
              </a:spcBef>
              <a:buChar char="•"/>
              <a:tabLst>
                <a:tab pos="241300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Classify</a:t>
            </a:r>
            <a:r>
              <a:rPr dirty="0" sz="1800" spc="-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records</a:t>
            </a:r>
            <a:r>
              <a:rPr dirty="0" sz="1800" spc="2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into</a:t>
            </a:r>
            <a:r>
              <a:rPr dirty="0" sz="1800" spc="2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malnutrition</a:t>
            </a:r>
            <a:r>
              <a:rPr dirty="0" sz="18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categories</a:t>
            </a:r>
            <a:r>
              <a:rPr dirty="0" sz="1800" spc="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based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on</a:t>
            </a:r>
            <a:r>
              <a:rPr dirty="0" sz="1800" spc="-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weight-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for-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age</a:t>
            </a:r>
            <a:r>
              <a:rPr dirty="0" sz="1800" spc="-2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z-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scores.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370"/>
              </a:spcBef>
              <a:buChar char="•"/>
              <a:tabLst>
                <a:tab pos="241300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Merge</a:t>
            </a:r>
            <a:r>
              <a:rPr dirty="0" sz="1800" spc="-4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survey</a:t>
            </a:r>
            <a:r>
              <a:rPr dirty="0" sz="1800" spc="-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data</a:t>
            </a:r>
            <a:r>
              <a:rPr dirty="0" sz="1800" spc="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with</a:t>
            </a:r>
            <a:r>
              <a:rPr dirty="0" sz="1800" spc="-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district</a:t>
            </a:r>
            <a:r>
              <a:rPr dirty="0" sz="18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boundary</a:t>
            </a:r>
            <a:r>
              <a:rPr dirty="0" sz="1800" spc="-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shapefiles</a:t>
            </a:r>
            <a:r>
              <a:rPr dirty="0" sz="1800" spc="-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using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GeoPandas.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370"/>
              </a:spcBef>
              <a:buChar char="•"/>
              <a:tabLst>
                <a:tab pos="241300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Prepare</a:t>
            </a:r>
            <a:r>
              <a:rPr dirty="0" sz="1800" spc="-3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</a:t>
            </a:r>
            <a:r>
              <a:rPr dirty="0" sz="1800" spc="-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geodataframe</a:t>
            </a:r>
            <a:r>
              <a:rPr dirty="0" sz="1800" spc="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structured</a:t>
            </a:r>
            <a:r>
              <a:rPr dirty="0" sz="18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for</a:t>
            </a:r>
            <a:r>
              <a:rPr dirty="0" sz="1800" spc="-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choropleth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rendering.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4825" y="590550"/>
            <a:ext cx="1419225" cy="457200"/>
          </a:xfrm>
          <a:custGeom>
            <a:avLst/>
            <a:gdLst/>
            <a:ahLst/>
            <a:cxnLst/>
            <a:rect l="l" t="t" r="r" b="b"/>
            <a:pathLst>
              <a:path w="1419225" h="457200">
                <a:moveTo>
                  <a:pt x="1346073" y="0"/>
                </a:moveTo>
                <a:lnTo>
                  <a:pt x="73151" y="0"/>
                </a:lnTo>
                <a:lnTo>
                  <a:pt x="44678" y="5750"/>
                </a:lnTo>
                <a:lnTo>
                  <a:pt x="21426" y="21431"/>
                </a:lnTo>
                <a:lnTo>
                  <a:pt x="5748" y="44684"/>
                </a:lnTo>
                <a:lnTo>
                  <a:pt x="0" y="73151"/>
                </a:lnTo>
                <a:lnTo>
                  <a:pt x="0" y="384048"/>
                </a:lnTo>
                <a:lnTo>
                  <a:pt x="5748" y="412515"/>
                </a:lnTo>
                <a:lnTo>
                  <a:pt x="21426" y="435768"/>
                </a:lnTo>
                <a:lnTo>
                  <a:pt x="44678" y="451449"/>
                </a:lnTo>
                <a:lnTo>
                  <a:pt x="73151" y="457200"/>
                </a:lnTo>
                <a:lnTo>
                  <a:pt x="1346073" y="457200"/>
                </a:lnTo>
                <a:lnTo>
                  <a:pt x="1374540" y="451449"/>
                </a:lnTo>
                <a:lnTo>
                  <a:pt x="1397793" y="435768"/>
                </a:lnTo>
                <a:lnTo>
                  <a:pt x="1413474" y="412515"/>
                </a:lnTo>
                <a:lnTo>
                  <a:pt x="1419225" y="384048"/>
                </a:lnTo>
                <a:lnTo>
                  <a:pt x="1419225" y="73151"/>
                </a:lnTo>
                <a:lnTo>
                  <a:pt x="1413474" y="44684"/>
                </a:lnTo>
                <a:lnTo>
                  <a:pt x="1397793" y="21431"/>
                </a:lnTo>
                <a:lnTo>
                  <a:pt x="1374540" y="5750"/>
                </a:lnTo>
                <a:lnTo>
                  <a:pt x="1346073" y="0"/>
                </a:lnTo>
                <a:close/>
              </a:path>
            </a:pathLst>
          </a:custGeom>
          <a:solidFill>
            <a:srgbClr val="F164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5962" y="702627"/>
            <a:ext cx="98361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105" b="1">
                <a:solidFill>
                  <a:srgbClr val="12335A"/>
                </a:solidFill>
                <a:latin typeface="Times New Roman"/>
                <a:cs typeface="Times New Roman"/>
              </a:rPr>
              <a:t>MODULE</a:t>
            </a:r>
            <a:r>
              <a:rPr dirty="0" sz="1250" spc="280" b="1">
                <a:solidFill>
                  <a:srgbClr val="12335A"/>
                </a:solidFill>
                <a:latin typeface="Times New Roman"/>
                <a:cs typeface="Times New Roman"/>
              </a:rPr>
              <a:t> </a:t>
            </a:r>
            <a:r>
              <a:rPr dirty="0" sz="1250" spc="-50" b="1">
                <a:solidFill>
                  <a:srgbClr val="12335A"/>
                </a:solidFill>
                <a:latin typeface="Times New Roman"/>
                <a:cs typeface="Times New Roman"/>
              </a:rPr>
              <a:t>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83383" y="475297"/>
            <a:ext cx="7981950" cy="691515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75"/>
              </a:spcBef>
            </a:pPr>
            <a:r>
              <a:rPr dirty="0" sz="2150"/>
              <a:t>NUTRITION</a:t>
            </a:r>
            <a:r>
              <a:rPr dirty="0" sz="2150" spc="180"/>
              <a:t> </a:t>
            </a:r>
            <a:r>
              <a:rPr dirty="0" sz="2150"/>
              <a:t>SURVEY</a:t>
            </a:r>
            <a:r>
              <a:rPr dirty="0" sz="2150" spc="10"/>
              <a:t> </a:t>
            </a:r>
            <a:r>
              <a:rPr dirty="0" sz="2150" spc="-50"/>
              <a:t>DATA</a:t>
            </a:r>
            <a:r>
              <a:rPr dirty="0" sz="2150" spc="10"/>
              <a:t> </a:t>
            </a:r>
            <a:r>
              <a:rPr dirty="0" sz="2150"/>
              <a:t>PREPROCESSING</a:t>
            </a:r>
            <a:r>
              <a:rPr dirty="0" sz="2150" spc="145"/>
              <a:t> </a:t>
            </a:r>
            <a:r>
              <a:rPr dirty="0" sz="2150"/>
              <a:t>&amp;</a:t>
            </a:r>
            <a:r>
              <a:rPr dirty="0" sz="2150" spc="175"/>
              <a:t> </a:t>
            </a:r>
            <a:r>
              <a:rPr dirty="0" sz="2150" spc="-10"/>
              <a:t>REGIONAL MAPPING</a:t>
            </a:r>
            <a:endParaRPr sz="2150"/>
          </a:p>
        </p:txBody>
      </p:sp>
      <p:sp>
        <p:nvSpPr>
          <p:cNvPr id="5" name="object 5"/>
          <p:cNvSpPr/>
          <p:nvPr/>
        </p:nvSpPr>
        <p:spPr>
          <a:xfrm>
            <a:off x="509587" y="1243075"/>
            <a:ext cx="11202035" cy="0"/>
          </a:xfrm>
          <a:custGeom>
            <a:avLst/>
            <a:gdLst/>
            <a:ahLst/>
            <a:cxnLst/>
            <a:rect l="l" t="t" r="r" b="b"/>
            <a:pathLst>
              <a:path w="11202035" h="0">
                <a:moveTo>
                  <a:pt x="0" y="0"/>
                </a:moveTo>
                <a:lnTo>
                  <a:pt x="11201463" y="0"/>
                </a:lnTo>
              </a:path>
            </a:pathLst>
          </a:custGeom>
          <a:ln w="12700">
            <a:solidFill>
              <a:srgbClr val="D7E2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04825" y="1600200"/>
            <a:ext cx="1190625" cy="381000"/>
          </a:xfrm>
          <a:custGeom>
            <a:avLst/>
            <a:gdLst/>
            <a:ahLst/>
            <a:cxnLst/>
            <a:rect l="l" t="t" r="r" b="b"/>
            <a:pathLst>
              <a:path w="1190625" h="381000">
                <a:moveTo>
                  <a:pt x="1136142" y="0"/>
                </a:moveTo>
                <a:lnTo>
                  <a:pt x="54432" y="0"/>
                </a:lnTo>
                <a:lnTo>
                  <a:pt x="33245" y="4280"/>
                </a:lnTo>
                <a:lnTo>
                  <a:pt x="15943" y="15954"/>
                </a:lnTo>
                <a:lnTo>
                  <a:pt x="4277" y="33272"/>
                </a:lnTo>
                <a:lnTo>
                  <a:pt x="0" y="54483"/>
                </a:lnTo>
                <a:lnTo>
                  <a:pt x="0" y="326516"/>
                </a:lnTo>
                <a:lnTo>
                  <a:pt x="4277" y="347727"/>
                </a:lnTo>
                <a:lnTo>
                  <a:pt x="15943" y="365045"/>
                </a:lnTo>
                <a:lnTo>
                  <a:pt x="33245" y="376719"/>
                </a:lnTo>
                <a:lnTo>
                  <a:pt x="54432" y="381000"/>
                </a:lnTo>
                <a:lnTo>
                  <a:pt x="1136142" y="381000"/>
                </a:lnTo>
                <a:lnTo>
                  <a:pt x="1157352" y="376719"/>
                </a:lnTo>
                <a:lnTo>
                  <a:pt x="1174670" y="365045"/>
                </a:lnTo>
                <a:lnTo>
                  <a:pt x="1186344" y="347727"/>
                </a:lnTo>
                <a:lnTo>
                  <a:pt x="1190625" y="326516"/>
                </a:lnTo>
                <a:lnTo>
                  <a:pt x="1190625" y="54483"/>
                </a:lnTo>
                <a:lnTo>
                  <a:pt x="1186344" y="33272"/>
                </a:lnTo>
                <a:lnTo>
                  <a:pt x="1174670" y="15954"/>
                </a:lnTo>
                <a:lnTo>
                  <a:pt x="1157352" y="4280"/>
                </a:lnTo>
                <a:lnTo>
                  <a:pt x="1136142" y="0"/>
                </a:lnTo>
                <a:close/>
              </a:path>
            </a:pathLst>
          </a:custGeom>
          <a:solidFill>
            <a:srgbClr val="1D4E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28650" y="1692528"/>
            <a:ext cx="93027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FFFFFF"/>
                </a:solidFill>
                <a:latin typeface="Times New Roman"/>
                <a:cs typeface="Times New Roman"/>
              </a:rPr>
              <a:t>TOOLS</a:t>
            </a:r>
            <a:r>
              <a:rPr dirty="0" sz="1050" spc="2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spc="-20" b="1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6887" y="2182812"/>
            <a:ext cx="1063625" cy="568325"/>
            <a:chOff x="496887" y="2182812"/>
            <a:chExt cx="1063625" cy="568325"/>
          </a:xfrm>
        </p:grpSpPr>
        <p:sp>
          <p:nvSpPr>
            <p:cNvPr id="9" name="object 9"/>
            <p:cNvSpPr/>
            <p:nvPr/>
          </p:nvSpPr>
          <p:spPr>
            <a:xfrm>
              <a:off x="504825" y="2190750"/>
              <a:ext cx="1047750" cy="552450"/>
            </a:xfrm>
            <a:custGeom>
              <a:avLst/>
              <a:gdLst/>
              <a:ahLst/>
              <a:cxnLst/>
              <a:rect l="l" t="t" r="r" b="b"/>
              <a:pathLst>
                <a:path w="1047750" h="552450">
                  <a:moveTo>
                    <a:pt x="771525" y="0"/>
                  </a:moveTo>
                  <a:lnTo>
                    <a:pt x="276225" y="0"/>
                  </a:lnTo>
                  <a:lnTo>
                    <a:pt x="226573" y="4451"/>
                  </a:lnTo>
                  <a:lnTo>
                    <a:pt x="179842" y="17284"/>
                  </a:lnTo>
                  <a:lnTo>
                    <a:pt x="136810" y="37719"/>
                  </a:lnTo>
                  <a:lnTo>
                    <a:pt x="98257" y="64973"/>
                  </a:lnTo>
                  <a:lnTo>
                    <a:pt x="64965" y="98268"/>
                  </a:lnTo>
                  <a:lnTo>
                    <a:pt x="37713" y="136821"/>
                  </a:lnTo>
                  <a:lnTo>
                    <a:pt x="17281" y="179852"/>
                  </a:lnTo>
                  <a:lnTo>
                    <a:pt x="4450" y="226580"/>
                  </a:lnTo>
                  <a:lnTo>
                    <a:pt x="0" y="276225"/>
                  </a:lnTo>
                  <a:lnTo>
                    <a:pt x="4450" y="325869"/>
                  </a:lnTo>
                  <a:lnTo>
                    <a:pt x="17281" y="372597"/>
                  </a:lnTo>
                  <a:lnTo>
                    <a:pt x="37713" y="415628"/>
                  </a:lnTo>
                  <a:lnTo>
                    <a:pt x="64965" y="454181"/>
                  </a:lnTo>
                  <a:lnTo>
                    <a:pt x="98257" y="487476"/>
                  </a:lnTo>
                  <a:lnTo>
                    <a:pt x="136810" y="514731"/>
                  </a:lnTo>
                  <a:lnTo>
                    <a:pt x="179842" y="535165"/>
                  </a:lnTo>
                  <a:lnTo>
                    <a:pt x="226573" y="547998"/>
                  </a:lnTo>
                  <a:lnTo>
                    <a:pt x="276225" y="552450"/>
                  </a:lnTo>
                  <a:lnTo>
                    <a:pt x="771525" y="552450"/>
                  </a:lnTo>
                  <a:lnTo>
                    <a:pt x="821169" y="547998"/>
                  </a:lnTo>
                  <a:lnTo>
                    <a:pt x="867897" y="535165"/>
                  </a:lnTo>
                  <a:lnTo>
                    <a:pt x="910928" y="514731"/>
                  </a:lnTo>
                  <a:lnTo>
                    <a:pt x="949481" y="487476"/>
                  </a:lnTo>
                  <a:lnTo>
                    <a:pt x="982776" y="454181"/>
                  </a:lnTo>
                  <a:lnTo>
                    <a:pt x="1010030" y="415628"/>
                  </a:lnTo>
                  <a:lnTo>
                    <a:pt x="1030465" y="372597"/>
                  </a:lnTo>
                  <a:lnTo>
                    <a:pt x="1043298" y="325869"/>
                  </a:lnTo>
                  <a:lnTo>
                    <a:pt x="1047750" y="276225"/>
                  </a:lnTo>
                  <a:lnTo>
                    <a:pt x="1043298" y="226580"/>
                  </a:lnTo>
                  <a:lnTo>
                    <a:pt x="1030465" y="179852"/>
                  </a:lnTo>
                  <a:lnTo>
                    <a:pt x="1010031" y="136821"/>
                  </a:lnTo>
                  <a:lnTo>
                    <a:pt x="982776" y="98268"/>
                  </a:lnTo>
                  <a:lnTo>
                    <a:pt x="949481" y="64973"/>
                  </a:lnTo>
                  <a:lnTo>
                    <a:pt x="910928" y="37719"/>
                  </a:lnTo>
                  <a:lnTo>
                    <a:pt x="867897" y="17284"/>
                  </a:lnTo>
                  <a:lnTo>
                    <a:pt x="821169" y="4451"/>
                  </a:lnTo>
                  <a:lnTo>
                    <a:pt x="7715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04825" y="2190750"/>
              <a:ext cx="1047750" cy="552450"/>
            </a:xfrm>
            <a:custGeom>
              <a:avLst/>
              <a:gdLst/>
              <a:ahLst/>
              <a:cxnLst/>
              <a:rect l="l" t="t" r="r" b="b"/>
              <a:pathLst>
                <a:path w="1047750" h="552450">
                  <a:moveTo>
                    <a:pt x="0" y="276225"/>
                  </a:moveTo>
                  <a:lnTo>
                    <a:pt x="4450" y="226580"/>
                  </a:lnTo>
                  <a:lnTo>
                    <a:pt x="17281" y="179852"/>
                  </a:lnTo>
                  <a:lnTo>
                    <a:pt x="37713" y="136821"/>
                  </a:lnTo>
                  <a:lnTo>
                    <a:pt x="64965" y="98268"/>
                  </a:lnTo>
                  <a:lnTo>
                    <a:pt x="98257" y="64973"/>
                  </a:lnTo>
                  <a:lnTo>
                    <a:pt x="136810" y="37719"/>
                  </a:lnTo>
                  <a:lnTo>
                    <a:pt x="179842" y="17284"/>
                  </a:lnTo>
                  <a:lnTo>
                    <a:pt x="226573" y="4451"/>
                  </a:lnTo>
                  <a:lnTo>
                    <a:pt x="276225" y="0"/>
                  </a:lnTo>
                  <a:lnTo>
                    <a:pt x="771525" y="0"/>
                  </a:lnTo>
                  <a:lnTo>
                    <a:pt x="821169" y="4451"/>
                  </a:lnTo>
                  <a:lnTo>
                    <a:pt x="867897" y="17284"/>
                  </a:lnTo>
                  <a:lnTo>
                    <a:pt x="910928" y="37718"/>
                  </a:lnTo>
                  <a:lnTo>
                    <a:pt x="949481" y="64973"/>
                  </a:lnTo>
                  <a:lnTo>
                    <a:pt x="982776" y="98268"/>
                  </a:lnTo>
                  <a:lnTo>
                    <a:pt x="1010031" y="136821"/>
                  </a:lnTo>
                  <a:lnTo>
                    <a:pt x="1030465" y="179852"/>
                  </a:lnTo>
                  <a:lnTo>
                    <a:pt x="1043298" y="226580"/>
                  </a:lnTo>
                  <a:lnTo>
                    <a:pt x="1047750" y="276225"/>
                  </a:lnTo>
                  <a:lnTo>
                    <a:pt x="1043298" y="325869"/>
                  </a:lnTo>
                  <a:lnTo>
                    <a:pt x="1030465" y="372597"/>
                  </a:lnTo>
                  <a:lnTo>
                    <a:pt x="1010031" y="415628"/>
                  </a:lnTo>
                  <a:lnTo>
                    <a:pt x="982776" y="454181"/>
                  </a:lnTo>
                  <a:lnTo>
                    <a:pt x="949481" y="487476"/>
                  </a:lnTo>
                  <a:lnTo>
                    <a:pt x="910928" y="514730"/>
                  </a:lnTo>
                  <a:lnTo>
                    <a:pt x="867897" y="535165"/>
                  </a:lnTo>
                  <a:lnTo>
                    <a:pt x="821169" y="547998"/>
                  </a:lnTo>
                  <a:lnTo>
                    <a:pt x="771525" y="552450"/>
                  </a:lnTo>
                  <a:lnTo>
                    <a:pt x="276225" y="552450"/>
                  </a:lnTo>
                  <a:lnTo>
                    <a:pt x="226573" y="547998"/>
                  </a:lnTo>
                  <a:lnTo>
                    <a:pt x="179842" y="535165"/>
                  </a:lnTo>
                  <a:lnTo>
                    <a:pt x="136810" y="514731"/>
                  </a:lnTo>
                  <a:lnTo>
                    <a:pt x="98257" y="487476"/>
                  </a:lnTo>
                  <a:lnTo>
                    <a:pt x="64965" y="454181"/>
                  </a:lnTo>
                  <a:lnTo>
                    <a:pt x="37713" y="415628"/>
                  </a:lnTo>
                  <a:lnTo>
                    <a:pt x="17281" y="372597"/>
                  </a:lnTo>
                  <a:lnTo>
                    <a:pt x="4450" y="325869"/>
                  </a:lnTo>
                  <a:lnTo>
                    <a:pt x="0" y="276225"/>
                  </a:lnTo>
                  <a:close/>
                </a:path>
              </a:pathLst>
            </a:custGeom>
            <a:ln w="15875">
              <a:solidFill>
                <a:srgbClr val="5FA7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83907" y="2358326"/>
            <a:ext cx="492759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D4E88"/>
                </a:solidFill>
                <a:latin typeface="Times New Roman"/>
                <a:cs typeface="Times New Roman"/>
              </a:rPr>
              <a:t>Python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44662" y="2182812"/>
            <a:ext cx="1073150" cy="568325"/>
            <a:chOff x="1744662" y="2182812"/>
            <a:chExt cx="1073150" cy="568325"/>
          </a:xfrm>
        </p:grpSpPr>
        <p:sp>
          <p:nvSpPr>
            <p:cNvPr id="13" name="object 13"/>
            <p:cNvSpPr/>
            <p:nvPr/>
          </p:nvSpPr>
          <p:spPr>
            <a:xfrm>
              <a:off x="1752600" y="2190750"/>
              <a:ext cx="1057275" cy="552450"/>
            </a:xfrm>
            <a:custGeom>
              <a:avLst/>
              <a:gdLst/>
              <a:ahLst/>
              <a:cxnLst/>
              <a:rect l="l" t="t" r="r" b="b"/>
              <a:pathLst>
                <a:path w="1057275" h="552450">
                  <a:moveTo>
                    <a:pt x="781050" y="0"/>
                  </a:moveTo>
                  <a:lnTo>
                    <a:pt x="276225" y="0"/>
                  </a:lnTo>
                  <a:lnTo>
                    <a:pt x="226580" y="4451"/>
                  </a:lnTo>
                  <a:lnTo>
                    <a:pt x="179852" y="17284"/>
                  </a:lnTo>
                  <a:lnTo>
                    <a:pt x="136821" y="37719"/>
                  </a:lnTo>
                  <a:lnTo>
                    <a:pt x="98268" y="64973"/>
                  </a:lnTo>
                  <a:lnTo>
                    <a:pt x="64973" y="98268"/>
                  </a:lnTo>
                  <a:lnTo>
                    <a:pt x="37719" y="136821"/>
                  </a:lnTo>
                  <a:lnTo>
                    <a:pt x="17284" y="179852"/>
                  </a:lnTo>
                  <a:lnTo>
                    <a:pt x="4451" y="226580"/>
                  </a:lnTo>
                  <a:lnTo>
                    <a:pt x="0" y="276225"/>
                  </a:lnTo>
                  <a:lnTo>
                    <a:pt x="4451" y="325869"/>
                  </a:lnTo>
                  <a:lnTo>
                    <a:pt x="17284" y="372597"/>
                  </a:lnTo>
                  <a:lnTo>
                    <a:pt x="37718" y="415628"/>
                  </a:lnTo>
                  <a:lnTo>
                    <a:pt x="64973" y="454181"/>
                  </a:lnTo>
                  <a:lnTo>
                    <a:pt x="98268" y="487476"/>
                  </a:lnTo>
                  <a:lnTo>
                    <a:pt x="136821" y="514731"/>
                  </a:lnTo>
                  <a:lnTo>
                    <a:pt x="179852" y="535165"/>
                  </a:lnTo>
                  <a:lnTo>
                    <a:pt x="226580" y="547998"/>
                  </a:lnTo>
                  <a:lnTo>
                    <a:pt x="276225" y="552450"/>
                  </a:lnTo>
                  <a:lnTo>
                    <a:pt x="781050" y="552450"/>
                  </a:lnTo>
                  <a:lnTo>
                    <a:pt x="830694" y="547998"/>
                  </a:lnTo>
                  <a:lnTo>
                    <a:pt x="877422" y="535165"/>
                  </a:lnTo>
                  <a:lnTo>
                    <a:pt x="920453" y="514731"/>
                  </a:lnTo>
                  <a:lnTo>
                    <a:pt x="959006" y="487476"/>
                  </a:lnTo>
                  <a:lnTo>
                    <a:pt x="992301" y="454181"/>
                  </a:lnTo>
                  <a:lnTo>
                    <a:pt x="1019555" y="415628"/>
                  </a:lnTo>
                  <a:lnTo>
                    <a:pt x="1039990" y="372597"/>
                  </a:lnTo>
                  <a:lnTo>
                    <a:pt x="1052823" y="325869"/>
                  </a:lnTo>
                  <a:lnTo>
                    <a:pt x="1057275" y="276225"/>
                  </a:lnTo>
                  <a:lnTo>
                    <a:pt x="1052823" y="226580"/>
                  </a:lnTo>
                  <a:lnTo>
                    <a:pt x="1039990" y="179852"/>
                  </a:lnTo>
                  <a:lnTo>
                    <a:pt x="1019556" y="136821"/>
                  </a:lnTo>
                  <a:lnTo>
                    <a:pt x="992301" y="98268"/>
                  </a:lnTo>
                  <a:lnTo>
                    <a:pt x="959006" y="64973"/>
                  </a:lnTo>
                  <a:lnTo>
                    <a:pt x="920453" y="37719"/>
                  </a:lnTo>
                  <a:lnTo>
                    <a:pt x="877422" y="17284"/>
                  </a:lnTo>
                  <a:lnTo>
                    <a:pt x="830694" y="4451"/>
                  </a:lnTo>
                  <a:lnTo>
                    <a:pt x="781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752600" y="2190750"/>
              <a:ext cx="1057275" cy="552450"/>
            </a:xfrm>
            <a:custGeom>
              <a:avLst/>
              <a:gdLst/>
              <a:ahLst/>
              <a:cxnLst/>
              <a:rect l="l" t="t" r="r" b="b"/>
              <a:pathLst>
                <a:path w="1057275" h="552450">
                  <a:moveTo>
                    <a:pt x="0" y="276225"/>
                  </a:moveTo>
                  <a:lnTo>
                    <a:pt x="4451" y="226580"/>
                  </a:lnTo>
                  <a:lnTo>
                    <a:pt x="17284" y="179852"/>
                  </a:lnTo>
                  <a:lnTo>
                    <a:pt x="37719" y="136821"/>
                  </a:lnTo>
                  <a:lnTo>
                    <a:pt x="64973" y="98268"/>
                  </a:lnTo>
                  <a:lnTo>
                    <a:pt x="98268" y="64973"/>
                  </a:lnTo>
                  <a:lnTo>
                    <a:pt x="136821" y="37719"/>
                  </a:lnTo>
                  <a:lnTo>
                    <a:pt x="179852" y="17284"/>
                  </a:lnTo>
                  <a:lnTo>
                    <a:pt x="226580" y="4451"/>
                  </a:lnTo>
                  <a:lnTo>
                    <a:pt x="276225" y="0"/>
                  </a:lnTo>
                  <a:lnTo>
                    <a:pt x="781050" y="0"/>
                  </a:lnTo>
                  <a:lnTo>
                    <a:pt x="830694" y="4451"/>
                  </a:lnTo>
                  <a:lnTo>
                    <a:pt x="877422" y="17284"/>
                  </a:lnTo>
                  <a:lnTo>
                    <a:pt x="920453" y="37718"/>
                  </a:lnTo>
                  <a:lnTo>
                    <a:pt x="959006" y="64973"/>
                  </a:lnTo>
                  <a:lnTo>
                    <a:pt x="992301" y="98268"/>
                  </a:lnTo>
                  <a:lnTo>
                    <a:pt x="1019556" y="136821"/>
                  </a:lnTo>
                  <a:lnTo>
                    <a:pt x="1039990" y="179852"/>
                  </a:lnTo>
                  <a:lnTo>
                    <a:pt x="1052823" y="226580"/>
                  </a:lnTo>
                  <a:lnTo>
                    <a:pt x="1057275" y="276225"/>
                  </a:lnTo>
                  <a:lnTo>
                    <a:pt x="1052823" y="325869"/>
                  </a:lnTo>
                  <a:lnTo>
                    <a:pt x="1039990" y="372597"/>
                  </a:lnTo>
                  <a:lnTo>
                    <a:pt x="1019555" y="415628"/>
                  </a:lnTo>
                  <a:lnTo>
                    <a:pt x="992301" y="454181"/>
                  </a:lnTo>
                  <a:lnTo>
                    <a:pt x="959006" y="487476"/>
                  </a:lnTo>
                  <a:lnTo>
                    <a:pt x="920453" y="514730"/>
                  </a:lnTo>
                  <a:lnTo>
                    <a:pt x="877422" y="535165"/>
                  </a:lnTo>
                  <a:lnTo>
                    <a:pt x="830694" y="547998"/>
                  </a:lnTo>
                  <a:lnTo>
                    <a:pt x="781050" y="552450"/>
                  </a:lnTo>
                  <a:lnTo>
                    <a:pt x="276225" y="552450"/>
                  </a:lnTo>
                  <a:lnTo>
                    <a:pt x="226580" y="547998"/>
                  </a:lnTo>
                  <a:lnTo>
                    <a:pt x="179852" y="535165"/>
                  </a:lnTo>
                  <a:lnTo>
                    <a:pt x="136821" y="514731"/>
                  </a:lnTo>
                  <a:lnTo>
                    <a:pt x="98268" y="487476"/>
                  </a:lnTo>
                  <a:lnTo>
                    <a:pt x="64973" y="454181"/>
                  </a:lnTo>
                  <a:lnTo>
                    <a:pt x="37718" y="415628"/>
                  </a:lnTo>
                  <a:lnTo>
                    <a:pt x="17284" y="372597"/>
                  </a:lnTo>
                  <a:lnTo>
                    <a:pt x="4451" y="325869"/>
                  </a:lnTo>
                  <a:lnTo>
                    <a:pt x="0" y="276225"/>
                  </a:lnTo>
                  <a:close/>
                </a:path>
              </a:pathLst>
            </a:custGeom>
            <a:ln w="15875">
              <a:solidFill>
                <a:srgbClr val="5FA7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033904" y="2358326"/>
            <a:ext cx="5035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D4E88"/>
                </a:solidFill>
                <a:latin typeface="Times New Roman"/>
                <a:cs typeface="Times New Roman"/>
              </a:rPr>
              <a:t>Pandas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01962" y="2182812"/>
            <a:ext cx="1339850" cy="568325"/>
            <a:chOff x="3001962" y="2182812"/>
            <a:chExt cx="1339850" cy="568325"/>
          </a:xfrm>
        </p:grpSpPr>
        <p:sp>
          <p:nvSpPr>
            <p:cNvPr id="17" name="object 17"/>
            <p:cNvSpPr/>
            <p:nvPr/>
          </p:nvSpPr>
          <p:spPr>
            <a:xfrm>
              <a:off x="3009900" y="2190750"/>
              <a:ext cx="1323975" cy="552450"/>
            </a:xfrm>
            <a:custGeom>
              <a:avLst/>
              <a:gdLst/>
              <a:ahLst/>
              <a:cxnLst/>
              <a:rect l="l" t="t" r="r" b="b"/>
              <a:pathLst>
                <a:path w="1323975" h="552450">
                  <a:moveTo>
                    <a:pt x="1047750" y="0"/>
                  </a:moveTo>
                  <a:lnTo>
                    <a:pt x="276225" y="0"/>
                  </a:lnTo>
                  <a:lnTo>
                    <a:pt x="226580" y="4451"/>
                  </a:lnTo>
                  <a:lnTo>
                    <a:pt x="179852" y="17284"/>
                  </a:lnTo>
                  <a:lnTo>
                    <a:pt x="136821" y="37719"/>
                  </a:lnTo>
                  <a:lnTo>
                    <a:pt x="98268" y="64973"/>
                  </a:lnTo>
                  <a:lnTo>
                    <a:pt x="64973" y="98268"/>
                  </a:lnTo>
                  <a:lnTo>
                    <a:pt x="37719" y="136821"/>
                  </a:lnTo>
                  <a:lnTo>
                    <a:pt x="17284" y="179852"/>
                  </a:lnTo>
                  <a:lnTo>
                    <a:pt x="4451" y="226580"/>
                  </a:lnTo>
                  <a:lnTo>
                    <a:pt x="0" y="276225"/>
                  </a:lnTo>
                  <a:lnTo>
                    <a:pt x="4451" y="325869"/>
                  </a:lnTo>
                  <a:lnTo>
                    <a:pt x="17284" y="372597"/>
                  </a:lnTo>
                  <a:lnTo>
                    <a:pt x="37718" y="415628"/>
                  </a:lnTo>
                  <a:lnTo>
                    <a:pt x="64973" y="454181"/>
                  </a:lnTo>
                  <a:lnTo>
                    <a:pt x="98268" y="487476"/>
                  </a:lnTo>
                  <a:lnTo>
                    <a:pt x="136821" y="514731"/>
                  </a:lnTo>
                  <a:lnTo>
                    <a:pt x="179852" y="535165"/>
                  </a:lnTo>
                  <a:lnTo>
                    <a:pt x="226580" y="547998"/>
                  </a:lnTo>
                  <a:lnTo>
                    <a:pt x="276225" y="552450"/>
                  </a:lnTo>
                  <a:lnTo>
                    <a:pt x="1047750" y="552450"/>
                  </a:lnTo>
                  <a:lnTo>
                    <a:pt x="1097394" y="547998"/>
                  </a:lnTo>
                  <a:lnTo>
                    <a:pt x="1144122" y="535165"/>
                  </a:lnTo>
                  <a:lnTo>
                    <a:pt x="1187153" y="514731"/>
                  </a:lnTo>
                  <a:lnTo>
                    <a:pt x="1225706" y="487476"/>
                  </a:lnTo>
                  <a:lnTo>
                    <a:pt x="1259001" y="454181"/>
                  </a:lnTo>
                  <a:lnTo>
                    <a:pt x="1286255" y="415628"/>
                  </a:lnTo>
                  <a:lnTo>
                    <a:pt x="1306690" y="372597"/>
                  </a:lnTo>
                  <a:lnTo>
                    <a:pt x="1319523" y="325869"/>
                  </a:lnTo>
                  <a:lnTo>
                    <a:pt x="1323975" y="276225"/>
                  </a:lnTo>
                  <a:lnTo>
                    <a:pt x="1319523" y="226580"/>
                  </a:lnTo>
                  <a:lnTo>
                    <a:pt x="1306690" y="179852"/>
                  </a:lnTo>
                  <a:lnTo>
                    <a:pt x="1286255" y="136821"/>
                  </a:lnTo>
                  <a:lnTo>
                    <a:pt x="1259001" y="98268"/>
                  </a:lnTo>
                  <a:lnTo>
                    <a:pt x="1225706" y="64973"/>
                  </a:lnTo>
                  <a:lnTo>
                    <a:pt x="1187153" y="37719"/>
                  </a:lnTo>
                  <a:lnTo>
                    <a:pt x="1144122" y="17284"/>
                  </a:lnTo>
                  <a:lnTo>
                    <a:pt x="1097394" y="4451"/>
                  </a:lnTo>
                  <a:lnTo>
                    <a:pt x="1047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009900" y="2190750"/>
              <a:ext cx="1323975" cy="552450"/>
            </a:xfrm>
            <a:custGeom>
              <a:avLst/>
              <a:gdLst/>
              <a:ahLst/>
              <a:cxnLst/>
              <a:rect l="l" t="t" r="r" b="b"/>
              <a:pathLst>
                <a:path w="1323975" h="552450">
                  <a:moveTo>
                    <a:pt x="0" y="276225"/>
                  </a:moveTo>
                  <a:lnTo>
                    <a:pt x="4451" y="226580"/>
                  </a:lnTo>
                  <a:lnTo>
                    <a:pt x="17284" y="179852"/>
                  </a:lnTo>
                  <a:lnTo>
                    <a:pt x="37719" y="136821"/>
                  </a:lnTo>
                  <a:lnTo>
                    <a:pt x="64973" y="98268"/>
                  </a:lnTo>
                  <a:lnTo>
                    <a:pt x="98268" y="64973"/>
                  </a:lnTo>
                  <a:lnTo>
                    <a:pt x="136821" y="37719"/>
                  </a:lnTo>
                  <a:lnTo>
                    <a:pt x="179852" y="17284"/>
                  </a:lnTo>
                  <a:lnTo>
                    <a:pt x="226580" y="4451"/>
                  </a:lnTo>
                  <a:lnTo>
                    <a:pt x="276225" y="0"/>
                  </a:lnTo>
                  <a:lnTo>
                    <a:pt x="1047750" y="0"/>
                  </a:lnTo>
                  <a:lnTo>
                    <a:pt x="1097394" y="4451"/>
                  </a:lnTo>
                  <a:lnTo>
                    <a:pt x="1144122" y="17284"/>
                  </a:lnTo>
                  <a:lnTo>
                    <a:pt x="1187153" y="37718"/>
                  </a:lnTo>
                  <a:lnTo>
                    <a:pt x="1225706" y="64973"/>
                  </a:lnTo>
                  <a:lnTo>
                    <a:pt x="1259001" y="98268"/>
                  </a:lnTo>
                  <a:lnTo>
                    <a:pt x="1286255" y="136821"/>
                  </a:lnTo>
                  <a:lnTo>
                    <a:pt x="1306690" y="179852"/>
                  </a:lnTo>
                  <a:lnTo>
                    <a:pt x="1319523" y="226580"/>
                  </a:lnTo>
                  <a:lnTo>
                    <a:pt x="1323975" y="276225"/>
                  </a:lnTo>
                  <a:lnTo>
                    <a:pt x="1319523" y="325869"/>
                  </a:lnTo>
                  <a:lnTo>
                    <a:pt x="1306690" y="372597"/>
                  </a:lnTo>
                  <a:lnTo>
                    <a:pt x="1286256" y="415628"/>
                  </a:lnTo>
                  <a:lnTo>
                    <a:pt x="1259001" y="454181"/>
                  </a:lnTo>
                  <a:lnTo>
                    <a:pt x="1225706" y="487476"/>
                  </a:lnTo>
                  <a:lnTo>
                    <a:pt x="1187153" y="514730"/>
                  </a:lnTo>
                  <a:lnTo>
                    <a:pt x="1144122" y="535165"/>
                  </a:lnTo>
                  <a:lnTo>
                    <a:pt x="1097394" y="547998"/>
                  </a:lnTo>
                  <a:lnTo>
                    <a:pt x="1047750" y="552450"/>
                  </a:lnTo>
                  <a:lnTo>
                    <a:pt x="276225" y="552450"/>
                  </a:lnTo>
                  <a:lnTo>
                    <a:pt x="226580" y="547998"/>
                  </a:lnTo>
                  <a:lnTo>
                    <a:pt x="179852" y="535165"/>
                  </a:lnTo>
                  <a:lnTo>
                    <a:pt x="136821" y="514731"/>
                  </a:lnTo>
                  <a:lnTo>
                    <a:pt x="98268" y="487476"/>
                  </a:lnTo>
                  <a:lnTo>
                    <a:pt x="64973" y="454181"/>
                  </a:lnTo>
                  <a:lnTo>
                    <a:pt x="37718" y="415628"/>
                  </a:lnTo>
                  <a:lnTo>
                    <a:pt x="17284" y="372597"/>
                  </a:lnTo>
                  <a:lnTo>
                    <a:pt x="4451" y="325869"/>
                  </a:lnTo>
                  <a:lnTo>
                    <a:pt x="0" y="276225"/>
                  </a:lnTo>
                  <a:close/>
                </a:path>
              </a:pathLst>
            </a:custGeom>
            <a:ln w="15875">
              <a:solidFill>
                <a:srgbClr val="5FA7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292728" y="2358326"/>
            <a:ext cx="7613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D4E88"/>
                </a:solidFill>
                <a:latin typeface="Times New Roman"/>
                <a:cs typeface="Times New Roman"/>
              </a:rPr>
              <a:t>GeoPandas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525962" y="2182812"/>
            <a:ext cx="4083050" cy="568325"/>
            <a:chOff x="4525962" y="2182812"/>
            <a:chExt cx="4083050" cy="568325"/>
          </a:xfrm>
        </p:grpSpPr>
        <p:sp>
          <p:nvSpPr>
            <p:cNvPr id="21" name="object 21"/>
            <p:cNvSpPr/>
            <p:nvPr/>
          </p:nvSpPr>
          <p:spPr>
            <a:xfrm>
              <a:off x="4533900" y="2190750"/>
              <a:ext cx="4067175" cy="552450"/>
            </a:xfrm>
            <a:custGeom>
              <a:avLst/>
              <a:gdLst/>
              <a:ahLst/>
              <a:cxnLst/>
              <a:rect l="l" t="t" r="r" b="b"/>
              <a:pathLst>
                <a:path w="4067175" h="552450">
                  <a:moveTo>
                    <a:pt x="3790950" y="0"/>
                  </a:moveTo>
                  <a:lnTo>
                    <a:pt x="276225" y="0"/>
                  </a:lnTo>
                  <a:lnTo>
                    <a:pt x="226580" y="4451"/>
                  </a:lnTo>
                  <a:lnTo>
                    <a:pt x="179852" y="17284"/>
                  </a:lnTo>
                  <a:lnTo>
                    <a:pt x="136821" y="37719"/>
                  </a:lnTo>
                  <a:lnTo>
                    <a:pt x="98268" y="64973"/>
                  </a:lnTo>
                  <a:lnTo>
                    <a:pt x="64973" y="98268"/>
                  </a:lnTo>
                  <a:lnTo>
                    <a:pt x="37718" y="136821"/>
                  </a:lnTo>
                  <a:lnTo>
                    <a:pt x="17284" y="179852"/>
                  </a:lnTo>
                  <a:lnTo>
                    <a:pt x="4451" y="226580"/>
                  </a:lnTo>
                  <a:lnTo>
                    <a:pt x="0" y="276225"/>
                  </a:lnTo>
                  <a:lnTo>
                    <a:pt x="4451" y="325869"/>
                  </a:lnTo>
                  <a:lnTo>
                    <a:pt x="17284" y="372597"/>
                  </a:lnTo>
                  <a:lnTo>
                    <a:pt x="37719" y="415628"/>
                  </a:lnTo>
                  <a:lnTo>
                    <a:pt x="64973" y="454181"/>
                  </a:lnTo>
                  <a:lnTo>
                    <a:pt x="98268" y="487476"/>
                  </a:lnTo>
                  <a:lnTo>
                    <a:pt x="136821" y="514731"/>
                  </a:lnTo>
                  <a:lnTo>
                    <a:pt x="179852" y="535165"/>
                  </a:lnTo>
                  <a:lnTo>
                    <a:pt x="226580" y="547998"/>
                  </a:lnTo>
                  <a:lnTo>
                    <a:pt x="276225" y="552450"/>
                  </a:lnTo>
                  <a:lnTo>
                    <a:pt x="3790950" y="552450"/>
                  </a:lnTo>
                  <a:lnTo>
                    <a:pt x="3840594" y="547998"/>
                  </a:lnTo>
                  <a:lnTo>
                    <a:pt x="3887322" y="535165"/>
                  </a:lnTo>
                  <a:lnTo>
                    <a:pt x="3930353" y="514731"/>
                  </a:lnTo>
                  <a:lnTo>
                    <a:pt x="3968906" y="487476"/>
                  </a:lnTo>
                  <a:lnTo>
                    <a:pt x="4002201" y="454181"/>
                  </a:lnTo>
                  <a:lnTo>
                    <a:pt x="4029455" y="415628"/>
                  </a:lnTo>
                  <a:lnTo>
                    <a:pt x="4049890" y="372597"/>
                  </a:lnTo>
                  <a:lnTo>
                    <a:pt x="4062723" y="325869"/>
                  </a:lnTo>
                  <a:lnTo>
                    <a:pt x="4067175" y="276225"/>
                  </a:lnTo>
                  <a:lnTo>
                    <a:pt x="4062723" y="226580"/>
                  </a:lnTo>
                  <a:lnTo>
                    <a:pt x="4049890" y="179852"/>
                  </a:lnTo>
                  <a:lnTo>
                    <a:pt x="4029455" y="136821"/>
                  </a:lnTo>
                  <a:lnTo>
                    <a:pt x="4002201" y="98268"/>
                  </a:lnTo>
                  <a:lnTo>
                    <a:pt x="3968906" y="64973"/>
                  </a:lnTo>
                  <a:lnTo>
                    <a:pt x="3930353" y="37719"/>
                  </a:lnTo>
                  <a:lnTo>
                    <a:pt x="3887322" y="17284"/>
                  </a:lnTo>
                  <a:lnTo>
                    <a:pt x="3840594" y="4451"/>
                  </a:lnTo>
                  <a:lnTo>
                    <a:pt x="3790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533900" y="2190750"/>
              <a:ext cx="4067175" cy="552450"/>
            </a:xfrm>
            <a:custGeom>
              <a:avLst/>
              <a:gdLst/>
              <a:ahLst/>
              <a:cxnLst/>
              <a:rect l="l" t="t" r="r" b="b"/>
              <a:pathLst>
                <a:path w="4067175" h="552450">
                  <a:moveTo>
                    <a:pt x="0" y="276225"/>
                  </a:moveTo>
                  <a:lnTo>
                    <a:pt x="4451" y="226580"/>
                  </a:lnTo>
                  <a:lnTo>
                    <a:pt x="17284" y="179852"/>
                  </a:lnTo>
                  <a:lnTo>
                    <a:pt x="37718" y="136821"/>
                  </a:lnTo>
                  <a:lnTo>
                    <a:pt x="64973" y="98268"/>
                  </a:lnTo>
                  <a:lnTo>
                    <a:pt x="98268" y="64973"/>
                  </a:lnTo>
                  <a:lnTo>
                    <a:pt x="136821" y="37719"/>
                  </a:lnTo>
                  <a:lnTo>
                    <a:pt x="179852" y="17284"/>
                  </a:lnTo>
                  <a:lnTo>
                    <a:pt x="226580" y="4451"/>
                  </a:lnTo>
                  <a:lnTo>
                    <a:pt x="276225" y="0"/>
                  </a:lnTo>
                  <a:lnTo>
                    <a:pt x="3790950" y="0"/>
                  </a:lnTo>
                  <a:lnTo>
                    <a:pt x="3840594" y="4451"/>
                  </a:lnTo>
                  <a:lnTo>
                    <a:pt x="3887322" y="17284"/>
                  </a:lnTo>
                  <a:lnTo>
                    <a:pt x="3930353" y="37718"/>
                  </a:lnTo>
                  <a:lnTo>
                    <a:pt x="3968906" y="64973"/>
                  </a:lnTo>
                  <a:lnTo>
                    <a:pt x="4002201" y="98268"/>
                  </a:lnTo>
                  <a:lnTo>
                    <a:pt x="4029455" y="136821"/>
                  </a:lnTo>
                  <a:lnTo>
                    <a:pt x="4049890" y="179852"/>
                  </a:lnTo>
                  <a:lnTo>
                    <a:pt x="4062723" y="226580"/>
                  </a:lnTo>
                  <a:lnTo>
                    <a:pt x="4067175" y="276225"/>
                  </a:lnTo>
                  <a:lnTo>
                    <a:pt x="4062723" y="325869"/>
                  </a:lnTo>
                  <a:lnTo>
                    <a:pt x="4049890" y="372597"/>
                  </a:lnTo>
                  <a:lnTo>
                    <a:pt x="4029455" y="415628"/>
                  </a:lnTo>
                  <a:lnTo>
                    <a:pt x="4002201" y="454181"/>
                  </a:lnTo>
                  <a:lnTo>
                    <a:pt x="3968906" y="487476"/>
                  </a:lnTo>
                  <a:lnTo>
                    <a:pt x="3930353" y="514730"/>
                  </a:lnTo>
                  <a:lnTo>
                    <a:pt x="3887322" y="535165"/>
                  </a:lnTo>
                  <a:lnTo>
                    <a:pt x="3840594" y="547998"/>
                  </a:lnTo>
                  <a:lnTo>
                    <a:pt x="3790950" y="552450"/>
                  </a:lnTo>
                  <a:lnTo>
                    <a:pt x="276225" y="552450"/>
                  </a:lnTo>
                  <a:lnTo>
                    <a:pt x="226580" y="547998"/>
                  </a:lnTo>
                  <a:lnTo>
                    <a:pt x="179852" y="535165"/>
                  </a:lnTo>
                  <a:lnTo>
                    <a:pt x="136821" y="514731"/>
                  </a:lnTo>
                  <a:lnTo>
                    <a:pt x="98268" y="487476"/>
                  </a:lnTo>
                  <a:lnTo>
                    <a:pt x="64973" y="454181"/>
                  </a:lnTo>
                  <a:lnTo>
                    <a:pt x="37719" y="415628"/>
                  </a:lnTo>
                  <a:lnTo>
                    <a:pt x="17284" y="372597"/>
                  </a:lnTo>
                  <a:lnTo>
                    <a:pt x="4451" y="325869"/>
                  </a:lnTo>
                  <a:lnTo>
                    <a:pt x="0" y="276225"/>
                  </a:lnTo>
                  <a:close/>
                </a:path>
              </a:pathLst>
            </a:custGeom>
            <a:ln w="15875">
              <a:solidFill>
                <a:srgbClr val="5FA7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5239765" y="2358326"/>
            <a:ext cx="26644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D4E88"/>
                </a:solidFill>
                <a:latin typeface="Times New Roman"/>
                <a:cs typeface="Times New Roman"/>
              </a:rPr>
              <a:t>Shapefile </a:t>
            </a:r>
            <a:r>
              <a:rPr dirty="0" sz="1200" b="1">
                <a:solidFill>
                  <a:srgbClr val="1D4E88"/>
                </a:solidFill>
                <a:latin typeface="Times New Roman"/>
                <a:cs typeface="Times New Roman"/>
              </a:rPr>
              <a:t>/</a:t>
            </a:r>
            <a:r>
              <a:rPr dirty="0" sz="1200" spc="40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1D4E88"/>
                </a:solidFill>
                <a:latin typeface="Times New Roman"/>
                <a:cs typeface="Times New Roman"/>
              </a:rPr>
              <a:t>GeoJSON</a:t>
            </a:r>
            <a:r>
              <a:rPr dirty="0" sz="1200" spc="-40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D4E88"/>
                </a:solidFill>
                <a:latin typeface="Times New Roman"/>
                <a:cs typeface="Times New Roman"/>
              </a:rPr>
              <a:t>district</a:t>
            </a:r>
            <a:r>
              <a:rPr dirty="0" sz="1200" spc="-20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1D4E88"/>
                </a:solidFill>
                <a:latin typeface="Times New Roman"/>
                <a:cs typeface="Times New Roman"/>
              </a:rPr>
              <a:t>boundaries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04825" y="3152775"/>
            <a:ext cx="1371600" cy="390525"/>
          </a:xfrm>
          <a:custGeom>
            <a:avLst/>
            <a:gdLst/>
            <a:ahLst/>
            <a:cxnLst/>
            <a:rect l="l" t="t" r="r" b="b"/>
            <a:pathLst>
              <a:path w="1371600" h="390525">
                <a:moveTo>
                  <a:pt x="1315847" y="0"/>
                </a:moveTo>
                <a:lnTo>
                  <a:pt x="55791" y="0"/>
                </a:lnTo>
                <a:lnTo>
                  <a:pt x="34075" y="4389"/>
                </a:lnTo>
                <a:lnTo>
                  <a:pt x="16341" y="16351"/>
                </a:lnTo>
                <a:lnTo>
                  <a:pt x="4384" y="34075"/>
                </a:lnTo>
                <a:lnTo>
                  <a:pt x="0" y="55752"/>
                </a:lnTo>
                <a:lnTo>
                  <a:pt x="0" y="334772"/>
                </a:lnTo>
                <a:lnTo>
                  <a:pt x="4384" y="356449"/>
                </a:lnTo>
                <a:lnTo>
                  <a:pt x="16341" y="374173"/>
                </a:lnTo>
                <a:lnTo>
                  <a:pt x="34075" y="386135"/>
                </a:lnTo>
                <a:lnTo>
                  <a:pt x="55791" y="390525"/>
                </a:lnTo>
                <a:lnTo>
                  <a:pt x="1315847" y="390525"/>
                </a:lnTo>
                <a:lnTo>
                  <a:pt x="1337524" y="386135"/>
                </a:lnTo>
                <a:lnTo>
                  <a:pt x="1355248" y="374173"/>
                </a:lnTo>
                <a:lnTo>
                  <a:pt x="1367210" y="356449"/>
                </a:lnTo>
                <a:lnTo>
                  <a:pt x="1371600" y="334772"/>
                </a:lnTo>
                <a:lnTo>
                  <a:pt x="1371600" y="55752"/>
                </a:lnTo>
                <a:lnTo>
                  <a:pt x="1367210" y="34075"/>
                </a:lnTo>
                <a:lnTo>
                  <a:pt x="1355248" y="16351"/>
                </a:lnTo>
                <a:lnTo>
                  <a:pt x="1337524" y="4389"/>
                </a:lnTo>
                <a:lnTo>
                  <a:pt x="1315847" y="0"/>
                </a:lnTo>
                <a:close/>
              </a:path>
            </a:pathLst>
          </a:custGeom>
          <a:solidFill>
            <a:srgbClr val="F164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802957" y="3249295"/>
            <a:ext cx="77089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12335A"/>
                </a:solidFill>
                <a:latin typeface="Times New Roman"/>
                <a:cs typeface="Times New Roman"/>
              </a:rPr>
              <a:t>OUTCOME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03237" y="3703701"/>
            <a:ext cx="10890885" cy="1565275"/>
            <a:chOff x="503237" y="3703701"/>
            <a:chExt cx="10890885" cy="1565275"/>
          </a:xfrm>
        </p:grpSpPr>
        <p:sp>
          <p:nvSpPr>
            <p:cNvPr id="27" name="object 27"/>
            <p:cNvSpPr/>
            <p:nvPr/>
          </p:nvSpPr>
          <p:spPr>
            <a:xfrm>
              <a:off x="509587" y="3710051"/>
              <a:ext cx="10878185" cy="1552575"/>
            </a:xfrm>
            <a:custGeom>
              <a:avLst/>
              <a:gdLst/>
              <a:ahLst/>
              <a:cxnLst/>
              <a:rect l="l" t="t" r="r" b="b"/>
              <a:pathLst>
                <a:path w="10878185" h="1552575">
                  <a:moveTo>
                    <a:pt x="10786173" y="0"/>
                  </a:moveTo>
                  <a:lnTo>
                    <a:pt x="91325" y="0"/>
                  </a:lnTo>
                  <a:lnTo>
                    <a:pt x="55780" y="7159"/>
                  </a:lnTo>
                  <a:lnTo>
                    <a:pt x="26750" y="26701"/>
                  </a:lnTo>
                  <a:lnTo>
                    <a:pt x="7177" y="55721"/>
                  </a:lnTo>
                  <a:lnTo>
                    <a:pt x="0" y="91312"/>
                  </a:lnTo>
                  <a:lnTo>
                    <a:pt x="0" y="1461135"/>
                  </a:lnTo>
                  <a:lnTo>
                    <a:pt x="7177" y="1496746"/>
                  </a:lnTo>
                  <a:lnTo>
                    <a:pt x="26750" y="1525809"/>
                  </a:lnTo>
                  <a:lnTo>
                    <a:pt x="55780" y="1545395"/>
                  </a:lnTo>
                  <a:lnTo>
                    <a:pt x="91325" y="1552575"/>
                  </a:lnTo>
                  <a:lnTo>
                    <a:pt x="10786173" y="1552575"/>
                  </a:lnTo>
                  <a:lnTo>
                    <a:pt x="10821785" y="1545395"/>
                  </a:lnTo>
                  <a:lnTo>
                    <a:pt x="10850848" y="1525809"/>
                  </a:lnTo>
                  <a:lnTo>
                    <a:pt x="10870434" y="1496746"/>
                  </a:lnTo>
                  <a:lnTo>
                    <a:pt x="10877613" y="1461135"/>
                  </a:lnTo>
                  <a:lnTo>
                    <a:pt x="10877613" y="91312"/>
                  </a:lnTo>
                  <a:lnTo>
                    <a:pt x="10870434" y="55721"/>
                  </a:lnTo>
                  <a:lnTo>
                    <a:pt x="10850848" y="26701"/>
                  </a:lnTo>
                  <a:lnTo>
                    <a:pt x="10821785" y="7159"/>
                  </a:lnTo>
                  <a:lnTo>
                    <a:pt x="107861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09587" y="3710051"/>
              <a:ext cx="10878185" cy="1552575"/>
            </a:xfrm>
            <a:custGeom>
              <a:avLst/>
              <a:gdLst/>
              <a:ahLst/>
              <a:cxnLst/>
              <a:rect l="l" t="t" r="r" b="b"/>
              <a:pathLst>
                <a:path w="10878185" h="1552575">
                  <a:moveTo>
                    <a:pt x="0" y="91312"/>
                  </a:moveTo>
                  <a:lnTo>
                    <a:pt x="7177" y="55721"/>
                  </a:lnTo>
                  <a:lnTo>
                    <a:pt x="26750" y="26701"/>
                  </a:lnTo>
                  <a:lnTo>
                    <a:pt x="55780" y="7159"/>
                  </a:lnTo>
                  <a:lnTo>
                    <a:pt x="91325" y="0"/>
                  </a:lnTo>
                  <a:lnTo>
                    <a:pt x="10786173" y="0"/>
                  </a:lnTo>
                  <a:lnTo>
                    <a:pt x="10821785" y="7159"/>
                  </a:lnTo>
                  <a:lnTo>
                    <a:pt x="10850848" y="26701"/>
                  </a:lnTo>
                  <a:lnTo>
                    <a:pt x="10870434" y="55721"/>
                  </a:lnTo>
                  <a:lnTo>
                    <a:pt x="10877613" y="91312"/>
                  </a:lnTo>
                  <a:lnTo>
                    <a:pt x="10877613" y="1461135"/>
                  </a:lnTo>
                  <a:lnTo>
                    <a:pt x="10870434" y="1496746"/>
                  </a:lnTo>
                  <a:lnTo>
                    <a:pt x="10850848" y="1525809"/>
                  </a:lnTo>
                  <a:lnTo>
                    <a:pt x="10821785" y="1545395"/>
                  </a:lnTo>
                  <a:lnTo>
                    <a:pt x="10786173" y="1552575"/>
                  </a:lnTo>
                  <a:lnTo>
                    <a:pt x="91325" y="1552575"/>
                  </a:lnTo>
                  <a:lnTo>
                    <a:pt x="55780" y="1545395"/>
                  </a:lnTo>
                  <a:lnTo>
                    <a:pt x="26750" y="1525809"/>
                  </a:lnTo>
                  <a:lnTo>
                    <a:pt x="7177" y="1496746"/>
                  </a:lnTo>
                  <a:lnTo>
                    <a:pt x="0" y="1461135"/>
                  </a:lnTo>
                  <a:lnTo>
                    <a:pt x="0" y="91312"/>
                  </a:lnTo>
                  <a:close/>
                </a:path>
              </a:pathLst>
            </a:custGeom>
            <a:ln w="12700">
              <a:solidFill>
                <a:srgbClr val="E2EB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902335" y="4362450"/>
            <a:ext cx="10027920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A</a:t>
            </a:r>
            <a:r>
              <a:rPr dirty="0" sz="1550" spc="-2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clean,</a:t>
            </a:r>
            <a:r>
              <a:rPr dirty="0" sz="1550" spc="6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geographically</a:t>
            </a:r>
            <a:r>
              <a:rPr dirty="0" sz="1550" spc="1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indexed</a:t>
            </a:r>
            <a:r>
              <a:rPr dirty="0" sz="1550" spc="13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nutrition</a:t>
            </a:r>
            <a:r>
              <a:rPr dirty="0" sz="1550" spc="1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dataset</a:t>
            </a:r>
            <a:r>
              <a:rPr dirty="0" sz="1550" spc="19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ready</a:t>
            </a:r>
            <a:r>
              <a:rPr dirty="0" sz="1550" spc="1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for</a:t>
            </a:r>
            <a:r>
              <a:rPr dirty="0" sz="1550" spc="18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regional</a:t>
            </a:r>
            <a:r>
              <a:rPr dirty="0" sz="1550" spc="10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mapping</a:t>
            </a:r>
            <a:r>
              <a:rPr dirty="0" sz="1550" spc="13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and</a:t>
            </a:r>
            <a:r>
              <a:rPr dirty="0" sz="1550" spc="1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distribution</a:t>
            </a:r>
            <a:r>
              <a:rPr dirty="0" sz="1550" spc="1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analysis</a:t>
            </a:r>
            <a:r>
              <a:rPr dirty="0" sz="1550" spc="7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in</a:t>
            </a:r>
            <a:r>
              <a:rPr dirty="0" sz="1550" spc="1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the</a:t>
            </a:r>
            <a:r>
              <a:rPr dirty="0" sz="1550" spc="15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B2733"/>
                </a:solidFill>
                <a:latin typeface="Times New Roman"/>
                <a:cs typeface="Times New Roman"/>
              </a:rPr>
              <a:t>next</a:t>
            </a:r>
            <a:r>
              <a:rPr dirty="0" sz="1550" spc="10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1B2733"/>
                </a:solidFill>
                <a:latin typeface="Times New Roman"/>
                <a:cs typeface="Times New Roman"/>
              </a:rPr>
              <a:t>modules.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694541" y="6471750"/>
            <a:ext cx="159385" cy="16256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50" spc="-25">
                <a:solidFill>
                  <a:srgbClr val="5B6773"/>
                </a:solidFill>
                <a:latin typeface="Times New Roman"/>
                <a:cs typeface="Times New Roman"/>
              </a:rPr>
              <a:t>07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4825" y="590550"/>
            <a:ext cx="1419225" cy="457200"/>
          </a:xfrm>
          <a:custGeom>
            <a:avLst/>
            <a:gdLst/>
            <a:ahLst/>
            <a:cxnLst/>
            <a:rect l="l" t="t" r="r" b="b"/>
            <a:pathLst>
              <a:path w="1419225" h="457200">
                <a:moveTo>
                  <a:pt x="1346073" y="0"/>
                </a:moveTo>
                <a:lnTo>
                  <a:pt x="73151" y="0"/>
                </a:lnTo>
                <a:lnTo>
                  <a:pt x="44678" y="5750"/>
                </a:lnTo>
                <a:lnTo>
                  <a:pt x="21426" y="21431"/>
                </a:lnTo>
                <a:lnTo>
                  <a:pt x="5748" y="44684"/>
                </a:lnTo>
                <a:lnTo>
                  <a:pt x="0" y="73151"/>
                </a:lnTo>
                <a:lnTo>
                  <a:pt x="0" y="384048"/>
                </a:lnTo>
                <a:lnTo>
                  <a:pt x="5748" y="412515"/>
                </a:lnTo>
                <a:lnTo>
                  <a:pt x="21426" y="435768"/>
                </a:lnTo>
                <a:lnTo>
                  <a:pt x="44678" y="451449"/>
                </a:lnTo>
                <a:lnTo>
                  <a:pt x="73151" y="457200"/>
                </a:lnTo>
                <a:lnTo>
                  <a:pt x="1346073" y="457200"/>
                </a:lnTo>
                <a:lnTo>
                  <a:pt x="1374540" y="451449"/>
                </a:lnTo>
                <a:lnTo>
                  <a:pt x="1397793" y="435768"/>
                </a:lnTo>
                <a:lnTo>
                  <a:pt x="1413474" y="412515"/>
                </a:lnTo>
                <a:lnTo>
                  <a:pt x="1419225" y="384048"/>
                </a:lnTo>
                <a:lnTo>
                  <a:pt x="1419225" y="73151"/>
                </a:lnTo>
                <a:lnTo>
                  <a:pt x="1413474" y="44684"/>
                </a:lnTo>
                <a:lnTo>
                  <a:pt x="1397793" y="21431"/>
                </a:lnTo>
                <a:lnTo>
                  <a:pt x="1374540" y="5750"/>
                </a:lnTo>
                <a:lnTo>
                  <a:pt x="1346073" y="0"/>
                </a:lnTo>
                <a:close/>
              </a:path>
            </a:pathLst>
          </a:custGeom>
          <a:solidFill>
            <a:srgbClr val="F164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5962" y="702627"/>
            <a:ext cx="98361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105" b="1">
                <a:solidFill>
                  <a:srgbClr val="12335A"/>
                </a:solidFill>
                <a:latin typeface="Times New Roman"/>
                <a:cs typeface="Times New Roman"/>
              </a:rPr>
              <a:t>MODULE</a:t>
            </a:r>
            <a:r>
              <a:rPr dirty="0" sz="1250" spc="280" b="1">
                <a:solidFill>
                  <a:srgbClr val="12335A"/>
                </a:solidFill>
                <a:latin typeface="Times New Roman"/>
                <a:cs typeface="Times New Roman"/>
              </a:rPr>
              <a:t> </a:t>
            </a:r>
            <a:r>
              <a:rPr dirty="0" sz="1250" spc="-50" b="1">
                <a:solidFill>
                  <a:srgbClr val="12335A"/>
                </a:solidFill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83383" y="603186"/>
            <a:ext cx="7906384" cy="426084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/>
              <a:t>MALNUTRITION</a:t>
            </a:r>
            <a:r>
              <a:rPr dirty="0" sz="2600" spc="-75"/>
              <a:t> </a:t>
            </a:r>
            <a:r>
              <a:rPr dirty="0" sz="2600"/>
              <a:t>DISTRIBUTION</a:t>
            </a:r>
            <a:r>
              <a:rPr dirty="0" sz="2600" spc="-70"/>
              <a:t> </a:t>
            </a:r>
            <a:r>
              <a:rPr dirty="0" sz="2600"/>
              <a:t>&amp;</a:t>
            </a:r>
            <a:r>
              <a:rPr dirty="0" sz="2600" spc="-130"/>
              <a:t> </a:t>
            </a:r>
            <a:r>
              <a:rPr dirty="0" sz="2600" spc="-10"/>
              <a:t>PROPORTION</a:t>
            </a:r>
            <a:endParaRPr sz="2600"/>
          </a:p>
        </p:txBody>
      </p:sp>
      <p:sp>
        <p:nvSpPr>
          <p:cNvPr id="5" name="object 5"/>
          <p:cNvSpPr/>
          <p:nvPr/>
        </p:nvSpPr>
        <p:spPr>
          <a:xfrm>
            <a:off x="509587" y="1243075"/>
            <a:ext cx="11202035" cy="0"/>
          </a:xfrm>
          <a:custGeom>
            <a:avLst/>
            <a:gdLst/>
            <a:ahLst/>
            <a:cxnLst/>
            <a:rect l="l" t="t" r="r" b="b"/>
            <a:pathLst>
              <a:path w="11202035" h="0">
                <a:moveTo>
                  <a:pt x="0" y="0"/>
                </a:moveTo>
                <a:lnTo>
                  <a:pt x="11201463" y="0"/>
                </a:lnTo>
              </a:path>
            </a:pathLst>
          </a:custGeom>
          <a:ln w="12700">
            <a:solidFill>
              <a:srgbClr val="D7E2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04825" y="1504950"/>
            <a:ext cx="2333625" cy="390525"/>
          </a:xfrm>
          <a:custGeom>
            <a:avLst/>
            <a:gdLst/>
            <a:ahLst/>
            <a:cxnLst/>
            <a:rect l="l" t="t" r="r" b="b"/>
            <a:pathLst>
              <a:path w="2333625" h="390525">
                <a:moveTo>
                  <a:pt x="2277872" y="0"/>
                </a:moveTo>
                <a:lnTo>
                  <a:pt x="55791" y="0"/>
                </a:lnTo>
                <a:lnTo>
                  <a:pt x="34075" y="4389"/>
                </a:lnTo>
                <a:lnTo>
                  <a:pt x="16341" y="16351"/>
                </a:lnTo>
                <a:lnTo>
                  <a:pt x="4384" y="34075"/>
                </a:lnTo>
                <a:lnTo>
                  <a:pt x="0" y="55752"/>
                </a:lnTo>
                <a:lnTo>
                  <a:pt x="0" y="334772"/>
                </a:lnTo>
                <a:lnTo>
                  <a:pt x="4384" y="356449"/>
                </a:lnTo>
                <a:lnTo>
                  <a:pt x="16341" y="374173"/>
                </a:lnTo>
                <a:lnTo>
                  <a:pt x="34075" y="386135"/>
                </a:lnTo>
                <a:lnTo>
                  <a:pt x="55791" y="390525"/>
                </a:lnTo>
                <a:lnTo>
                  <a:pt x="2277872" y="390525"/>
                </a:lnTo>
                <a:lnTo>
                  <a:pt x="2299549" y="386135"/>
                </a:lnTo>
                <a:lnTo>
                  <a:pt x="2317273" y="374173"/>
                </a:lnTo>
                <a:lnTo>
                  <a:pt x="2329235" y="356449"/>
                </a:lnTo>
                <a:lnTo>
                  <a:pt x="2333625" y="334772"/>
                </a:lnTo>
                <a:lnTo>
                  <a:pt x="2333625" y="55752"/>
                </a:lnTo>
                <a:lnTo>
                  <a:pt x="2329235" y="34075"/>
                </a:lnTo>
                <a:lnTo>
                  <a:pt x="2317273" y="16351"/>
                </a:lnTo>
                <a:lnTo>
                  <a:pt x="2299549" y="4389"/>
                </a:lnTo>
                <a:lnTo>
                  <a:pt x="2277872" y="0"/>
                </a:lnTo>
                <a:close/>
              </a:path>
            </a:pathLst>
          </a:custGeom>
          <a:solidFill>
            <a:srgbClr val="1D4E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96277" y="1600517"/>
            <a:ext cx="194119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FFFFFF"/>
                </a:solidFill>
                <a:latin typeface="Times New Roman"/>
                <a:cs typeface="Times New Roman"/>
              </a:rPr>
              <a:t>PURPOSE</a:t>
            </a:r>
            <a:r>
              <a:rPr dirty="0" sz="105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b="1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1050" spc="2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b="1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105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spc="-10" b="1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977" y="2042223"/>
            <a:ext cx="10536555" cy="674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300"/>
              </a:lnSpc>
              <a:spcBef>
                <a:spcPts val="100"/>
              </a:spcBef>
            </a:pPr>
            <a:r>
              <a:rPr dirty="0" sz="1800" spc="-10" i="1">
                <a:solidFill>
                  <a:srgbClr val="1B2733"/>
                </a:solidFill>
                <a:latin typeface="Times New Roman"/>
                <a:cs typeface="Times New Roman"/>
              </a:rPr>
              <a:t>Visualize</a:t>
            </a:r>
            <a:r>
              <a:rPr dirty="0" sz="1800" spc="-7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where malnutrition</a:t>
            </a:r>
            <a:r>
              <a:rPr dirty="0" sz="1800" spc="-20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is</a:t>
            </a:r>
            <a:r>
              <a:rPr dirty="0" sz="1800" spc="-50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concentrated</a:t>
            </a:r>
            <a:r>
              <a:rPr dirty="0" sz="1800" spc="-2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and</a:t>
            </a:r>
            <a:r>
              <a:rPr dirty="0" sz="1800" spc="-20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how</a:t>
            </a:r>
            <a:r>
              <a:rPr dirty="0" sz="1800" spc="-2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nutrition</a:t>
            </a:r>
            <a:r>
              <a:rPr dirty="0" sz="1800" spc="-2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and</a:t>
            </a:r>
            <a:r>
              <a:rPr dirty="0" sz="1800" spc="-20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5" i="1">
                <a:solidFill>
                  <a:srgbClr val="1B2733"/>
                </a:solidFill>
                <a:latin typeface="Times New Roman"/>
                <a:cs typeface="Times New Roman"/>
              </a:rPr>
              <a:t>food-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security</a:t>
            </a:r>
            <a:r>
              <a:rPr dirty="0" sz="1800" spc="-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categories</a:t>
            </a:r>
            <a:r>
              <a:rPr dirty="0" sz="1800" spc="-5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are</a:t>
            </a:r>
            <a:r>
              <a:rPr dirty="0" sz="1800" spc="-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distributed</a:t>
            </a:r>
            <a:r>
              <a:rPr dirty="0" sz="1800" spc="-20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 i="1">
                <a:solidFill>
                  <a:srgbClr val="1B2733"/>
                </a:solidFill>
                <a:latin typeface="Times New Roman"/>
                <a:cs typeface="Times New Roman"/>
              </a:rPr>
              <a:t>across districts.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4825" y="3019425"/>
            <a:ext cx="1419225" cy="381000"/>
          </a:xfrm>
          <a:custGeom>
            <a:avLst/>
            <a:gdLst/>
            <a:ahLst/>
            <a:cxnLst/>
            <a:rect l="l" t="t" r="r" b="b"/>
            <a:pathLst>
              <a:path w="1419225" h="381000">
                <a:moveTo>
                  <a:pt x="1364742" y="0"/>
                </a:moveTo>
                <a:lnTo>
                  <a:pt x="54432" y="0"/>
                </a:lnTo>
                <a:lnTo>
                  <a:pt x="33245" y="4280"/>
                </a:lnTo>
                <a:lnTo>
                  <a:pt x="15943" y="15954"/>
                </a:lnTo>
                <a:lnTo>
                  <a:pt x="4277" y="33272"/>
                </a:lnTo>
                <a:lnTo>
                  <a:pt x="0" y="54483"/>
                </a:lnTo>
                <a:lnTo>
                  <a:pt x="0" y="326516"/>
                </a:lnTo>
                <a:lnTo>
                  <a:pt x="4277" y="347727"/>
                </a:lnTo>
                <a:lnTo>
                  <a:pt x="15943" y="365045"/>
                </a:lnTo>
                <a:lnTo>
                  <a:pt x="33245" y="376719"/>
                </a:lnTo>
                <a:lnTo>
                  <a:pt x="54432" y="381000"/>
                </a:lnTo>
                <a:lnTo>
                  <a:pt x="1364742" y="381000"/>
                </a:lnTo>
                <a:lnTo>
                  <a:pt x="1385952" y="376719"/>
                </a:lnTo>
                <a:lnTo>
                  <a:pt x="1403270" y="365045"/>
                </a:lnTo>
                <a:lnTo>
                  <a:pt x="1414944" y="347727"/>
                </a:lnTo>
                <a:lnTo>
                  <a:pt x="1419225" y="326516"/>
                </a:lnTo>
                <a:lnTo>
                  <a:pt x="1419225" y="54483"/>
                </a:lnTo>
                <a:lnTo>
                  <a:pt x="1414944" y="33272"/>
                </a:lnTo>
                <a:lnTo>
                  <a:pt x="1403270" y="15954"/>
                </a:lnTo>
                <a:lnTo>
                  <a:pt x="1385952" y="4280"/>
                </a:lnTo>
                <a:lnTo>
                  <a:pt x="1364742" y="0"/>
                </a:lnTo>
                <a:close/>
              </a:path>
            </a:pathLst>
          </a:custGeom>
          <a:solidFill>
            <a:srgbClr val="5FA7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60400" y="3111436"/>
            <a:ext cx="109474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FFFFFF"/>
                </a:solidFill>
                <a:latin typeface="Times New Roman"/>
                <a:cs typeface="Times New Roman"/>
              </a:rPr>
              <a:t>WHAT</a:t>
            </a:r>
            <a:r>
              <a:rPr dirty="0" sz="1050" spc="1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b="1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1050" spc="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spc="-20" b="1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94541" y="6471750"/>
            <a:ext cx="159385" cy="16256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50" spc="-25">
                <a:solidFill>
                  <a:srgbClr val="5B6773"/>
                </a:solidFill>
                <a:latin typeface="Times New Roman"/>
                <a:cs typeface="Times New Roman"/>
              </a:rPr>
              <a:t>08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4694" y="3658806"/>
            <a:ext cx="7206615" cy="2103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har char="•"/>
              <a:tabLst>
                <a:tab pos="240665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Generate</a:t>
            </a:r>
            <a:r>
              <a:rPr dirty="0" sz="1800" spc="-2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choropleth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maps</a:t>
            </a:r>
            <a:r>
              <a:rPr dirty="0" sz="1800" spc="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of</a:t>
            </a:r>
            <a:r>
              <a:rPr dirty="0" sz="1800" spc="-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district-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wise</a:t>
            </a:r>
            <a:r>
              <a:rPr dirty="0" sz="1800" spc="2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malnutrition</a:t>
            </a:r>
            <a:r>
              <a:rPr dirty="0" sz="18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prevalence.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370"/>
              </a:spcBef>
              <a:buChar char="•"/>
              <a:tabLst>
                <a:tab pos="240665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Plot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histograms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of</a:t>
            </a:r>
            <a:r>
              <a:rPr dirty="0" sz="1800" spc="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BMI</a:t>
            </a:r>
            <a:r>
              <a:rPr dirty="0" sz="1800" spc="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/</a:t>
            </a:r>
            <a:r>
              <a:rPr dirty="0" sz="1800" spc="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weight-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for-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age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z-score</a:t>
            </a:r>
            <a:r>
              <a:rPr dirty="0" sz="1800" spc="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distributions</a:t>
            </a:r>
            <a:r>
              <a:rPr dirty="0" sz="18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by age</a:t>
            </a:r>
            <a:r>
              <a:rPr dirty="0" sz="18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group.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445"/>
              </a:spcBef>
              <a:buChar char="•"/>
              <a:tabLst>
                <a:tab pos="240665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Build</a:t>
            </a:r>
            <a:r>
              <a:rPr dirty="0" sz="1800" spc="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stacked</a:t>
            </a:r>
            <a:r>
              <a:rPr dirty="0" sz="1800" spc="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bar</a:t>
            </a:r>
            <a:r>
              <a:rPr dirty="0" sz="18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charts</a:t>
            </a:r>
            <a:r>
              <a:rPr dirty="0" sz="1800" spc="-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of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food-security-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category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proportions</a:t>
            </a:r>
            <a:r>
              <a:rPr dirty="0" sz="1800" spc="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per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district.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370"/>
              </a:spcBef>
              <a:buChar char="•"/>
              <a:tabLst>
                <a:tab pos="240665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Compare</a:t>
            </a:r>
            <a:r>
              <a:rPr dirty="0" sz="18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malnutrition</a:t>
            </a:r>
            <a:r>
              <a:rPr dirty="0" sz="1800" spc="-4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categories</a:t>
            </a:r>
            <a:r>
              <a:rPr dirty="0" sz="1800" spc="-3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(severe,</a:t>
            </a:r>
            <a:r>
              <a:rPr dirty="0" sz="1800" spc="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moderate,</a:t>
            </a:r>
            <a:r>
              <a:rPr dirty="0" sz="1800" spc="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normal)</a:t>
            </a:r>
            <a:r>
              <a:rPr dirty="0" sz="18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across</a:t>
            </a:r>
            <a:r>
              <a:rPr dirty="0" sz="1800" spc="-4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regions.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370"/>
              </a:spcBef>
              <a:buChar char="•"/>
              <a:tabLst>
                <a:tab pos="240665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Flag</a:t>
            </a:r>
            <a:r>
              <a:rPr dirty="0" sz="1800" spc="-5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high-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risk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districts</a:t>
            </a:r>
            <a:r>
              <a:rPr dirty="0" sz="1800" spc="-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that</a:t>
            </a:r>
            <a:r>
              <a:rPr dirty="0" sz="1800" spc="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cross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prevalence</a:t>
            </a:r>
            <a:r>
              <a:rPr dirty="0" sz="1800" spc="2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thresholds.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4825" y="590550"/>
            <a:ext cx="1419225" cy="457200"/>
          </a:xfrm>
          <a:custGeom>
            <a:avLst/>
            <a:gdLst/>
            <a:ahLst/>
            <a:cxnLst/>
            <a:rect l="l" t="t" r="r" b="b"/>
            <a:pathLst>
              <a:path w="1419225" h="457200">
                <a:moveTo>
                  <a:pt x="1346073" y="0"/>
                </a:moveTo>
                <a:lnTo>
                  <a:pt x="73151" y="0"/>
                </a:lnTo>
                <a:lnTo>
                  <a:pt x="44678" y="5750"/>
                </a:lnTo>
                <a:lnTo>
                  <a:pt x="21426" y="21431"/>
                </a:lnTo>
                <a:lnTo>
                  <a:pt x="5748" y="44684"/>
                </a:lnTo>
                <a:lnTo>
                  <a:pt x="0" y="73151"/>
                </a:lnTo>
                <a:lnTo>
                  <a:pt x="0" y="384048"/>
                </a:lnTo>
                <a:lnTo>
                  <a:pt x="5748" y="412515"/>
                </a:lnTo>
                <a:lnTo>
                  <a:pt x="21426" y="435768"/>
                </a:lnTo>
                <a:lnTo>
                  <a:pt x="44678" y="451449"/>
                </a:lnTo>
                <a:lnTo>
                  <a:pt x="73151" y="457200"/>
                </a:lnTo>
                <a:lnTo>
                  <a:pt x="1346073" y="457200"/>
                </a:lnTo>
                <a:lnTo>
                  <a:pt x="1374540" y="451449"/>
                </a:lnTo>
                <a:lnTo>
                  <a:pt x="1397793" y="435768"/>
                </a:lnTo>
                <a:lnTo>
                  <a:pt x="1413474" y="412515"/>
                </a:lnTo>
                <a:lnTo>
                  <a:pt x="1419225" y="384048"/>
                </a:lnTo>
                <a:lnTo>
                  <a:pt x="1419225" y="73151"/>
                </a:lnTo>
                <a:lnTo>
                  <a:pt x="1413474" y="44684"/>
                </a:lnTo>
                <a:lnTo>
                  <a:pt x="1397793" y="21431"/>
                </a:lnTo>
                <a:lnTo>
                  <a:pt x="1374540" y="5750"/>
                </a:lnTo>
                <a:lnTo>
                  <a:pt x="1346073" y="0"/>
                </a:lnTo>
                <a:close/>
              </a:path>
            </a:pathLst>
          </a:custGeom>
          <a:solidFill>
            <a:srgbClr val="F164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81037" y="695007"/>
            <a:ext cx="105029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70" b="1">
                <a:solidFill>
                  <a:srgbClr val="12335A"/>
                </a:solidFill>
                <a:latin typeface="Times New Roman"/>
                <a:cs typeface="Times New Roman"/>
              </a:rPr>
              <a:t>MODULE</a:t>
            </a:r>
            <a:r>
              <a:rPr dirty="0" sz="1400" spc="220" b="1">
                <a:solidFill>
                  <a:srgbClr val="12335A"/>
                </a:solidFill>
                <a:latin typeface="Times New Roman"/>
                <a:cs typeface="Times New Roman"/>
              </a:rPr>
              <a:t> </a:t>
            </a:r>
            <a:r>
              <a:rPr dirty="0" sz="1400" spc="-50" b="1">
                <a:solidFill>
                  <a:srgbClr val="12335A"/>
                </a:solidFill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83383" y="643191"/>
            <a:ext cx="6681470" cy="3575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/>
              <a:t>MALNUTRITION</a:t>
            </a:r>
            <a:r>
              <a:rPr dirty="0" sz="2150" spc="250"/>
              <a:t> </a:t>
            </a:r>
            <a:r>
              <a:rPr dirty="0" sz="2150"/>
              <a:t>DISTRIBUTION</a:t>
            </a:r>
            <a:r>
              <a:rPr dirty="0" sz="2150" spc="254"/>
              <a:t> </a:t>
            </a:r>
            <a:r>
              <a:rPr dirty="0" sz="2150"/>
              <a:t>&amp;</a:t>
            </a:r>
            <a:r>
              <a:rPr dirty="0" sz="2150" spc="140"/>
              <a:t> </a:t>
            </a:r>
            <a:r>
              <a:rPr dirty="0" sz="2150" spc="-10"/>
              <a:t>PROPORTION</a:t>
            </a:r>
            <a:endParaRPr sz="2150"/>
          </a:p>
        </p:txBody>
      </p:sp>
      <p:sp>
        <p:nvSpPr>
          <p:cNvPr id="5" name="object 5"/>
          <p:cNvSpPr/>
          <p:nvPr/>
        </p:nvSpPr>
        <p:spPr>
          <a:xfrm>
            <a:off x="509587" y="1243075"/>
            <a:ext cx="11202035" cy="0"/>
          </a:xfrm>
          <a:custGeom>
            <a:avLst/>
            <a:gdLst/>
            <a:ahLst/>
            <a:cxnLst/>
            <a:rect l="l" t="t" r="r" b="b"/>
            <a:pathLst>
              <a:path w="11202035" h="0">
                <a:moveTo>
                  <a:pt x="0" y="0"/>
                </a:moveTo>
                <a:lnTo>
                  <a:pt x="11201463" y="0"/>
                </a:lnTo>
              </a:path>
            </a:pathLst>
          </a:custGeom>
          <a:ln w="12700">
            <a:solidFill>
              <a:srgbClr val="D7E2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04825" y="1600200"/>
            <a:ext cx="1190625" cy="381000"/>
          </a:xfrm>
          <a:custGeom>
            <a:avLst/>
            <a:gdLst/>
            <a:ahLst/>
            <a:cxnLst/>
            <a:rect l="l" t="t" r="r" b="b"/>
            <a:pathLst>
              <a:path w="1190625" h="381000">
                <a:moveTo>
                  <a:pt x="1136142" y="0"/>
                </a:moveTo>
                <a:lnTo>
                  <a:pt x="54432" y="0"/>
                </a:lnTo>
                <a:lnTo>
                  <a:pt x="33245" y="4280"/>
                </a:lnTo>
                <a:lnTo>
                  <a:pt x="15943" y="15954"/>
                </a:lnTo>
                <a:lnTo>
                  <a:pt x="4277" y="33272"/>
                </a:lnTo>
                <a:lnTo>
                  <a:pt x="0" y="54483"/>
                </a:lnTo>
                <a:lnTo>
                  <a:pt x="0" y="326516"/>
                </a:lnTo>
                <a:lnTo>
                  <a:pt x="4277" y="347727"/>
                </a:lnTo>
                <a:lnTo>
                  <a:pt x="15943" y="365045"/>
                </a:lnTo>
                <a:lnTo>
                  <a:pt x="33245" y="376719"/>
                </a:lnTo>
                <a:lnTo>
                  <a:pt x="54432" y="381000"/>
                </a:lnTo>
                <a:lnTo>
                  <a:pt x="1136142" y="381000"/>
                </a:lnTo>
                <a:lnTo>
                  <a:pt x="1157352" y="376719"/>
                </a:lnTo>
                <a:lnTo>
                  <a:pt x="1174670" y="365045"/>
                </a:lnTo>
                <a:lnTo>
                  <a:pt x="1186344" y="347727"/>
                </a:lnTo>
                <a:lnTo>
                  <a:pt x="1190625" y="326516"/>
                </a:lnTo>
                <a:lnTo>
                  <a:pt x="1190625" y="54483"/>
                </a:lnTo>
                <a:lnTo>
                  <a:pt x="1186344" y="33272"/>
                </a:lnTo>
                <a:lnTo>
                  <a:pt x="1174670" y="15954"/>
                </a:lnTo>
                <a:lnTo>
                  <a:pt x="1157352" y="4280"/>
                </a:lnTo>
                <a:lnTo>
                  <a:pt x="1136142" y="0"/>
                </a:lnTo>
                <a:close/>
              </a:path>
            </a:pathLst>
          </a:custGeom>
          <a:solidFill>
            <a:srgbClr val="1D4E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08012" y="1688719"/>
            <a:ext cx="97536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solidFill>
                  <a:srgbClr val="FFFFFF"/>
                </a:solidFill>
                <a:latin typeface="Times New Roman"/>
                <a:cs typeface="Times New Roman"/>
              </a:rPr>
              <a:t>TOOLS</a:t>
            </a:r>
            <a:r>
              <a:rPr dirty="0" sz="1100" spc="2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00" spc="-20" b="1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6887" y="2182812"/>
            <a:ext cx="1063625" cy="568325"/>
            <a:chOff x="496887" y="2182812"/>
            <a:chExt cx="1063625" cy="568325"/>
          </a:xfrm>
        </p:grpSpPr>
        <p:sp>
          <p:nvSpPr>
            <p:cNvPr id="9" name="object 9"/>
            <p:cNvSpPr/>
            <p:nvPr/>
          </p:nvSpPr>
          <p:spPr>
            <a:xfrm>
              <a:off x="504825" y="2190750"/>
              <a:ext cx="1047750" cy="552450"/>
            </a:xfrm>
            <a:custGeom>
              <a:avLst/>
              <a:gdLst/>
              <a:ahLst/>
              <a:cxnLst/>
              <a:rect l="l" t="t" r="r" b="b"/>
              <a:pathLst>
                <a:path w="1047750" h="552450">
                  <a:moveTo>
                    <a:pt x="771525" y="0"/>
                  </a:moveTo>
                  <a:lnTo>
                    <a:pt x="276225" y="0"/>
                  </a:lnTo>
                  <a:lnTo>
                    <a:pt x="226573" y="4451"/>
                  </a:lnTo>
                  <a:lnTo>
                    <a:pt x="179842" y="17284"/>
                  </a:lnTo>
                  <a:lnTo>
                    <a:pt x="136810" y="37719"/>
                  </a:lnTo>
                  <a:lnTo>
                    <a:pt x="98257" y="64973"/>
                  </a:lnTo>
                  <a:lnTo>
                    <a:pt x="64965" y="98268"/>
                  </a:lnTo>
                  <a:lnTo>
                    <a:pt x="37713" y="136821"/>
                  </a:lnTo>
                  <a:lnTo>
                    <a:pt x="17281" y="179852"/>
                  </a:lnTo>
                  <a:lnTo>
                    <a:pt x="4450" y="226580"/>
                  </a:lnTo>
                  <a:lnTo>
                    <a:pt x="0" y="276225"/>
                  </a:lnTo>
                  <a:lnTo>
                    <a:pt x="4450" y="325869"/>
                  </a:lnTo>
                  <a:lnTo>
                    <a:pt x="17281" y="372597"/>
                  </a:lnTo>
                  <a:lnTo>
                    <a:pt x="37713" y="415628"/>
                  </a:lnTo>
                  <a:lnTo>
                    <a:pt x="64965" y="454181"/>
                  </a:lnTo>
                  <a:lnTo>
                    <a:pt x="98257" y="487476"/>
                  </a:lnTo>
                  <a:lnTo>
                    <a:pt x="136810" y="514731"/>
                  </a:lnTo>
                  <a:lnTo>
                    <a:pt x="179842" y="535165"/>
                  </a:lnTo>
                  <a:lnTo>
                    <a:pt x="226573" y="547998"/>
                  </a:lnTo>
                  <a:lnTo>
                    <a:pt x="276225" y="552450"/>
                  </a:lnTo>
                  <a:lnTo>
                    <a:pt x="771525" y="552450"/>
                  </a:lnTo>
                  <a:lnTo>
                    <a:pt x="821169" y="547998"/>
                  </a:lnTo>
                  <a:lnTo>
                    <a:pt x="867897" y="535165"/>
                  </a:lnTo>
                  <a:lnTo>
                    <a:pt x="910928" y="514731"/>
                  </a:lnTo>
                  <a:lnTo>
                    <a:pt x="949481" y="487476"/>
                  </a:lnTo>
                  <a:lnTo>
                    <a:pt x="982776" y="454181"/>
                  </a:lnTo>
                  <a:lnTo>
                    <a:pt x="1010030" y="415628"/>
                  </a:lnTo>
                  <a:lnTo>
                    <a:pt x="1030465" y="372597"/>
                  </a:lnTo>
                  <a:lnTo>
                    <a:pt x="1043298" y="325869"/>
                  </a:lnTo>
                  <a:lnTo>
                    <a:pt x="1047750" y="276225"/>
                  </a:lnTo>
                  <a:lnTo>
                    <a:pt x="1043298" y="226580"/>
                  </a:lnTo>
                  <a:lnTo>
                    <a:pt x="1030465" y="179852"/>
                  </a:lnTo>
                  <a:lnTo>
                    <a:pt x="1010031" y="136821"/>
                  </a:lnTo>
                  <a:lnTo>
                    <a:pt x="982776" y="98268"/>
                  </a:lnTo>
                  <a:lnTo>
                    <a:pt x="949481" y="64973"/>
                  </a:lnTo>
                  <a:lnTo>
                    <a:pt x="910928" y="37719"/>
                  </a:lnTo>
                  <a:lnTo>
                    <a:pt x="867897" y="17284"/>
                  </a:lnTo>
                  <a:lnTo>
                    <a:pt x="821169" y="4451"/>
                  </a:lnTo>
                  <a:lnTo>
                    <a:pt x="7715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04825" y="2190750"/>
              <a:ext cx="1047750" cy="552450"/>
            </a:xfrm>
            <a:custGeom>
              <a:avLst/>
              <a:gdLst/>
              <a:ahLst/>
              <a:cxnLst/>
              <a:rect l="l" t="t" r="r" b="b"/>
              <a:pathLst>
                <a:path w="1047750" h="552450">
                  <a:moveTo>
                    <a:pt x="0" y="276225"/>
                  </a:moveTo>
                  <a:lnTo>
                    <a:pt x="4450" y="226580"/>
                  </a:lnTo>
                  <a:lnTo>
                    <a:pt x="17281" y="179852"/>
                  </a:lnTo>
                  <a:lnTo>
                    <a:pt x="37713" y="136821"/>
                  </a:lnTo>
                  <a:lnTo>
                    <a:pt x="64965" y="98268"/>
                  </a:lnTo>
                  <a:lnTo>
                    <a:pt x="98257" y="64973"/>
                  </a:lnTo>
                  <a:lnTo>
                    <a:pt x="136810" y="37719"/>
                  </a:lnTo>
                  <a:lnTo>
                    <a:pt x="179842" y="17284"/>
                  </a:lnTo>
                  <a:lnTo>
                    <a:pt x="226573" y="4451"/>
                  </a:lnTo>
                  <a:lnTo>
                    <a:pt x="276225" y="0"/>
                  </a:lnTo>
                  <a:lnTo>
                    <a:pt x="771525" y="0"/>
                  </a:lnTo>
                  <a:lnTo>
                    <a:pt x="821169" y="4451"/>
                  </a:lnTo>
                  <a:lnTo>
                    <a:pt x="867897" y="17284"/>
                  </a:lnTo>
                  <a:lnTo>
                    <a:pt x="910928" y="37718"/>
                  </a:lnTo>
                  <a:lnTo>
                    <a:pt x="949481" y="64973"/>
                  </a:lnTo>
                  <a:lnTo>
                    <a:pt x="982776" y="98268"/>
                  </a:lnTo>
                  <a:lnTo>
                    <a:pt x="1010031" y="136821"/>
                  </a:lnTo>
                  <a:lnTo>
                    <a:pt x="1030465" y="179852"/>
                  </a:lnTo>
                  <a:lnTo>
                    <a:pt x="1043298" y="226580"/>
                  </a:lnTo>
                  <a:lnTo>
                    <a:pt x="1047750" y="276225"/>
                  </a:lnTo>
                  <a:lnTo>
                    <a:pt x="1043298" y="325869"/>
                  </a:lnTo>
                  <a:lnTo>
                    <a:pt x="1030465" y="372597"/>
                  </a:lnTo>
                  <a:lnTo>
                    <a:pt x="1010031" y="415628"/>
                  </a:lnTo>
                  <a:lnTo>
                    <a:pt x="982776" y="454181"/>
                  </a:lnTo>
                  <a:lnTo>
                    <a:pt x="949481" y="487476"/>
                  </a:lnTo>
                  <a:lnTo>
                    <a:pt x="910928" y="514730"/>
                  </a:lnTo>
                  <a:lnTo>
                    <a:pt x="867897" y="535165"/>
                  </a:lnTo>
                  <a:lnTo>
                    <a:pt x="821169" y="547998"/>
                  </a:lnTo>
                  <a:lnTo>
                    <a:pt x="771525" y="552450"/>
                  </a:lnTo>
                  <a:lnTo>
                    <a:pt x="276225" y="552450"/>
                  </a:lnTo>
                  <a:lnTo>
                    <a:pt x="226573" y="547998"/>
                  </a:lnTo>
                  <a:lnTo>
                    <a:pt x="179842" y="535165"/>
                  </a:lnTo>
                  <a:lnTo>
                    <a:pt x="136810" y="514731"/>
                  </a:lnTo>
                  <a:lnTo>
                    <a:pt x="98257" y="487476"/>
                  </a:lnTo>
                  <a:lnTo>
                    <a:pt x="64965" y="454181"/>
                  </a:lnTo>
                  <a:lnTo>
                    <a:pt x="37713" y="415628"/>
                  </a:lnTo>
                  <a:lnTo>
                    <a:pt x="17281" y="372597"/>
                  </a:lnTo>
                  <a:lnTo>
                    <a:pt x="4450" y="325869"/>
                  </a:lnTo>
                  <a:lnTo>
                    <a:pt x="0" y="276225"/>
                  </a:lnTo>
                  <a:close/>
                </a:path>
              </a:pathLst>
            </a:custGeom>
            <a:ln w="15875">
              <a:solidFill>
                <a:srgbClr val="5FA7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45807" y="2343086"/>
            <a:ext cx="57531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0" b="1">
                <a:solidFill>
                  <a:srgbClr val="1D4E88"/>
                </a:solidFill>
                <a:latin typeface="Times New Roman"/>
                <a:cs typeface="Times New Roman"/>
              </a:rPr>
              <a:t>Python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44662" y="2182812"/>
            <a:ext cx="1349375" cy="568325"/>
            <a:chOff x="1744662" y="2182812"/>
            <a:chExt cx="1349375" cy="568325"/>
          </a:xfrm>
        </p:grpSpPr>
        <p:sp>
          <p:nvSpPr>
            <p:cNvPr id="13" name="object 13"/>
            <p:cNvSpPr/>
            <p:nvPr/>
          </p:nvSpPr>
          <p:spPr>
            <a:xfrm>
              <a:off x="1752600" y="2190750"/>
              <a:ext cx="1333500" cy="552450"/>
            </a:xfrm>
            <a:custGeom>
              <a:avLst/>
              <a:gdLst/>
              <a:ahLst/>
              <a:cxnLst/>
              <a:rect l="l" t="t" r="r" b="b"/>
              <a:pathLst>
                <a:path w="1333500" h="552450">
                  <a:moveTo>
                    <a:pt x="1057275" y="0"/>
                  </a:moveTo>
                  <a:lnTo>
                    <a:pt x="276225" y="0"/>
                  </a:lnTo>
                  <a:lnTo>
                    <a:pt x="226580" y="4451"/>
                  </a:lnTo>
                  <a:lnTo>
                    <a:pt x="179852" y="17284"/>
                  </a:lnTo>
                  <a:lnTo>
                    <a:pt x="136821" y="37719"/>
                  </a:lnTo>
                  <a:lnTo>
                    <a:pt x="98268" y="64973"/>
                  </a:lnTo>
                  <a:lnTo>
                    <a:pt x="64973" y="98268"/>
                  </a:lnTo>
                  <a:lnTo>
                    <a:pt x="37719" y="136821"/>
                  </a:lnTo>
                  <a:lnTo>
                    <a:pt x="17284" y="179852"/>
                  </a:lnTo>
                  <a:lnTo>
                    <a:pt x="4451" y="226580"/>
                  </a:lnTo>
                  <a:lnTo>
                    <a:pt x="0" y="276225"/>
                  </a:lnTo>
                  <a:lnTo>
                    <a:pt x="4451" y="325869"/>
                  </a:lnTo>
                  <a:lnTo>
                    <a:pt x="17284" y="372597"/>
                  </a:lnTo>
                  <a:lnTo>
                    <a:pt x="37718" y="415628"/>
                  </a:lnTo>
                  <a:lnTo>
                    <a:pt x="64973" y="454181"/>
                  </a:lnTo>
                  <a:lnTo>
                    <a:pt x="98268" y="487476"/>
                  </a:lnTo>
                  <a:lnTo>
                    <a:pt x="136821" y="514731"/>
                  </a:lnTo>
                  <a:lnTo>
                    <a:pt x="179852" y="535165"/>
                  </a:lnTo>
                  <a:lnTo>
                    <a:pt x="226580" y="547998"/>
                  </a:lnTo>
                  <a:lnTo>
                    <a:pt x="276225" y="552450"/>
                  </a:lnTo>
                  <a:lnTo>
                    <a:pt x="1057275" y="552450"/>
                  </a:lnTo>
                  <a:lnTo>
                    <a:pt x="1106919" y="547998"/>
                  </a:lnTo>
                  <a:lnTo>
                    <a:pt x="1153647" y="535165"/>
                  </a:lnTo>
                  <a:lnTo>
                    <a:pt x="1196678" y="514731"/>
                  </a:lnTo>
                  <a:lnTo>
                    <a:pt x="1235231" y="487476"/>
                  </a:lnTo>
                  <a:lnTo>
                    <a:pt x="1268526" y="454181"/>
                  </a:lnTo>
                  <a:lnTo>
                    <a:pt x="1295780" y="415628"/>
                  </a:lnTo>
                  <a:lnTo>
                    <a:pt x="1316215" y="372597"/>
                  </a:lnTo>
                  <a:lnTo>
                    <a:pt x="1329048" y="325869"/>
                  </a:lnTo>
                  <a:lnTo>
                    <a:pt x="1333500" y="276225"/>
                  </a:lnTo>
                  <a:lnTo>
                    <a:pt x="1329048" y="226580"/>
                  </a:lnTo>
                  <a:lnTo>
                    <a:pt x="1316215" y="179852"/>
                  </a:lnTo>
                  <a:lnTo>
                    <a:pt x="1295781" y="136821"/>
                  </a:lnTo>
                  <a:lnTo>
                    <a:pt x="1268526" y="98268"/>
                  </a:lnTo>
                  <a:lnTo>
                    <a:pt x="1235231" y="64973"/>
                  </a:lnTo>
                  <a:lnTo>
                    <a:pt x="1196678" y="37719"/>
                  </a:lnTo>
                  <a:lnTo>
                    <a:pt x="1153647" y="17284"/>
                  </a:lnTo>
                  <a:lnTo>
                    <a:pt x="1106919" y="4451"/>
                  </a:lnTo>
                  <a:lnTo>
                    <a:pt x="10572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752600" y="2190750"/>
              <a:ext cx="1333500" cy="552450"/>
            </a:xfrm>
            <a:custGeom>
              <a:avLst/>
              <a:gdLst/>
              <a:ahLst/>
              <a:cxnLst/>
              <a:rect l="l" t="t" r="r" b="b"/>
              <a:pathLst>
                <a:path w="1333500" h="552450">
                  <a:moveTo>
                    <a:pt x="0" y="276225"/>
                  </a:moveTo>
                  <a:lnTo>
                    <a:pt x="4451" y="226580"/>
                  </a:lnTo>
                  <a:lnTo>
                    <a:pt x="17284" y="179852"/>
                  </a:lnTo>
                  <a:lnTo>
                    <a:pt x="37719" y="136821"/>
                  </a:lnTo>
                  <a:lnTo>
                    <a:pt x="64973" y="98268"/>
                  </a:lnTo>
                  <a:lnTo>
                    <a:pt x="98268" y="64973"/>
                  </a:lnTo>
                  <a:lnTo>
                    <a:pt x="136821" y="37719"/>
                  </a:lnTo>
                  <a:lnTo>
                    <a:pt x="179852" y="17284"/>
                  </a:lnTo>
                  <a:lnTo>
                    <a:pt x="226580" y="4451"/>
                  </a:lnTo>
                  <a:lnTo>
                    <a:pt x="276225" y="0"/>
                  </a:lnTo>
                  <a:lnTo>
                    <a:pt x="1057275" y="0"/>
                  </a:lnTo>
                  <a:lnTo>
                    <a:pt x="1106919" y="4451"/>
                  </a:lnTo>
                  <a:lnTo>
                    <a:pt x="1153647" y="17284"/>
                  </a:lnTo>
                  <a:lnTo>
                    <a:pt x="1196678" y="37718"/>
                  </a:lnTo>
                  <a:lnTo>
                    <a:pt x="1235231" y="64973"/>
                  </a:lnTo>
                  <a:lnTo>
                    <a:pt x="1268526" y="98268"/>
                  </a:lnTo>
                  <a:lnTo>
                    <a:pt x="1295781" y="136821"/>
                  </a:lnTo>
                  <a:lnTo>
                    <a:pt x="1316215" y="179852"/>
                  </a:lnTo>
                  <a:lnTo>
                    <a:pt x="1329048" y="226580"/>
                  </a:lnTo>
                  <a:lnTo>
                    <a:pt x="1333500" y="276225"/>
                  </a:lnTo>
                  <a:lnTo>
                    <a:pt x="1329048" y="325869"/>
                  </a:lnTo>
                  <a:lnTo>
                    <a:pt x="1316215" y="372597"/>
                  </a:lnTo>
                  <a:lnTo>
                    <a:pt x="1295780" y="415628"/>
                  </a:lnTo>
                  <a:lnTo>
                    <a:pt x="1268526" y="454181"/>
                  </a:lnTo>
                  <a:lnTo>
                    <a:pt x="1235231" y="487476"/>
                  </a:lnTo>
                  <a:lnTo>
                    <a:pt x="1196678" y="514730"/>
                  </a:lnTo>
                  <a:lnTo>
                    <a:pt x="1153647" y="535165"/>
                  </a:lnTo>
                  <a:lnTo>
                    <a:pt x="1106919" y="547998"/>
                  </a:lnTo>
                  <a:lnTo>
                    <a:pt x="1057275" y="552450"/>
                  </a:lnTo>
                  <a:lnTo>
                    <a:pt x="276225" y="552450"/>
                  </a:lnTo>
                  <a:lnTo>
                    <a:pt x="226580" y="547998"/>
                  </a:lnTo>
                  <a:lnTo>
                    <a:pt x="179852" y="535165"/>
                  </a:lnTo>
                  <a:lnTo>
                    <a:pt x="136821" y="514731"/>
                  </a:lnTo>
                  <a:lnTo>
                    <a:pt x="98268" y="487476"/>
                  </a:lnTo>
                  <a:lnTo>
                    <a:pt x="64973" y="454181"/>
                  </a:lnTo>
                  <a:lnTo>
                    <a:pt x="37718" y="415628"/>
                  </a:lnTo>
                  <a:lnTo>
                    <a:pt x="17284" y="372597"/>
                  </a:lnTo>
                  <a:lnTo>
                    <a:pt x="4451" y="325869"/>
                  </a:lnTo>
                  <a:lnTo>
                    <a:pt x="0" y="276225"/>
                  </a:lnTo>
                  <a:close/>
                </a:path>
              </a:pathLst>
            </a:custGeom>
            <a:ln w="15875">
              <a:solidFill>
                <a:srgbClr val="5FA7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978025" y="2343086"/>
            <a:ext cx="88646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0" b="1">
                <a:solidFill>
                  <a:srgbClr val="1D4E88"/>
                </a:solidFill>
                <a:latin typeface="Times New Roman"/>
                <a:cs typeface="Times New Roman"/>
              </a:rPr>
              <a:t>GeoPandas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278187" y="2182812"/>
            <a:ext cx="1425575" cy="568325"/>
            <a:chOff x="3278187" y="2182812"/>
            <a:chExt cx="1425575" cy="568325"/>
          </a:xfrm>
        </p:grpSpPr>
        <p:sp>
          <p:nvSpPr>
            <p:cNvPr id="17" name="object 17"/>
            <p:cNvSpPr/>
            <p:nvPr/>
          </p:nvSpPr>
          <p:spPr>
            <a:xfrm>
              <a:off x="3286125" y="2190750"/>
              <a:ext cx="1409700" cy="552450"/>
            </a:xfrm>
            <a:custGeom>
              <a:avLst/>
              <a:gdLst/>
              <a:ahLst/>
              <a:cxnLst/>
              <a:rect l="l" t="t" r="r" b="b"/>
              <a:pathLst>
                <a:path w="1409700" h="552450">
                  <a:moveTo>
                    <a:pt x="1133475" y="0"/>
                  </a:moveTo>
                  <a:lnTo>
                    <a:pt x="276225" y="0"/>
                  </a:lnTo>
                  <a:lnTo>
                    <a:pt x="226580" y="4451"/>
                  </a:lnTo>
                  <a:lnTo>
                    <a:pt x="179852" y="17284"/>
                  </a:lnTo>
                  <a:lnTo>
                    <a:pt x="136821" y="37719"/>
                  </a:lnTo>
                  <a:lnTo>
                    <a:pt x="98268" y="64973"/>
                  </a:lnTo>
                  <a:lnTo>
                    <a:pt x="64973" y="98268"/>
                  </a:lnTo>
                  <a:lnTo>
                    <a:pt x="37718" y="136821"/>
                  </a:lnTo>
                  <a:lnTo>
                    <a:pt x="17284" y="179852"/>
                  </a:lnTo>
                  <a:lnTo>
                    <a:pt x="4451" y="226580"/>
                  </a:lnTo>
                  <a:lnTo>
                    <a:pt x="0" y="276225"/>
                  </a:lnTo>
                  <a:lnTo>
                    <a:pt x="4451" y="325869"/>
                  </a:lnTo>
                  <a:lnTo>
                    <a:pt x="17284" y="372597"/>
                  </a:lnTo>
                  <a:lnTo>
                    <a:pt x="37719" y="415628"/>
                  </a:lnTo>
                  <a:lnTo>
                    <a:pt x="64973" y="454181"/>
                  </a:lnTo>
                  <a:lnTo>
                    <a:pt x="98268" y="487476"/>
                  </a:lnTo>
                  <a:lnTo>
                    <a:pt x="136821" y="514731"/>
                  </a:lnTo>
                  <a:lnTo>
                    <a:pt x="179852" y="535165"/>
                  </a:lnTo>
                  <a:lnTo>
                    <a:pt x="226580" y="547998"/>
                  </a:lnTo>
                  <a:lnTo>
                    <a:pt x="276225" y="552450"/>
                  </a:lnTo>
                  <a:lnTo>
                    <a:pt x="1133475" y="552450"/>
                  </a:lnTo>
                  <a:lnTo>
                    <a:pt x="1183119" y="547998"/>
                  </a:lnTo>
                  <a:lnTo>
                    <a:pt x="1229847" y="535165"/>
                  </a:lnTo>
                  <a:lnTo>
                    <a:pt x="1272878" y="514731"/>
                  </a:lnTo>
                  <a:lnTo>
                    <a:pt x="1311431" y="487476"/>
                  </a:lnTo>
                  <a:lnTo>
                    <a:pt x="1344726" y="454181"/>
                  </a:lnTo>
                  <a:lnTo>
                    <a:pt x="1371980" y="415628"/>
                  </a:lnTo>
                  <a:lnTo>
                    <a:pt x="1392415" y="372597"/>
                  </a:lnTo>
                  <a:lnTo>
                    <a:pt x="1405248" y="325869"/>
                  </a:lnTo>
                  <a:lnTo>
                    <a:pt x="1409700" y="276225"/>
                  </a:lnTo>
                  <a:lnTo>
                    <a:pt x="1405248" y="226580"/>
                  </a:lnTo>
                  <a:lnTo>
                    <a:pt x="1392415" y="179852"/>
                  </a:lnTo>
                  <a:lnTo>
                    <a:pt x="1371980" y="136821"/>
                  </a:lnTo>
                  <a:lnTo>
                    <a:pt x="1344726" y="98268"/>
                  </a:lnTo>
                  <a:lnTo>
                    <a:pt x="1311431" y="64973"/>
                  </a:lnTo>
                  <a:lnTo>
                    <a:pt x="1272878" y="37719"/>
                  </a:lnTo>
                  <a:lnTo>
                    <a:pt x="1229847" y="17284"/>
                  </a:lnTo>
                  <a:lnTo>
                    <a:pt x="1183119" y="4451"/>
                  </a:lnTo>
                  <a:lnTo>
                    <a:pt x="1133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286125" y="2190750"/>
              <a:ext cx="1409700" cy="552450"/>
            </a:xfrm>
            <a:custGeom>
              <a:avLst/>
              <a:gdLst/>
              <a:ahLst/>
              <a:cxnLst/>
              <a:rect l="l" t="t" r="r" b="b"/>
              <a:pathLst>
                <a:path w="1409700" h="552450">
                  <a:moveTo>
                    <a:pt x="0" y="276225"/>
                  </a:moveTo>
                  <a:lnTo>
                    <a:pt x="4451" y="226580"/>
                  </a:lnTo>
                  <a:lnTo>
                    <a:pt x="17284" y="179852"/>
                  </a:lnTo>
                  <a:lnTo>
                    <a:pt x="37718" y="136821"/>
                  </a:lnTo>
                  <a:lnTo>
                    <a:pt x="64973" y="98268"/>
                  </a:lnTo>
                  <a:lnTo>
                    <a:pt x="98268" y="64973"/>
                  </a:lnTo>
                  <a:lnTo>
                    <a:pt x="136821" y="37719"/>
                  </a:lnTo>
                  <a:lnTo>
                    <a:pt x="179852" y="17284"/>
                  </a:lnTo>
                  <a:lnTo>
                    <a:pt x="226580" y="4451"/>
                  </a:lnTo>
                  <a:lnTo>
                    <a:pt x="276225" y="0"/>
                  </a:lnTo>
                  <a:lnTo>
                    <a:pt x="1133475" y="0"/>
                  </a:lnTo>
                  <a:lnTo>
                    <a:pt x="1183119" y="4451"/>
                  </a:lnTo>
                  <a:lnTo>
                    <a:pt x="1229847" y="17284"/>
                  </a:lnTo>
                  <a:lnTo>
                    <a:pt x="1272878" y="37718"/>
                  </a:lnTo>
                  <a:lnTo>
                    <a:pt x="1311431" y="64973"/>
                  </a:lnTo>
                  <a:lnTo>
                    <a:pt x="1344726" y="98268"/>
                  </a:lnTo>
                  <a:lnTo>
                    <a:pt x="1371980" y="136821"/>
                  </a:lnTo>
                  <a:lnTo>
                    <a:pt x="1392415" y="179852"/>
                  </a:lnTo>
                  <a:lnTo>
                    <a:pt x="1405248" y="226580"/>
                  </a:lnTo>
                  <a:lnTo>
                    <a:pt x="1409700" y="276225"/>
                  </a:lnTo>
                  <a:lnTo>
                    <a:pt x="1405248" y="325869"/>
                  </a:lnTo>
                  <a:lnTo>
                    <a:pt x="1392415" y="372597"/>
                  </a:lnTo>
                  <a:lnTo>
                    <a:pt x="1371981" y="415628"/>
                  </a:lnTo>
                  <a:lnTo>
                    <a:pt x="1344726" y="454181"/>
                  </a:lnTo>
                  <a:lnTo>
                    <a:pt x="1311431" y="487476"/>
                  </a:lnTo>
                  <a:lnTo>
                    <a:pt x="1272878" y="514730"/>
                  </a:lnTo>
                  <a:lnTo>
                    <a:pt x="1229847" y="535165"/>
                  </a:lnTo>
                  <a:lnTo>
                    <a:pt x="1183119" y="547998"/>
                  </a:lnTo>
                  <a:lnTo>
                    <a:pt x="1133475" y="552450"/>
                  </a:lnTo>
                  <a:lnTo>
                    <a:pt x="276225" y="552450"/>
                  </a:lnTo>
                  <a:lnTo>
                    <a:pt x="226580" y="547998"/>
                  </a:lnTo>
                  <a:lnTo>
                    <a:pt x="179852" y="535165"/>
                  </a:lnTo>
                  <a:lnTo>
                    <a:pt x="136821" y="514731"/>
                  </a:lnTo>
                  <a:lnTo>
                    <a:pt x="98268" y="487476"/>
                  </a:lnTo>
                  <a:lnTo>
                    <a:pt x="64973" y="454181"/>
                  </a:lnTo>
                  <a:lnTo>
                    <a:pt x="37719" y="415628"/>
                  </a:lnTo>
                  <a:lnTo>
                    <a:pt x="17284" y="372597"/>
                  </a:lnTo>
                  <a:lnTo>
                    <a:pt x="4451" y="325869"/>
                  </a:lnTo>
                  <a:lnTo>
                    <a:pt x="0" y="276225"/>
                  </a:lnTo>
                  <a:close/>
                </a:path>
              </a:pathLst>
            </a:custGeom>
            <a:ln w="15875">
              <a:solidFill>
                <a:srgbClr val="5FA7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577209" y="2343086"/>
            <a:ext cx="84328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0" b="1">
                <a:solidFill>
                  <a:srgbClr val="1D4E88"/>
                </a:solidFill>
                <a:latin typeface="Times New Roman"/>
                <a:cs typeface="Times New Roman"/>
              </a:rPr>
              <a:t>Matplotlib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897437" y="2182812"/>
            <a:ext cx="1978025" cy="568325"/>
            <a:chOff x="4897437" y="2182812"/>
            <a:chExt cx="1978025" cy="568325"/>
          </a:xfrm>
        </p:grpSpPr>
        <p:sp>
          <p:nvSpPr>
            <p:cNvPr id="21" name="object 21"/>
            <p:cNvSpPr/>
            <p:nvPr/>
          </p:nvSpPr>
          <p:spPr>
            <a:xfrm>
              <a:off x="4905375" y="2190750"/>
              <a:ext cx="1962150" cy="552450"/>
            </a:xfrm>
            <a:custGeom>
              <a:avLst/>
              <a:gdLst/>
              <a:ahLst/>
              <a:cxnLst/>
              <a:rect l="l" t="t" r="r" b="b"/>
              <a:pathLst>
                <a:path w="1962150" h="552450">
                  <a:moveTo>
                    <a:pt x="1685925" y="0"/>
                  </a:moveTo>
                  <a:lnTo>
                    <a:pt x="276225" y="0"/>
                  </a:lnTo>
                  <a:lnTo>
                    <a:pt x="226580" y="4451"/>
                  </a:lnTo>
                  <a:lnTo>
                    <a:pt x="179852" y="17284"/>
                  </a:lnTo>
                  <a:lnTo>
                    <a:pt x="136821" y="37719"/>
                  </a:lnTo>
                  <a:lnTo>
                    <a:pt x="98268" y="64973"/>
                  </a:lnTo>
                  <a:lnTo>
                    <a:pt x="64973" y="98268"/>
                  </a:lnTo>
                  <a:lnTo>
                    <a:pt x="37718" y="136821"/>
                  </a:lnTo>
                  <a:lnTo>
                    <a:pt x="17284" y="179852"/>
                  </a:lnTo>
                  <a:lnTo>
                    <a:pt x="4451" y="226580"/>
                  </a:lnTo>
                  <a:lnTo>
                    <a:pt x="0" y="276225"/>
                  </a:lnTo>
                  <a:lnTo>
                    <a:pt x="4451" y="325869"/>
                  </a:lnTo>
                  <a:lnTo>
                    <a:pt x="17284" y="372597"/>
                  </a:lnTo>
                  <a:lnTo>
                    <a:pt x="37719" y="415628"/>
                  </a:lnTo>
                  <a:lnTo>
                    <a:pt x="64973" y="454181"/>
                  </a:lnTo>
                  <a:lnTo>
                    <a:pt x="98268" y="487476"/>
                  </a:lnTo>
                  <a:lnTo>
                    <a:pt x="136821" y="514731"/>
                  </a:lnTo>
                  <a:lnTo>
                    <a:pt x="179852" y="535165"/>
                  </a:lnTo>
                  <a:lnTo>
                    <a:pt x="226580" y="547998"/>
                  </a:lnTo>
                  <a:lnTo>
                    <a:pt x="276225" y="552450"/>
                  </a:lnTo>
                  <a:lnTo>
                    <a:pt x="1685925" y="552450"/>
                  </a:lnTo>
                  <a:lnTo>
                    <a:pt x="1735569" y="547998"/>
                  </a:lnTo>
                  <a:lnTo>
                    <a:pt x="1782297" y="535165"/>
                  </a:lnTo>
                  <a:lnTo>
                    <a:pt x="1825328" y="514731"/>
                  </a:lnTo>
                  <a:lnTo>
                    <a:pt x="1863881" y="487476"/>
                  </a:lnTo>
                  <a:lnTo>
                    <a:pt x="1897176" y="454181"/>
                  </a:lnTo>
                  <a:lnTo>
                    <a:pt x="1924430" y="415628"/>
                  </a:lnTo>
                  <a:lnTo>
                    <a:pt x="1944865" y="372597"/>
                  </a:lnTo>
                  <a:lnTo>
                    <a:pt x="1957698" y="325869"/>
                  </a:lnTo>
                  <a:lnTo>
                    <a:pt x="1962150" y="276225"/>
                  </a:lnTo>
                  <a:lnTo>
                    <a:pt x="1957698" y="226580"/>
                  </a:lnTo>
                  <a:lnTo>
                    <a:pt x="1944865" y="179852"/>
                  </a:lnTo>
                  <a:lnTo>
                    <a:pt x="1924430" y="136821"/>
                  </a:lnTo>
                  <a:lnTo>
                    <a:pt x="1897176" y="98268"/>
                  </a:lnTo>
                  <a:lnTo>
                    <a:pt x="1863881" y="64973"/>
                  </a:lnTo>
                  <a:lnTo>
                    <a:pt x="1825328" y="37719"/>
                  </a:lnTo>
                  <a:lnTo>
                    <a:pt x="1782297" y="17284"/>
                  </a:lnTo>
                  <a:lnTo>
                    <a:pt x="1735569" y="4451"/>
                  </a:lnTo>
                  <a:lnTo>
                    <a:pt x="16859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905375" y="2190750"/>
              <a:ext cx="1962150" cy="552450"/>
            </a:xfrm>
            <a:custGeom>
              <a:avLst/>
              <a:gdLst/>
              <a:ahLst/>
              <a:cxnLst/>
              <a:rect l="l" t="t" r="r" b="b"/>
              <a:pathLst>
                <a:path w="1962150" h="552450">
                  <a:moveTo>
                    <a:pt x="0" y="276225"/>
                  </a:moveTo>
                  <a:lnTo>
                    <a:pt x="4451" y="226580"/>
                  </a:lnTo>
                  <a:lnTo>
                    <a:pt x="17284" y="179852"/>
                  </a:lnTo>
                  <a:lnTo>
                    <a:pt x="37718" y="136821"/>
                  </a:lnTo>
                  <a:lnTo>
                    <a:pt x="64973" y="98268"/>
                  </a:lnTo>
                  <a:lnTo>
                    <a:pt x="98268" y="64973"/>
                  </a:lnTo>
                  <a:lnTo>
                    <a:pt x="136821" y="37719"/>
                  </a:lnTo>
                  <a:lnTo>
                    <a:pt x="179852" y="17284"/>
                  </a:lnTo>
                  <a:lnTo>
                    <a:pt x="226580" y="4451"/>
                  </a:lnTo>
                  <a:lnTo>
                    <a:pt x="276225" y="0"/>
                  </a:lnTo>
                  <a:lnTo>
                    <a:pt x="1685925" y="0"/>
                  </a:lnTo>
                  <a:lnTo>
                    <a:pt x="1735569" y="4451"/>
                  </a:lnTo>
                  <a:lnTo>
                    <a:pt x="1782297" y="17284"/>
                  </a:lnTo>
                  <a:lnTo>
                    <a:pt x="1825328" y="37718"/>
                  </a:lnTo>
                  <a:lnTo>
                    <a:pt x="1863881" y="64973"/>
                  </a:lnTo>
                  <a:lnTo>
                    <a:pt x="1897176" y="98268"/>
                  </a:lnTo>
                  <a:lnTo>
                    <a:pt x="1924430" y="136821"/>
                  </a:lnTo>
                  <a:lnTo>
                    <a:pt x="1944865" y="179852"/>
                  </a:lnTo>
                  <a:lnTo>
                    <a:pt x="1957698" y="226580"/>
                  </a:lnTo>
                  <a:lnTo>
                    <a:pt x="1962150" y="276225"/>
                  </a:lnTo>
                  <a:lnTo>
                    <a:pt x="1957698" y="325869"/>
                  </a:lnTo>
                  <a:lnTo>
                    <a:pt x="1944865" y="372597"/>
                  </a:lnTo>
                  <a:lnTo>
                    <a:pt x="1924430" y="415628"/>
                  </a:lnTo>
                  <a:lnTo>
                    <a:pt x="1897176" y="454181"/>
                  </a:lnTo>
                  <a:lnTo>
                    <a:pt x="1863881" y="487476"/>
                  </a:lnTo>
                  <a:lnTo>
                    <a:pt x="1825328" y="514730"/>
                  </a:lnTo>
                  <a:lnTo>
                    <a:pt x="1782297" y="535165"/>
                  </a:lnTo>
                  <a:lnTo>
                    <a:pt x="1735569" y="547998"/>
                  </a:lnTo>
                  <a:lnTo>
                    <a:pt x="1685925" y="552450"/>
                  </a:lnTo>
                  <a:lnTo>
                    <a:pt x="276225" y="552450"/>
                  </a:lnTo>
                  <a:lnTo>
                    <a:pt x="226580" y="547998"/>
                  </a:lnTo>
                  <a:lnTo>
                    <a:pt x="179852" y="535165"/>
                  </a:lnTo>
                  <a:lnTo>
                    <a:pt x="136821" y="514731"/>
                  </a:lnTo>
                  <a:lnTo>
                    <a:pt x="98268" y="487476"/>
                  </a:lnTo>
                  <a:lnTo>
                    <a:pt x="64973" y="454181"/>
                  </a:lnTo>
                  <a:lnTo>
                    <a:pt x="37719" y="415628"/>
                  </a:lnTo>
                  <a:lnTo>
                    <a:pt x="17284" y="372597"/>
                  </a:lnTo>
                  <a:lnTo>
                    <a:pt x="4451" y="325869"/>
                  </a:lnTo>
                  <a:lnTo>
                    <a:pt x="0" y="276225"/>
                  </a:lnTo>
                  <a:close/>
                </a:path>
              </a:pathLst>
            </a:custGeom>
            <a:ln w="15875">
              <a:solidFill>
                <a:srgbClr val="5FA7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5269229" y="2343086"/>
            <a:ext cx="123952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b="1">
                <a:solidFill>
                  <a:srgbClr val="1D4E88"/>
                </a:solidFill>
                <a:latin typeface="Times New Roman"/>
                <a:cs typeface="Times New Roman"/>
              </a:rPr>
              <a:t>Seaborn</a:t>
            </a:r>
            <a:r>
              <a:rPr dirty="0" sz="1400" spc="-35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1D4E88"/>
                </a:solidFill>
                <a:latin typeface="Times New Roman"/>
                <a:cs typeface="Times New Roman"/>
              </a:rPr>
              <a:t>/</a:t>
            </a:r>
            <a:r>
              <a:rPr dirty="0" sz="1400" spc="-5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1D4E88"/>
                </a:solidFill>
                <a:latin typeface="Times New Roman"/>
                <a:cs typeface="Times New Roman"/>
              </a:rPr>
              <a:t>Plotly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04825" y="3152775"/>
            <a:ext cx="1371600" cy="390525"/>
          </a:xfrm>
          <a:custGeom>
            <a:avLst/>
            <a:gdLst/>
            <a:ahLst/>
            <a:cxnLst/>
            <a:rect l="l" t="t" r="r" b="b"/>
            <a:pathLst>
              <a:path w="1371600" h="390525">
                <a:moveTo>
                  <a:pt x="1315847" y="0"/>
                </a:moveTo>
                <a:lnTo>
                  <a:pt x="55791" y="0"/>
                </a:lnTo>
                <a:lnTo>
                  <a:pt x="34075" y="4389"/>
                </a:lnTo>
                <a:lnTo>
                  <a:pt x="16341" y="16351"/>
                </a:lnTo>
                <a:lnTo>
                  <a:pt x="4384" y="34075"/>
                </a:lnTo>
                <a:lnTo>
                  <a:pt x="0" y="55752"/>
                </a:lnTo>
                <a:lnTo>
                  <a:pt x="0" y="334772"/>
                </a:lnTo>
                <a:lnTo>
                  <a:pt x="4384" y="356449"/>
                </a:lnTo>
                <a:lnTo>
                  <a:pt x="16341" y="374173"/>
                </a:lnTo>
                <a:lnTo>
                  <a:pt x="34075" y="386135"/>
                </a:lnTo>
                <a:lnTo>
                  <a:pt x="55791" y="390525"/>
                </a:lnTo>
                <a:lnTo>
                  <a:pt x="1315847" y="390525"/>
                </a:lnTo>
                <a:lnTo>
                  <a:pt x="1337524" y="386135"/>
                </a:lnTo>
                <a:lnTo>
                  <a:pt x="1355248" y="374173"/>
                </a:lnTo>
                <a:lnTo>
                  <a:pt x="1367210" y="356449"/>
                </a:lnTo>
                <a:lnTo>
                  <a:pt x="1371600" y="334772"/>
                </a:lnTo>
                <a:lnTo>
                  <a:pt x="1371600" y="55752"/>
                </a:lnTo>
                <a:lnTo>
                  <a:pt x="1367210" y="34075"/>
                </a:lnTo>
                <a:lnTo>
                  <a:pt x="1355248" y="16351"/>
                </a:lnTo>
                <a:lnTo>
                  <a:pt x="1337524" y="4389"/>
                </a:lnTo>
                <a:lnTo>
                  <a:pt x="1315847" y="0"/>
                </a:lnTo>
                <a:close/>
              </a:path>
            </a:pathLst>
          </a:custGeom>
          <a:solidFill>
            <a:srgbClr val="F164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85177" y="3245484"/>
            <a:ext cx="80772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10" b="1">
                <a:solidFill>
                  <a:srgbClr val="12335A"/>
                </a:solidFill>
                <a:latin typeface="Times New Roman"/>
                <a:cs typeface="Times New Roman"/>
              </a:rPr>
              <a:t>OUTCOME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03237" y="3703701"/>
            <a:ext cx="10890885" cy="1565275"/>
            <a:chOff x="503237" y="3703701"/>
            <a:chExt cx="10890885" cy="1565275"/>
          </a:xfrm>
        </p:grpSpPr>
        <p:sp>
          <p:nvSpPr>
            <p:cNvPr id="27" name="object 27"/>
            <p:cNvSpPr/>
            <p:nvPr/>
          </p:nvSpPr>
          <p:spPr>
            <a:xfrm>
              <a:off x="509587" y="3710051"/>
              <a:ext cx="10878185" cy="1552575"/>
            </a:xfrm>
            <a:custGeom>
              <a:avLst/>
              <a:gdLst/>
              <a:ahLst/>
              <a:cxnLst/>
              <a:rect l="l" t="t" r="r" b="b"/>
              <a:pathLst>
                <a:path w="10878185" h="1552575">
                  <a:moveTo>
                    <a:pt x="10786173" y="0"/>
                  </a:moveTo>
                  <a:lnTo>
                    <a:pt x="91325" y="0"/>
                  </a:lnTo>
                  <a:lnTo>
                    <a:pt x="55780" y="7159"/>
                  </a:lnTo>
                  <a:lnTo>
                    <a:pt x="26750" y="26701"/>
                  </a:lnTo>
                  <a:lnTo>
                    <a:pt x="7177" y="55721"/>
                  </a:lnTo>
                  <a:lnTo>
                    <a:pt x="0" y="91312"/>
                  </a:lnTo>
                  <a:lnTo>
                    <a:pt x="0" y="1461135"/>
                  </a:lnTo>
                  <a:lnTo>
                    <a:pt x="7177" y="1496746"/>
                  </a:lnTo>
                  <a:lnTo>
                    <a:pt x="26750" y="1525809"/>
                  </a:lnTo>
                  <a:lnTo>
                    <a:pt x="55780" y="1545395"/>
                  </a:lnTo>
                  <a:lnTo>
                    <a:pt x="91325" y="1552575"/>
                  </a:lnTo>
                  <a:lnTo>
                    <a:pt x="10786173" y="1552575"/>
                  </a:lnTo>
                  <a:lnTo>
                    <a:pt x="10821785" y="1545395"/>
                  </a:lnTo>
                  <a:lnTo>
                    <a:pt x="10850848" y="1525809"/>
                  </a:lnTo>
                  <a:lnTo>
                    <a:pt x="10870434" y="1496746"/>
                  </a:lnTo>
                  <a:lnTo>
                    <a:pt x="10877613" y="1461135"/>
                  </a:lnTo>
                  <a:lnTo>
                    <a:pt x="10877613" y="91312"/>
                  </a:lnTo>
                  <a:lnTo>
                    <a:pt x="10870434" y="55721"/>
                  </a:lnTo>
                  <a:lnTo>
                    <a:pt x="10850848" y="26701"/>
                  </a:lnTo>
                  <a:lnTo>
                    <a:pt x="10821785" y="7159"/>
                  </a:lnTo>
                  <a:lnTo>
                    <a:pt x="107861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09587" y="3710051"/>
              <a:ext cx="10878185" cy="1552575"/>
            </a:xfrm>
            <a:custGeom>
              <a:avLst/>
              <a:gdLst/>
              <a:ahLst/>
              <a:cxnLst/>
              <a:rect l="l" t="t" r="r" b="b"/>
              <a:pathLst>
                <a:path w="10878185" h="1552575">
                  <a:moveTo>
                    <a:pt x="0" y="91312"/>
                  </a:moveTo>
                  <a:lnTo>
                    <a:pt x="7177" y="55721"/>
                  </a:lnTo>
                  <a:lnTo>
                    <a:pt x="26750" y="26701"/>
                  </a:lnTo>
                  <a:lnTo>
                    <a:pt x="55780" y="7159"/>
                  </a:lnTo>
                  <a:lnTo>
                    <a:pt x="91325" y="0"/>
                  </a:lnTo>
                  <a:lnTo>
                    <a:pt x="10786173" y="0"/>
                  </a:lnTo>
                  <a:lnTo>
                    <a:pt x="10821785" y="7159"/>
                  </a:lnTo>
                  <a:lnTo>
                    <a:pt x="10850848" y="26701"/>
                  </a:lnTo>
                  <a:lnTo>
                    <a:pt x="10870434" y="55721"/>
                  </a:lnTo>
                  <a:lnTo>
                    <a:pt x="10877613" y="91312"/>
                  </a:lnTo>
                  <a:lnTo>
                    <a:pt x="10877613" y="1461135"/>
                  </a:lnTo>
                  <a:lnTo>
                    <a:pt x="10870434" y="1496746"/>
                  </a:lnTo>
                  <a:lnTo>
                    <a:pt x="10850848" y="1525809"/>
                  </a:lnTo>
                  <a:lnTo>
                    <a:pt x="10821785" y="1545395"/>
                  </a:lnTo>
                  <a:lnTo>
                    <a:pt x="10786173" y="1552575"/>
                  </a:lnTo>
                  <a:lnTo>
                    <a:pt x="91325" y="1552575"/>
                  </a:lnTo>
                  <a:lnTo>
                    <a:pt x="55780" y="1545395"/>
                  </a:lnTo>
                  <a:lnTo>
                    <a:pt x="26750" y="1525809"/>
                  </a:lnTo>
                  <a:lnTo>
                    <a:pt x="7177" y="1496746"/>
                  </a:lnTo>
                  <a:lnTo>
                    <a:pt x="0" y="1461135"/>
                  </a:lnTo>
                  <a:lnTo>
                    <a:pt x="0" y="91312"/>
                  </a:lnTo>
                  <a:close/>
                </a:path>
              </a:pathLst>
            </a:custGeom>
            <a:ln w="12700">
              <a:solidFill>
                <a:srgbClr val="E2EB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902335" y="4104449"/>
            <a:ext cx="9980930" cy="711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99"/>
              </a:lnSpc>
              <a:spcBef>
                <a:spcPts val="100"/>
              </a:spcBef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Choropleth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maps</a:t>
            </a:r>
            <a:r>
              <a:rPr dirty="0" sz="1800" spc="3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and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distribution</a:t>
            </a:r>
            <a:r>
              <a:rPr dirty="0" sz="1800" spc="-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charts</a:t>
            </a:r>
            <a:r>
              <a:rPr dirty="0" sz="1800" spc="-4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that</a:t>
            </a:r>
            <a:r>
              <a:rPr dirty="0" sz="1800" spc="-5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reveal</a:t>
            </a:r>
            <a:r>
              <a:rPr dirty="0" sz="1800" spc="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high-risk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districts</a:t>
            </a:r>
            <a:r>
              <a:rPr dirty="0" sz="1800" spc="-4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and</a:t>
            </a:r>
            <a:r>
              <a:rPr dirty="0" sz="1800" spc="-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malnutrition-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category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patterns</a:t>
            </a:r>
            <a:r>
              <a:rPr dirty="0" sz="1800" spc="3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at</a:t>
            </a:r>
            <a:r>
              <a:rPr dirty="0" sz="1800" spc="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50">
                <a:solidFill>
                  <a:srgbClr val="1B2733"/>
                </a:solidFill>
                <a:latin typeface="Times New Roman"/>
                <a:cs typeface="Times New Roman"/>
              </a:rPr>
              <a:t>a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glance.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694541" y="6471750"/>
            <a:ext cx="159385" cy="16256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50" spc="-25">
                <a:solidFill>
                  <a:srgbClr val="5B6773"/>
                </a:solidFill>
                <a:latin typeface="Times New Roman"/>
                <a:cs typeface="Times New Roman"/>
              </a:rPr>
              <a:t>09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4825" y="590550"/>
            <a:ext cx="1419225" cy="457200"/>
          </a:xfrm>
          <a:custGeom>
            <a:avLst/>
            <a:gdLst/>
            <a:ahLst/>
            <a:cxnLst/>
            <a:rect l="l" t="t" r="r" b="b"/>
            <a:pathLst>
              <a:path w="1419225" h="457200">
                <a:moveTo>
                  <a:pt x="1346073" y="0"/>
                </a:moveTo>
                <a:lnTo>
                  <a:pt x="73151" y="0"/>
                </a:lnTo>
                <a:lnTo>
                  <a:pt x="44678" y="5750"/>
                </a:lnTo>
                <a:lnTo>
                  <a:pt x="21426" y="21431"/>
                </a:lnTo>
                <a:lnTo>
                  <a:pt x="5748" y="44684"/>
                </a:lnTo>
                <a:lnTo>
                  <a:pt x="0" y="73151"/>
                </a:lnTo>
                <a:lnTo>
                  <a:pt x="0" y="384048"/>
                </a:lnTo>
                <a:lnTo>
                  <a:pt x="5748" y="412515"/>
                </a:lnTo>
                <a:lnTo>
                  <a:pt x="21426" y="435768"/>
                </a:lnTo>
                <a:lnTo>
                  <a:pt x="44678" y="451449"/>
                </a:lnTo>
                <a:lnTo>
                  <a:pt x="73151" y="457200"/>
                </a:lnTo>
                <a:lnTo>
                  <a:pt x="1346073" y="457200"/>
                </a:lnTo>
                <a:lnTo>
                  <a:pt x="1374540" y="451449"/>
                </a:lnTo>
                <a:lnTo>
                  <a:pt x="1397793" y="435768"/>
                </a:lnTo>
                <a:lnTo>
                  <a:pt x="1413474" y="412515"/>
                </a:lnTo>
                <a:lnTo>
                  <a:pt x="1419225" y="384048"/>
                </a:lnTo>
                <a:lnTo>
                  <a:pt x="1419225" y="73151"/>
                </a:lnTo>
                <a:lnTo>
                  <a:pt x="1413474" y="44684"/>
                </a:lnTo>
                <a:lnTo>
                  <a:pt x="1397793" y="21431"/>
                </a:lnTo>
                <a:lnTo>
                  <a:pt x="1374540" y="5750"/>
                </a:lnTo>
                <a:lnTo>
                  <a:pt x="1346073" y="0"/>
                </a:lnTo>
                <a:close/>
              </a:path>
            </a:pathLst>
          </a:custGeom>
          <a:solidFill>
            <a:srgbClr val="F164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5962" y="702627"/>
            <a:ext cx="98361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105" b="1">
                <a:solidFill>
                  <a:srgbClr val="12335A"/>
                </a:solidFill>
                <a:latin typeface="Times New Roman"/>
                <a:cs typeface="Times New Roman"/>
              </a:rPr>
              <a:t>MODULE</a:t>
            </a:r>
            <a:r>
              <a:rPr dirty="0" sz="1250" spc="280" b="1">
                <a:solidFill>
                  <a:srgbClr val="12335A"/>
                </a:solidFill>
                <a:latin typeface="Times New Roman"/>
                <a:cs typeface="Times New Roman"/>
              </a:rPr>
              <a:t> </a:t>
            </a:r>
            <a:r>
              <a:rPr dirty="0" sz="1250" spc="-50" b="1">
                <a:solidFill>
                  <a:srgbClr val="12335A"/>
                </a:solidFill>
                <a:latin typeface="Times New Roman"/>
                <a:cs typeface="Times New Roman"/>
              </a:rPr>
              <a:t>3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83383" y="603186"/>
            <a:ext cx="6067425" cy="426084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/>
              <a:t>FOOD</a:t>
            </a:r>
            <a:r>
              <a:rPr dirty="0" sz="2150" spc="70"/>
              <a:t> </a:t>
            </a:r>
            <a:r>
              <a:rPr dirty="0" sz="2600" spc="-10"/>
              <a:t>SECURITY</a:t>
            </a:r>
            <a:r>
              <a:rPr dirty="0" sz="2600" spc="-95"/>
              <a:t> </a:t>
            </a:r>
            <a:r>
              <a:rPr dirty="0" sz="2150"/>
              <a:t>TREND</a:t>
            </a:r>
            <a:r>
              <a:rPr dirty="0" sz="2150" spc="140"/>
              <a:t> </a:t>
            </a:r>
            <a:r>
              <a:rPr dirty="0" sz="2150"/>
              <a:t>&amp;</a:t>
            </a:r>
            <a:r>
              <a:rPr dirty="0" sz="2150" spc="120"/>
              <a:t> </a:t>
            </a:r>
            <a:r>
              <a:rPr dirty="0" sz="2150" spc="-10"/>
              <a:t>UNCERTAINTY</a:t>
            </a:r>
            <a:endParaRPr sz="2150"/>
          </a:p>
        </p:txBody>
      </p:sp>
      <p:sp>
        <p:nvSpPr>
          <p:cNvPr id="5" name="object 5"/>
          <p:cNvSpPr/>
          <p:nvPr/>
        </p:nvSpPr>
        <p:spPr>
          <a:xfrm>
            <a:off x="509587" y="1243075"/>
            <a:ext cx="11202035" cy="0"/>
          </a:xfrm>
          <a:custGeom>
            <a:avLst/>
            <a:gdLst/>
            <a:ahLst/>
            <a:cxnLst/>
            <a:rect l="l" t="t" r="r" b="b"/>
            <a:pathLst>
              <a:path w="11202035" h="0">
                <a:moveTo>
                  <a:pt x="0" y="0"/>
                </a:moveTo>
                <a:lnTo>
                  <a:pt x="11201463" y="0"/>
                </a:lnTo>
              </a:path>
            </a:pathLst>
          </a:custGeom>
          <a:ln w="12700">
            <a:solidFill>
              <a:srgbClr val="D7E2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04825" y="1504950"/>
            <a:ext cx="2333625" cy="390525"/>
          </a:xfrm>
          <a:custGeom>
            <a:avLst/>
            <a:gdLst/>
            <a:ahLst/>
            <a:cxnLst/>
            <a:rect l="l" t="t" r="r" b="b"/>
            <a:pathLst>
              <a:path w="2333625" h="390525">
                <a:moveTo>
                  <a:pt x="2277872" y="0"/>
                </a:moveTo>
                <a:lnTo>
                  <a:pt x="55791" y="0"/>
                </a:lnTo>
                <a:lnTo>
                  <a:pt x="34075" y="4389"/>
                </a:lnTo>
                <a:lnTo>
                  <a:pt x="16341" y="16351"/>
                </a:lnTo>
                <a:lnTo>
                  <a:pt x="4384" y="34075"/>
                </a:lnTo>
                <a:lnTo>
                  <a:pt x="0" y="55752"/>
                </a:lnTo>
                <a:lnTo>
                  <a:pt x="0" y="334772"/>
                </a:lnTo>
                <a:lnTo>
                  <a:pt x="4384" y="356449"/>
                </a:lnTo>
                <a:lnTo>
                  <a:pt x="16341" y="374173"/>
                </a:lnTo>
                <a:lnTo>
                  <a:pt x="34075" y="386135"/>
                </a:lnTo>
                <a:lnTo>
                  <a:pt x="55791" y="390525"/>
                </a:lnTo>
                <a:lnTo>
                  <a:pt x="2277872" y="390525"/>
                </a:lnTo>
                <a:lnTo>
                  <a:pt x="2299549" y="386135"/>
                </a:lnTo>
                <a:lnTo>
                  <a:pt x="2317273" y="374173"/>
                </a:lnTo>
                <a:lnTo>
                  <a:pt x="2329235" y="356449"/>
                </a:lnTo>
                <a:lnTo>
                  <a:pt x="2333625" y="334772"/>
                </a:lnTo>
                <a:lnTo>
                  <a:pt x="2333625" y="55752"/>
                </a:lnTo>
                <a:lnTo>
                  <a:pt x="2329235" y="34075"/>
                </a:lnTo>
                <a:lnTo>
                  <a:pt x="2317273" y="16351"/>
                </a:lnTo>
                <a:lnTo>
                  <a:pt x="2299549" y="4389"/>
                </a:lnTo>
                <a:lnTo>
                  <a:pt x="2277872" y="0"/>
                </a:lnTo>
                <a:close/>
              </a:path>
            </a:pathLst>
          </a:custGeom>
          <a:solidFill>
            <a:srgbClr val="1D4E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96277" y="1600517"/>
            <a:ext cx="194119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FFFFFF"/>
                </a:solidFill>
                <a:latin typeface="Times New Roman"/>
                <a:cs typeface="Times New Roman"/>
              </a:rPr>
              <a:t>PURPOSE</a:t>
            </a:r>
            <a:r>
              <a:rPr dirty="0" sz="105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b="1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1050" spc="2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b="1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1050" spc="229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spc="-10" b="1">
                <a:solidFill>
                  <a:srgbClr val="FFFFFF"/>
                </a:solidFill>
                <a:latin typeface="Times New Roman"/>
                <a:cs typeface="Times New Roman"/>
              </a:rPr>
              <a:t>MODULE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977" y="2256853"/>
            <a:ext cx="104165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Quantify</a:t>
            </a:r>
            <a:r>
              <a:rPr dirty="0" sz="1800" spc="10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and</a:t>
            </a:r>
            <a:r>
              <a:rPr dirty="0" sz="1800" spc="-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communicate</a:t>
            </a:r>
            <a:r>
              <a:rPr dirty="0" sz="1800" spc="2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the</a:t>
            </a:r>
            <a:r>
              <a:rPr dirty="0" sz="1800" spc="-5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statistical</a:t>
            </a:r>
            <a:r>
              <a:rPr dirty="0" sz="1800" spc="20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 i="1">
                <a:solidFill>
                  <a:srgbClr val="1B2733"/>
                </a:solidFill>
                <a:latin typeface="Times New Roman"/>
                <a:cs typeface="Times New Roman"/>
              </a:rPr>
              <a:t>reliability</a:t>
            </a:r>
            <a:r>
              <a:rPr dirty="0" sz="1800" spc="-50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of</a:t>
            </a:r>
            <a:r>
              <a:rPr dirty="0" sz="1800" spc="20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prevalence</a:t>
            </a:r>
            <a:r>
              <a:rPr dirty="0" sz="1800" spc="2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estimates</a:t>
            </a:r>
            <a:r>
              <a:rPr dirty="0" sz="1800" spc="-30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to</a:t>
            </a:r>
            <a:r>
              <a:rPr dirty="0" sz="1800" spc="-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support</a:t>
            </a:r>
            <a:r>
              <a:rPr dirty="0" sz="1800" spc="2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confident</a:t>
            </a:r>
            <a:r>
              <a:rPr dirty="0" sz="1800" spc="-5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i="1">
                <a:solidFill>
                  <a:srgbClr val="1B2733"/>
                </a:solidFill>
                <a:latin typeface="Times New Roman"/>
                <a:cs typeface="Times New Roman"/>
              </a:rPr>
              <a:t>policy</a:t>
            </a:r>
            <a:r>
              <a:rPr dirty="0" sz="1800" spc="25" i="1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 i="1">
                <a:solidFill>
                  <a:srgbClr val="1B2733"/>
                </a:solidFill>
                <a:latin typeface="Times New Roman"/>
                <a:cs typeface="Times New Roman"/>
              </a:rPr>
              <a:t>targeting.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4825" y="2924175"/>
            <a:ext cx="1419225" cy="390525"/>
          </a:xfrm>
          <a:custGeom>
            <a:avLst/>
            <a:gdLst/>
            <a:ahLst/>
            <a:cxnLst/>
            <a:rect l="l" t="t" r="r" b="b"/>
            <a:pathLst>
              <a:path w="1419225" h="390525">
                <a:moveTo>
                  <a:pt x="1363472" y="0"/>
                </a:moveTo>
                <a:lnTo>
                  <a:pt x="55791" y="0"/>
                </a:lnTo>
                <a:lnTo>
                  <a:pt x="34075" y="4389"/>
                </a:lnTo>
                <a:lnTo>
                  <a:pt x="16341" y="16351"/>
                </a:lnTo>
                <a:lnTo>
                  <a:pt x="4384" y="34075"/>
                </a:lnTo>
                <a:lnTo>
                  <a:pt x="0" y="55752"/>
                </a:lnTo>
                <a:lnTo>
                  <a:pt x="0" y="334772"/>
                </a:lnTo>
                <a:lnTo>
                  <a:pt x="4384" y="356449"/>
                </a:lnTo>
                <a:lnTo>
                  <a:pt x="16341" y="374173"/>
                </a:lnTo>
                <a:lnTo>
                  <a:pt x="34075" y="386135"/>
                </a:lnTo>
                <a:lnTo>
                  <a:pt x="55791" y="390525"/>
                </a:lnTo>
                <a:lnTo>
                  <a:pt x="1363472" y="390525"/>
                </a:lnTo>
                <a:lnTo>
                  <a:pt x="1385149" y="386135"/>
                </a:lnTo>
                <a:lnTo>
                  <a:pt x="1402873" y="374173"/>
                </a:lnTo>
                <a:lnTo>
                  <a:pt x="1414835" y="356449"/>
                </a:lnTo>
                <a:lnTo>
                  <a:pt x="1419225" y="334772"/>
                </a:lnTo>
                <a:lnTo>
                  <a:pt x="1419225" y="55752"/>
                </a:lnTo>
                <a:lnTo>
                  <a:pt x="1414835" y="34075"/>
                </a:lnTo>
                <a:lnTo>
                  <a:pt x="1402873" y="16351"/>
                </a:lnTo>
                <a:lnTo>
                  <a:pt x="1385149" y="4389"/>
                </a:lnTo>
                <a:lnTo>
                  <a:pt x="1363472" y="0"/>
                </a:lnTo>
                <a:close/>
              </a:path>
            </a:pathLst>
          </a:custGeom>
          <a:solidFill>
            <a:srgbClr val="5FA7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60400" y="3020440"/>
            <a:ext cx="10947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FFFFFF"/>
                </a:solidFill>
                <a:latin typeface="Times New Roman"/>
                <a:cs typeface="Times New Roman"/>
              </a:rPr>
              <a:t>WHAT</a:t>
            </a:r>
            <a:r>
              <a:rPr dirty="0" sz="1050" spc="1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b="1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1050" spc="2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50" spc="-20" b="1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1" name="object 11"/>
          <p:cNvSpPr txBox="1"/>
          <p:nvPr/>
        </p:nvSpPr>
        <p:spPr>
          <a:xfrm>
            <a:off x="581977" y="3484943"/>
            <a:ext cx="7791450" cy="2102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Compute bootstrapped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confidence</a:t>
            </a:r>
            <a:r>
              <a:rPr dirty="0" sz="1800" spc="-6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intervals</a:t>
            </a:r>
            <a:r>
              <a:rPr dirty="0" sz="1800" spc="-3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for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district-level</a:t>
            </a:r>
            <a:r>
              <a:rPr dirty="0" sz="1800" spc="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prevalence</a:t>
            </a:r>
            <a:r>
              <a:rPr dirty="0" sz="1800" spc="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estimates.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370"/>
              </a:spcBef>
              <a:buChar char="•"/>
              <a:tabLst>
                <a:tab pos="241300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Track</a:t>
            </a:r>
            <a:r>
              <a:rPr dirty="0" sz="1800" spc="-3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food-security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index</a:t>
            </a:r>
            <a:r>
              <a:rPr dirty="0" sz="1800" spc="-2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trends</a:t>
            </a:r>
            <a:r>
              <a:rPr dirty="0" sz="1800" spc="-5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across</a:t>
            </a:r>
            <a:r>
              <a:rPr dirty="0" sz="1800" spc="-5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survey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rounds.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445"/>
              </a:spcBef>
              <a:buChar char="•"/>
              <a:tabLst>
                <a:tab pos="241300" algn="l"/>
              </a:tabLst>
            </a:pP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Visualize</a:t>
            </a:r>
            <a:r>
              <a:rPr dirty="0" sz="1800" spc="-6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point</a:t>
            </a:r>
            <a:r>
              <a:rPr dirty="0" sz="1800" spc="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prevalence</a:t>
            </a:r>
            <a:r>
              <a:rPr dirty="0" sz="1800" spc="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alongside</a:t>
            </a:r>
            <a:r>
              <a:rPr dirty="0" sz="1800" spc="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confidence-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interval</a:t>
            </a:r>
            <a:r>
              <a:rPr dirty="0" sz="1800" spc="-5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bands.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370"/>
              </a:spcBef>
              <a:buChar char="•"/>
              <a:tabLst>
                <a:tab pos="241300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Integrate</a:t>
            </a:r>
            <a:r>
              <a:rPr dirty="0" sz="1800" spc="-7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mapping,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distribution,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and</a:t>
            </a:r>
            <a:r>
              <a:rPr dirty="0" sz="18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uncertainty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layers</a:t>
            </a:r>
            <a:r>
              <a:rPr dirty="0" sz="1800" spc="-4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into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one</a:t>
            </a:r>
            <a:r>
              <a:rPr dirty="0" sz="1800" spc="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dashboard.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370"/>
              </a:spcBef>
              <a:buChar char="•"/>
              <a:tabLst>
                <a:tab pos="241300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Rank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districts</a:t>
            </a:r>
            <a:r>
              <a:rPr dirty="0" sz="1800" spc="4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by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confidence-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bounded risk for policy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prioritization.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4825" y="590550"/>
            <a:ext cx="1419225" cy="457200"/>
          </a:xfrm>
          <a:custGeom>
            <a:avLst/>
            <a:gdLst/>
            <a:ahLst/>
            <a:cxnLst/>
            <a:rect l="l" t="t" r="r" b="b"/>
            <a:pathLst>
              <a:path w="1419225" h="457200">
                <a:moveTo>
                  <a:pt x="1346073" y="0"/>
                </a:moveTo>
                <a:lnTo>
                  <a:pt x="73151" y="0"/>
                </a:lnTo>
                <a:lnTo>
                  <a:pt x="44678" y="5750"/>
                </a:lnTo>
                <a:lnTo>
                  <a:pt x="21426" y="21431"/>
                </a:lnTo>
                <a:lnTo>
                  <a:pt x="5748" y="44684"/>
                </a:lnTo>
                <a:lnTo>
                  <a:pt x="0" y="73151"/>
                </a:lnTo>
                <a:lnTo>
                  <a:pt x="0" y="384048"/>
                </a:lnTo>
                <a:lnTo>
                  <a:pt x="5748" y="412515"/>
                </a:lnTo>
                <a:lnTo>
                  <a:pt x="21426" y="435768"/>
                </a:lnTo>
                <a:lnTo>
                  <a:pt x="44678" y="451449"/>
                </a:lnTo>
                <a:lnTo>
                  <a:pt x="73151" y="457200"/>
                </a:lnTo>
                <a:lnTo>
                  <a:pt x="1346073" y="457200"/>
                </a:lnTo>
                <a:lnTo>
                  <a:pt x="1374540" y="451449"/>
                </a:lnTo>
                <a:lnTo>
                  <a:pt x="1397793" y="435768"/>
                </a:lnTo>
                <a:lnTo>
                  <a:pt x="1413474" y="412515"/>
                </a:lnTo>
                <a:lnTo>
                  <a:pt x="1419225" y="384048"/>
                </a:lnTo>
                <a:lnTo>
                  <a:pt x="1419225" y="73151"/>
                </a:lnTo>
                <a:lnTo>
                  <a:pt x="1413474" y="44684"/>
                </a:lnTo>
                <a:lnTo>
                  <a:pt x="1397793" y="21431"/>
                </a:lnTo>
                <a:lnTo>
                  <a:pt x="1374540" y="5750"/>
                </a:lnTo>
                <a:lnTo>
                  <a:pt x="1346073" y="0"/>
                </a:lnTo>
                <a:close/>
              </a:path>
            </a:pathLst>
          </a:custGeom>
          <a:solidFill>
            <a:srgbClr val="F164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5962" y="702627"/>
            <a:ext cx="98361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105" b="1">
                <a:solidFill>
                  <a:srgbClr val="12335A"/>
                </a:solidFill>
                <a:latin typeface="Times New Roman"/>
                <a:cs typeface="Times New Roman"/>
              </a:rPr>
              <a:t>MODULE</a:t>
            </a:r>
            <a:r>
              <a:rPr dirty="0" sz="1250" spc="280" b="1">
                <a:solidFill>
                  <a:srgbClr val="12335A"/>
                </a:solidFill>
                <a:latin typeface="Times New Roman"/>
                <a:cs typeface="Times New Roman"/>
              </a:rPr>
              <a:t> </a:t>
            </a:r>
            <a:r>
              <a:rPr dirty="0" sz="1250" spc="-50" b="1">
                <a:solidFill>
                  <a:srgbClr val="12335A"/>
                </a:solidFill>
                <a:latin typeface="Times New Roman"/>
                <a:cs typeface="Times New Roman"/>
              </a:rPr>
              <a:t>3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83383" y="643191"/>
            <a:ext cx="5804535" cy="3575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/>
              <a:t>FOOD</a:t>
            </a:r>
            <a:r>
              <a:rPr dirty="0" sz="2150" spc="110"/>
              <a:t> </a:t>
            </a:r>
            <a:r>
              <a:rPr dirty="0" sz="2150"/>
              <a:t>SECURITY</a:t>
            </a:r>
            <a:r>
              <a:rPr dirty="0" sz="2150" spc="25"/>
              <a:t> </a:t>
            </a:r>
            <a:r>
              <a:rPr dirty="0" sz="2150"/>
              <a:t>TREND</a:t>
            </a:r>
            <a:r>
              <a:rPr dirty="0" sz="2150" spc="120"/>
              <a:t> </a:t>
            </a:r>
            <a:r>
              <a:rPr dirty="0" sz="2150"/>
              <a:t>&amp;</a:t>
            </a:r>
            <a:r>
              <a:rPr dirty="0" sz="2150" spc="190"/>
              <a:t> </a:t>
            </a:r>
            <a:r>
              <a:rPr dirty="0" sz="2150" spc="-10"/>
              <a:t>UNCERTAINTY</a:t>
            </a:r>
            <a:endParaRPr sz="2150"/>
          </a:p>
        </p:txBody>
      </p:sp>
      <p:sp>
        <p:nvSpPr>
          <p:cNvPr id="5" name="object 5"/>
          <p:cNvSpPr/>
          <p:nvPr/>
        </p:nvSpPr>
        <p:spPr>
          <a:xfrm>
            <a:off x="509587" y="1243075"/>
            <a:ext cx="11202035" cy="0"/>
          </a:xfrm>
          <a:custGeom>
            <a:avLst/>
            <a:gdLst/>
            <a:ahLst/>
            <a:cxnLst/>
            <a:rect l="l" t="t" r="r" b="b"/>
            <a:pathLst>
              <a:path w="11202035" h="0">
                <a:moveTo>
                  <a:pt x="0" y="0"/>
                </a:moveTo>
                <a:lnTo>
                  <a:pt x="11201463" y="0"/>
                </a:lnTo>
              </a:path>
            </a:pathLst>
          </a:custGeom>
          <a:ln w="12700">
            <a:solidFill>
              <a:srgbClr val="D7E2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04825" y="1600200"/>
            <a:ext cx="1190625" cy="381000"/>
          </a:xfrm>
          <a:custGeom>
            <a:avLst/>
            <a:gdLst/>
            <a:ahLst/>
            <a:cxnLst/>
            <a:rect l="l" t="t" r="r" b="b"/>
            <a:pathLst>
              <a:path w="1190625" h="381000">
                <a:moveTo>
                  <a:pt x="1136142" y="0"/>
                </a:moveTo>
                <a:lnTo>
                  <a:pt x="54432" y="0"/>
                </a:lnTo>
                <a:lnTo>
                  <a:pt x="33245" y="4280"/>
                </a:lnTo>
                <a:lnTo>
                  <a:pt x="15943" y="15954"/>
                </a:lnTo>
                <a:lnTo>
                  <a:pt x="4277" y="33272"/>
                </a:lnTo>
                <a:lnTo>
                  <a:pt x="0" y="54483"/>
                </a:lnTo>
                <a:lnTo>
                  <a:pt x="0" y="326516"/>
                </a:lnTo>
                <a:lnTo>
                  <a:pt x="4277" y="347727"/>
                </a:lnTo>
                <a:lnTo>
                  <a:pt x="15943" y="365045"/>
                </a:lnTo>
                <a:lnTo>
                  <a:pt x="33245" y="376719"/>
                </a:lnTo>
                <a:lnTo>
                  <a:pt x="54432" y="381000"/>
                </a:lnTo>
                <a:lnTo>
                  <a:pt x="1136142" y="381000"/>
                </a:lnTo>
                <a:lnTo>
                  <a:pt x="1157352" y="376719"/>
                </a:lnTo>
                <a:lnTo>
                  <a:pt x="1174670" y="365045"/>
                </a:lnTo>
                <a:lnTo>
                  <a:pt x="1186344" y="347727"/>
                </a:lnTo>
                <a:lnTo>
                  <a:pt x="1190625" y="326516"/>
                </a:lnTo>
                <a:lnTo>
                  <a:pt x="1190625" y="54483"/>
                </a:lnTo>
                <a:lnTo>
                  <a:pt x="1186344" y="33272"/>
                </a:lnTo>
                <a:lnTo>
                  <a:pt x="1174670" y="15954"/>
                </a:lnTo>
                <a:lnTo>
                  <a:pt x="1157352" y="4280"/>
                </a:lnTo>
                <a:lnTo>
                  <a:pt x="1136142" y="0"/>
                </a:lnTo>
                <a:close/>
              </a:path>
            </a:pathLst>
          </a:custGeom>
          <a:solidFill>
            <a:srgbClr val="1D4E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06767" y="1589087"/>
            <a:ext cx="576580" cy="38989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76200" marR="5080" indent="-63500">
              <a:lnSpc>
                <a:spcPts val="1430"/>
              </a:lnSpc>
              <a:spcBef>
                <a:spcPts val="155"/>
              </a:spcBef>
            </a:pPr>
            <a:r>
              <a:rPr dirty="0" sz="1200" spc="-10" b="1">
                <a:solidFill>
                  <a:srgbClr val="FFFFFF"/>
                </a:solidFill>
                <a:latin typeface="Times New Roman"/>
                <a:cs typeface="Times New Roman"/>
              </a:rPr>
              <a:t>TOOLS </a:t>
            </a:r>
            <a:r>
              <a:rPr dirty="0" sz="1200" spc="-20" b="1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6887" y="2182812"/>
            <a:ext cx="1063625" cy="568325"/>
            <a:chOff x="496887" y="2182812"/>
            <a:chExt cx="1063625" cy="568325"/>
          </a:xfrm>
        </p:grpSpPr>
        <p:sp>
          <p:nvSpPr>
            <p:cNvPr id="9" name="object 9"/>
            <p:cNvSpPr/>
            <p:nvPr/>
          </p:nvSpPr>
          <p:spPr>
            <a:xfrm>
              <a:off x="504825" y="2190750"/>
              <a:ext cx="1047750" cy="552450"/>
            </a:xfrm>
            <a:custGeom>
              <a:avLst/>
              <a:gdLst/>
              <a:ahLst/>
              <a:cxnLst/>
              <a:rect l="l" t="t" r="r" b="b"/>
              <a:pathLst>
                <a:path w="1047750" h="552450">
                  <a:moveTo>
                    <a:pt x="771525" y="0"/>
                  </a:moveTo>
                  <a:lnTo>
                    <a:pt x="276225" y="0"/>
                  </a:lnTo>
                  <a:lnTo>
                    <a:pt x="226573" y="4451"/>
                  </a:lnTo>
                  <a:lnTo>
                    <a:pt x="179842" y="17284"/>
                  </a:lnTo>
                  <a:lnTo>
                    <a:pt x="136810" y="37719"/>
                  </a:lnTo>
                  <a:lnTo>
                    <a:pt x="98257" y="64973"/>
                  </a:lnTo>
                  <a:lnTo>
                    <a:pt x="64965" y="98268"/>
                  </a:lnTo>
                  <a:lnTo>
                    <a:pt x="37713" y="136821"/>
                  </a:lnTo>
                  <a:lnTo>
                    <a:pt x="17281" y="179852"/>
                  </a:lnTo>
                  <a:lnTo>
                    <a:pt x="4450" y="226580"/>
                  </a:lnTo>
                  <a:lnTo>
                    <a:pt x="0" y="276225"/>
                  </a:lnTo>
                  <a:lnTo>
                    <a:pt x="4450" y="325869"/>
                  </a:lnTo>
                  <a:lnTo>
                    <a:pt x="17281" y="372597"/>
                  </a:lnTo>
                  <a:lnTo>
                    <a:pt x="37713" y="415628"/>
                  </a:lnTo>
                  <a:lnTo>
                    <a:pt x="64965" y="454181"/>
                  </a:lnTo>
                  <a:lnTo>
                    <a:pt x="98257" y="487476"/>
                  </a:lnTo>
                  <a:lnTo>
                    <a:pt x="136810" y="514731"/>
                  </a:lnTo>
                  <a:lnTo>
                    <a:pt x="179842" y="535165"/>
                  </a:lnTo>
                  <a:lnTo>
                    <a:pt x="226573" y="547998"/>
                  </a:lnTo>
                  <a:lnTo>
                    <a:pt x="276225" y="552450"/>
                  </a:lnTo>
                  <a:lnTo>
                    <a:pt x="771525" y="552450"/>
                  </a:lnTo>
                  <a:lnTo>
                    <a:pt x="821169" y="547998"/>
                  </a:lnTo>
                  <a:lnTo>
                    <a:pt x="867897" y="535165"/>
                  </a:lnTo>
                  <a:lnTo>
                    <a:pt x="910928" y="514731"/>
                  </a:lnTo>
                  <a:lnTo>
                    <a:pt x="949481" y="487476"/>
                  </a:lnTo>
                  <a:lnTo>
                    <a:pt x="982776" y="454181"/>
                  </a:lnTo>
                  <a:lnTo>
                    <a:pt x="1010030" y="415628"/>
                  </a:lnTo>
                  <a:lnTo>
                    <a:pt x="1030465" y="372597"/>
                  </a:lnTo>
                  <a:lnTo>
                    <a:pt x="1043298" y="325869"/>
                  </a:lnTo>
                  <a:lnTo>
                    <a:pt x="1047750" y="276225"/>
                  </a:lnTo>
                  <a:lnTo>
                    <a:pt x="1043298" y="226580"/>
                  </a:lnTo>
                  <a:lnTo>
                    <a:pt x="1030465" y="179852"/>
                  </a:lnTo>
                  <a:lnTo>
                    <a:pt x="1010031" y="136821"/>
                  </a:lnTo>
                  <a:lnTo>
                    <a:pt x="982776" y="98268"/>
                  </a:lnTo>
                  <a:lnTo>
                    <a:pt x="949481" y="64973"/>
                  </a:lnTo>
                  <a:lnTo>
                    <a:pt x="910928" y="37719"/>
                  </a:lnTo>
                  <a:lnTo>
                    <a:pt x="867897" y="17284"/>
                  </a:lnTo>
                  <a:lnTo>
                    <a:pt x="821169" y="4451"/>
                  </a:lnTo>
                  <a:lnTo>
                    <a:pt x="7715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04825" y="2190750"/>
              <a:ext cx="1047750" cy="552450"/>
            </a:xfrm>
            <a:custGeom>
              <a:avLst/>
              <a:gdLst/>
              <a:ahLst/>
              <a:cxnLst/>
              <a:rect l="l" t="t" r="r" b="b"/>
              <a:pathLst>
                <a:path w="1047750" h="552450">
                  <a:moveTo>
                    <a:pt x="0" y="276225"/>
                  </a:moveTo>
                  <a:lnTo>
                    <a:pt x="4450" y="226580"/>
                  </a:lnTo>
                  <a:lnTo>
                    <a:pt x="17281" y="179852"/>
                  </a:lnTo>
                  <a:lnTo>
                    <a:pt x="37713" y="136821"/>
                  </a:lnTo>
                  <a:lnTo>
                    <a:pt x="64965" y="98268"/>
                  </a:lnTo>
                  <a:lnTo>
                    <a:pt x="98257" y="64973"/>
                  </a:lnTo>
                  <a:lnTo>
                    <a:pt x="136810" y="37719"/>
                  </a:lnTo>
                  <a:lnTo>
                    <a:pt x="179842" y="17284"/>
                  </a:lnTo>
                  <a:lnTo>
                    <a:pt x="226573" y="4451"/>
                  </a:lnTo>
                  <a:lnTo>
                    <a:pt x="276225" y="0"/>
                  </a:lnTo>
                  <a:lnTo>
                    <a:pt x="771525" y="0"/>
                  </a:lnTo>
                  <a:lnTo>
                    <a:pt x="821169" y="4451"/>
                  </a:lnTo>
                  <a:lnTo>
                    <a:pt x="867897" y="17284"/>
                  </a:lnTo>
                  <a:lnTo>
                    <a:pt x="910928" y="37718"/>
                  </a:lnTo>
                  <a:lnTo>
                    <a:pt x="949481" y="64973"/>
                  </a:lnTo>
                  <a:lnTo>
                    <a:pt x="982776" y="98268"/>
                  </a:lnTo>
                  <a:lnTo>
                    <a:pt x="1010031" y="136821"/>
                  </a:lnTo>
                  <a:lnTo>
                    <a:pt x="1030465" y="179852"/>
                  </a:lnTo>
                  <a:lnTo>
                    <a:pt x="1043298" y="226580"/>
                  </a:lnTo>
                  <a:lnTo>
                    <a:pt x="1047750" y="276225"/>
                  </a:lnTo>
                  <a:lnTo>
                    <a:pt x="1043298" y="325869"/>
                  </a:lnTo>
                  <a:lnTo>
                    <a:pt x="1030465" y="372597"/>
                  </a:lnTo>
                  <a:lnTo>
                    <a:pt x="1010031" y="415628"/>
                  </a:lnTo>
                  <a:lnTo>
                    <a:pt x="982776" y="454181"/>
                  </a:lnTo>
                  <a:lnTo>
                    <a:pt x="949481" y="487476"/>
                  </a:lnTo>
                  <a:lnTo>
                    <a:pt x="910928" y="514730"/>
                  </a:lnTo>
                  <a:lnTo>
                    <a:pt x="867897" y="535165"/>
                  </a:lnTo>
                  <a:lnTo>
                    <a:pt x="821169" y="547998"/>
                  </a:lnTo>
                  <a:lnTo>
                    <a:pt x="771525" y="552450"/>
                  </a:lnTo>
                  <a:lnTo>
                    <a:pt x="276225" y="552450"/>
                  </a:lnTo>
                  <a:lnTo>
                    <a:pt x="226573" y="547998"/>
                  </a:lnTo>
                  <a:lnTo>
                    <a:pt x="179842" y="535165"/>
                  </a:lnTo>
                  <a:lnTo>
                    <a:pt x="136810" y="514731"/>
                  </a:lnTo>
                  <a:lnTo>
                    <a:pt x="98257" y="487476"/>
                  </a:lnTo>
                  <a:lnTo>
                    <a:pt x="64965" y="454181"/>
                  </a:lnTo>
                  <a:lnTo>
                    <a:pt x="37713" y="415628"/>
                  </a:lnTo>
                  <a:lnTo>
                    <a:pt x="17281" y="372597"/>
                  </a:lnTo>
                  <a:lnTo>
                    <a:pt x="4450" y="325869"/>
                  </a:lnTo>
                  <a:lnTo>
                    <a:pt x="0" y="276225"/>
                  </a:lnTo>
                  <a:close/>
                </a:path>
              </a:pathLst>
            </a:custGeom>
            <a:ln w="15875">
              <a:solidFill>
                <a:srgbClr val="5FA7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06119" y="2327973"/>
            <a:ext cx="64262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0" b="1">
                <a:solidFill>
                  <a:srgbClr val="1D4E88"/>
                </a:solidFill>
                <a:latin typeface="Times New Roman"/>
                <a:cs typeface="Times New Roman"/>
              </a:rPr>
              <a:t>Python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44662" y="2182812"/>
            <a:ext cx="3816350" cy="568325"/>
            <a:chOff x="1744662" y="2182812"/>
            <a:chExt cx="3816350" cy="568325"/>
          </a:xfrm>
        </p:grpSpPr>
        <p:sp>
          <p:nvSpPr>
            <p:cNvPr id="13" name="object 13"/>
            <p:cNvSpPr/>
            <p:nvPr/>
          </p:nvSpPr>
          <p:spPr>
            <a:xfrm>
              <a:off x="1752600" y="2190750"/>
              <a:ext cx="3800475" cy="552450"/>
            </a:xfrm>
            <a:custGeom>
              <a:avLst/>
              <a:gdLst/>
              <a:ahLst/>
              <a:cxnLst/>
              <a:rect l="l" t="t" r="r" b="b"/>
              <a:pathLst>
                <a:path w="3800475" h="552450">
                  <a:moveTo>
                    <a:pt x="3524250" y="0"/>
                  </a:moveTo>
                  <a:lnTo>
                    <a:pt x="276225" y="0"/>
                  </a:lnTo>
                  <a:lnTo>
                    <a:pt x="226580" y="4451"/>
                  </a:lnTo>
                  <a:lnTo>
                    <a:pt x="179852" y="17284"/>
                  </a:lnTo>
                  <a:lnTo>
                    <a:pt x="136821" y="37719"/>
                  </a:lnTo>
                  <a:lnTo>
                    <a:pt x="98268" y="64973"/>
                  </a:lnTo>
                  <a:lnTo>
                    <a:pt x="64973" y="98268"/>
                  </a:lnTo>
                  <a:lnTo>
                    <a:pt x="37719" y="136821"/>
                  </a:lnTo>
                  <a:lnTo>
                    <a:pt x="17284" y="179852"/>
                  </a:lnTo>
                  <a:lnTo>
                    <a:pt x="4451" y="226580"/>
                  </a:lnTo>
                  <a:lnTo>
                    <a:pt x="0" y="276225"/>
                  </a:lnTo>
                  <a:lnTo>
                    <a:pt x="4451" y="325869"/>
                  </a:lnTo>
                  <a:lnTo>
                    <a:pt x="17284" y="372597"/>
                  </a:lnTo>
                  <a:lnTo>
                    <a:pt x="37718" y="415628"/>
                  </a:lnTo>
                  <a:lnTo>
                    <a:pt x="64973" y="454181"/>
                  </a:lnTo>
                  <a:lnTo>
                    <a:pt x="98268" y="487476"/>
                  </a:lnTo>
                  <a:lnTo>
                    <a:pt x="136821" y="514731"/>
                  </a:lnTo>
                  <a:lnTo>
                    <a:pt x="179852" y="535165"/>
                  </a:lnTo>
                  <a:lnTo>
                    <a:pt x="226580" y="547998"/>
                  </a:lnTo>
                  <a:lnTo>
                    <a:pt x="276225" y="552450"/>
                  </a:lnTo>
                  <a:lnTo>
                    <a:pt x="3524250" y="552450"/>
                  </a:lnTo>
                  <a:lnTo>
                    <a:pt x="3573894" y="547998"/>
                  </a:lnTo>
                  <a:lnTo>
                    <a:pt x="3620622" y="535165"/>
                  </a:lnTo>
                  <a:lnTo>
                    <a:pt x="3663653" y="514731"/>
                  </a:lnTo>
                  <a:lnTo>
                    <a:pt x="3702206" y="487476"/>
                  </a:lnTo>
                  <a:lnTo>
                    <a:pt x="3735501" y="454181"/>
                  </a:lnTo>
                  <a:lnTo>
                    <a:pt x="3762755" y="415628"/>
                  </a:lnTo>
                  <a:lnTo>
                    <a:pt x="3783190" y="372597"/>
                  </a:lnTo>
                  <a:lnTo>
                    <a:pt x="3796023" y="325869"/>
                  </a:lnTo>
                  <a:lnTo>
                    <a:pt x="3800475" y="276225"/>
                  </a:lnTo>
                  <a:lnTo>
                    <a:pt x="3796023" y="226580"/>
                  </a:lnTo>
                  <a:lnTo>
                    <a:pt x="3783190" y="179852"/>
                  </a:lnTo>
                  <a:lnTo>
                    <a:pt x="3762755" y="136821"/>
                  </a:lnTo>
                  <a:lnTo>
                    <a:pt x="3735501" y="98268"/>
                  </a:lnTo>
                  <a:lnTo>
                    <a:pt x="3702206" y="64973"/>
                  </a:lnTo>
                  <a:lnTo>
                    <a:pt x="3663653" y="37719"/>
                  </a:lnTo>
                  <a:lnTo>
                    <a:pt x="3620622" y="17284"/>
                  </a:lnTo>
                  <a:lnTo>
                    <a:pt x="3573894" y="4451"/>
                  </a:lnTo>
                  <a:lnTo>
                    <a:pt x="3524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752600" y="2190750"/>
              <a:ext cx="3800475" cy="552450"/>
            </a:xfrm>
            <a:custGeom>
              <a:avLst/>
              <a:gdLst/>
              <a:ahLst/>
              <a:cxnLst/>
              <a:rect l="l" t="t" r="r" b="b"/>
              <a:pathLst>
                <a:path w="3800475" h="552450">
                  <a:moveTo>
                    <a:pt x="0" y="276225"/>
                  </a:moveTo>
                  <a:lnTo>
                    <a:pt x="4451" y="226580"/>
                  </a:lnTo>
                  <a:lnTo>
                    <a:pt x="17284" y="179852"/>
                  </a:lnTo>
                  <a:lnTo>
                    <a:pt x="37719" y="136821"/>
                  </a:lnTo>
                  <a:lnTo>
                    <a:pt x="64973" y="98268"/>
                  </a:lnTo>
                  <a:lnTo>
                    <a:pt x="98268" y="64973"/>
                  </a:lnTo>
                  <a:lnTo>
                    <a:pt x="136821" y="37719"/>
                  </a:lnTo>
                  <a:lnTo>
                    <a:pt x="179852" y="17284"/>
                  </a:lnTo>
                  <a:lnTo>
                    <a:pt x="226580" y="4451"/>
                  </a:lnTo>
                  <a:lnTo>
                    <a:pt x="276225" y="0"/>
                  </a:lnTo>
                  <a:lnTo>
                    <a:pt x="3524250" y="0"/>
                  </a:lnTo>
                  <a:lnTo>
                    <a:pt x="3573894" y="4451"/>
                  </a:lnTo>
                  <a:lnTo>
                    <a:pt x="3620622" y="17284"/>
                  </a:lnTo>
                  <a:lnTo>
                    <a:pt x="3663653" y="37718"/>
                  </a:lnTo>
                  <a:lnTo>
                    <a:pt x="3702206" y="64973"/>
                  </a:lnTo>
                  <a:lnTo>
                    <a:pt x="3735501" y="98268"/>
                  </a:lnTo>
                  <a:lnTo>
                    <a:pt x="3762755" y="136821"/>
                  </a:lnTo>
                  <a:lnTo>
                    <a:pt x="3783190" y="179852"/>
                  </a:lnTo>
                  <a:lnTo>
                    <a:pt x="3796023" y="226580"/>
                  </a:lnTo>
                  <a:lnTo>
                    <a:pt x="3800475" y="276225"/>
                  </a:lnTo>
                  <a:lnTo>
                    <a:pt x="3796023" y="325869"/>
                  </a:lnTo>
                  <a:lnTo>
                    <a:pt x="3783190" y="372597"/>
                  </a:lnTo>
                  <a:lnTo>
                    <a:pt x="3762756" y="415628"/>
                  </a:lnTo>
                  <a:lnTo>
                    <a:pt x="3735501" y="454181"/>
                  </a:lnTo>
                  <a:lnTo>
                    <a:pt x="3702206" y="487476"/>
                  </a:lnTo>
                  <a:lnTo>
                    <a:pt x="3663653" y="514730"/>
                  </a:lnTo>
                  <a:lnTo>
                    <a:pt x="3620622" y="535165"/>
                  </a:lnTo>
                  <a:lnTo>
                    <a:pt x="3573894" y="547998"/>
                  </a:lnTo>
                  <a:lnTo>
                    <a:pt x="3524250" y="552450"/>
                  </a:lnTo>
                  <a:lnTo>
                    <a:pt x="276225" y="552450"/>
                  </a:lnTo>
                  <a:lnTo>
                    <a:pt x="226580" y="547998"/>
                  </a:lnTo>
                  <a:lnTo>
                    <a:pt x="179852" y="535165"/>
                  </a:lnTo>
                  <a:lnTo>
                    <a:pt x="136821" y="514731"/>
                  </a:lnTo>
                  <a:lnTo>
                    <a:pt x="98268" y="487476"/>
                  </a:lnTo>
                  <a:lnTo>
                    <a:pt x="64973" y="454181"/>
                  </a:lnTo>
                  <a:lnTo>
                    <a:pt x="37718" y="415628"/>
                  </a:lnTo>
                  <a:lnTo>
                    <a:pt x="17284" y="372597"/>
                  </a:lnTo>
                  <a:lnTo>
                    <a:pt x="4451" y="325869"/>
                  </a:lnTo>
                  <a:lnTo>
                    <a:pt x="0" y="276225"/>
                  </a:lnTo>
                  <a:close/>
                </a:path>
              </a:pathLst>
            </a:custGeom>
            <a:ln w="15875">
              <a:solidFill>
                <a:srgbClr val="5FA7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970404" y="2327973"/>
            <a:ext cx="336613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b="1">
                <a:solidFill>
                  <a:srgbClr val="1D4E88"/>
                </a:solidFill>
                <a:latin typeface="Times New Roman"/>
                <a:cs typeface="Times New Roman"/>
              </a:rPr>
              <a:t>NumPy</a:t>
            </a:r>
            <a:r>
              <a:rPr dirty="0" sz="1550" spc="125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D4E88"/>
                </a:solidFill>
                <a:latin typeface="Times New Roman"/>
                <a:cs typeface="Times New Roman"/>
              </a:rPr>
              <a:t>/</a:t>
            </a:r>
            <a:r>
              <a:rPr dirty="0" sz="1550" spc="95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D4E88"/>
                </a:solidFill>
                <a:latin typeface="Times New Roman"/>
                <a:cs typeface="Times New Roman"/>
              </a:rPr>
              <a:t>SciPy</a:t>
            </a:r>
            <a:r>
              <a:rPr dirty="0" sz="1550" spc="125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D4E88"/>
                </a:solidFill>
                <a:latin typeface="Times New Roman"/>
                <a:cs typeface="Times New Roman"/>
              </a:rPr>
              <a:t>(bootstrap</a:t>
            </a:r>
            <a:r>
              <a:rPr dirty="0" sz="1550" spc="110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550" spc="-10" b="1">
                <a:solidFill>
                  <a:srgbClr val="1D4E88"/>
                </a:solidFill>
                <a:latin typeface="Times New Roman"/>
                <a:cs typeface="Times New Roman"/>
              </a:rPr>
              <a:t>resampling)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745162" y="2182812"/>
            <a:ext cx="1063625" cy="568325"/>
            <a:chOff x="5745162" y="2182812"/>
            <a:chExt cx="1063625" cy="568325"/>
          </a:xfrm>
        </p:grpSpPr>
        <p:sp>
          <p:nvSpPr>
            <p:cNvPr id="17" name="object 17"/>
            <p:cNvSpPr/>
            <p:nvPr/>
          </p:nvSpPr>
          <p:spPr>
            <a:xfrm>
              <a:off x="5753100" y="2190750"/>
              <a:ext cx="1047750" cy="552450"/>
            </a:xfrm>
            <a:custGeom>
              <a:avLst/>
              <a:gdLst/>
              <a:ahLst/>
              <a:cxnLst/>
              <a:rect l="l" t="t" r="r" b="b"/>
              <a:pathLst>
                <a:path w="1047750" h="552450">
                  <a:moveTo>
                    <a:pt x="771525" y="0"/>
                  </a:moveTo>
                  <a:lnTo>
                    <a:pt x="276225" y="0"/>
                  </a:lnTo>
                  <a:lnTo>
                    <a:pt x="226580" y="4451"/>
                  </a:lnTo>
                  <a:lnTo>
                    <a:pt x="179852" y="17284"/>
                  </a:lnTo>
                  <a:lnTo>
                    <a:pt x="136821" y="37719"/>
                  </a:lnTo>
                  <a:lnTo>
                    <a:pt x="98268" y="64973"/>
                  </a:lnTo>
                  <a:lnTo>
                    <a:pt x="64973" y="98268"/>
                  </a:lnTo>
                  <a:lnTo>
                    <a:pt x="37718" y="136821"/>
                  </a:lnTo>
                  <a:lnTo>
                    <a:pt x="17284" y="179852"/>
                  </a:lnTo>
                  <a:lnTo>
                    <a:pt x="4451" y="226580"/>
                  </a:lnTo>
                  <a:lnTo>
                    <a:pt x="0" y="276225"/>
                  </a:lnTo>
                  <a:lnTo>
                    <a:pt x="4451" y="325869"/>
                  </a:lnTo>
                  <a:lnTo>
                    <a:pt x="17284" y="372597"/>
                  </a:lnTo>
                  <a:lnTo>
                    <a:pt x="37719" y="415628"/>
                  </a:lnTo>
                  <a:lnTo>
                    <a:pt x="64973" y="454181"/>
                  </a:lnTo>
                  <a:lnTo>
                    <a:pt x="98268" y="487476"/>
                  </a:lnTo>
                  <a:lnTo>
                    <a:pt x="136821" y="514731"/>
                  </a:lnTo>
                  <a:lnTo>
                    <a:pt x="179852" y="535165"/>
                  </a:lnTo>
                  <a:lnTo>
                    <a:pt x="226580" y="547998"/>
                  </a:lnTo>
                  <a:lnTo>
                    <a:pt x="276225" y="552450"/>
                  </a:lnTo>
                  <a:lnTo>
                    <a:pt x="771525" y="552450"/>
                  </a:lnTo>
                  <a:lnTo>
                    <a:pt x="821169" y="547998"/>
                  </a:lnTo>
                  <a:lnTo>
                    <a:pt x="867897" y="535165"/>
                  </a:lnTo>
                  <a:lnTo>
                    <a:pt x="910928" y="514731"/>
                  </a:lnTo>
                  <a:lnTo>
                    <a:pt x="949481" y="487476"/>
                  </a:lnTo>
                  <a:lnTo>
                    <a:pt x="982776" y="454181"/>
                  </a:lnTo>
                  <a:lnTo>
                    <a:pt x="1010030" y="415628"/>
                  </a:lnTo>
                  <a:lnTo>
                    <a:pt x="1030465" y="372597"/>
                  </a:lnTo>
                  <a:lnTo>
                    <a:pt x="1043298" y="325869"/>
                  </a:lnTo>
                  <a:lnTo>
                    <a:pt x="1047750" y="276225"/>
                  </a:lnTo>
                  <a:lnTo>
                    <a:pt x="1043298" y="226580"/>
                  </a:lnTo>
                  <a:lnTo>
                    <a:pt x="1030465" y="179852"/>
                  </a:lnTo>
                  <a:lnTo>
                    <a:pt x="1010030" y="136821"/>
                  </a:lnTo>
                  <a:lnTo>
                    <a:pt x="982776" y="98268"/>
                  </a:lnTo>
                  <a:lnTo>
                    <a:pt x="949481" y="64973"/>
                  </a:lnTo>
                  <a:lnTo>
                    <a:pt x="910928" y="37719"/>
                  </a:lnTo>
                  <a:lnTo>
                    <a:pt x="867897" y="17284"/>
                  </a:lnTo>
                  <a:lnTo>
                    <a:pt x="821169" y="4451"/>
                  </a:lnTo>
                  <a:lnTo>
                    <a:pt x="7715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753100" y="2190750"/>
              <a:ext cx="1047750" cy="552450"/>
            </a:xfrm>
            <a:custGeom>
              <a:avLst/>
              <a:gdLst/>
              <a:ahLst/>
              <a:cxnLst/>
              <a:rect l="l" t="t" r="r" b="b"/>
              <a:pathLst>
                <a:path w="1047750" h="552450">
                  <a:moveTo>
                    <a:pt x="0" y="276225"/>
                  </a:moveTo>
                  <a:lnTo>
                    <a:pt x="4451" y="226580"/>
                  </a:lnTo>
                  <a:lnTo>
                    <a:pt x="17284" y="179852"/>
                  </a:lnTo>
                  <a:lnTo>
                    <a:pt x="37718" y="136821"/>
                  </a:lnTo>
                  <a:lnTo>
                    <a:pt x="64973" y="98268"/>
                  </a:lnTo>
                  <a:lnTo>
                    <a:pt x="98268" y="64973"/>
                  </a:lnTo>
                  <a:lnTo>
                    <a:pt x="136821" y="37719"/>
                  </a:lnTo>
                  <a:lnTo>
                    <a:pt x="179852" y="17284"/>
                  </a:lnTo>
                  <a:lnTo>
                    <a:pt x="226580" y="4451"/>
                  </a:lnTo>
                  <a:lnTo>
                    <a:pt x="276225" y="0"/>
                  </a:lnTo>
                  <a:lnTo>
                    <a:pt x="771525" y="0"/>
                  </a:lnTo>
                  <a:lnTo>
                    <a:pt x="821169" y="4451"/>
                  </a:lnTo>
                  <a:lnTo>
                    <a:pt x="867897" y="17284"/>
                  </a:lnTo>
                  <a:lnTo>
                    <a:pt x="910928" y="37718"/>
                  </a:lnTo>
                  <a:lnTo>
                    <a:pt x="949481" y="64973"/>
                  </a:lnTo>
                  <a:lnTo>
                    <a:pt x="982776" y="98268"/>
                  </a:lnTo>
                  <a:lnTo>
                    <a:pt x="1010030" y="136821"/>
                  </a:lnTo>
                  <a:lnTo>
                    <a:pt x="1030465" y="179852"/>
                  </a:lnTo>
                  <a:lnTo>
                    <a:pt x="1043298" y="226580"/>
                  </a:lnTo>
                  <a:lnTo>
                    <a:pt x="1047750" y="276225"/>
                  </a:lnTo>
                  <a:lnTo>
                    <a:pt x="1043298" y="325869"/>
                  </a:lnTo>
                  <a:lnTo>
                    <a:pt x="1030465" y="372597"/>
                  </a:lnTo>
                  <a:lnTo>
                    <a:pt x="1010030" y="415628"/>
                  </a:lnTo>
                  <a:lnTo>
                    <a:pt x="982776" y="454181"/>
                  </a:lnTo>
                  <a:lnTo>
                    <a:pt x="949481" y="487476"/>
                  </a:lnTo>
                  <a:lnTo>
                    <a:pt x="910928" y="514730"/>
                  </a:lnTo>
                  <a:lnTo>
                    <a:pt x="867897" y="535165"/>
                  </a:lnTo>
                  <a:lnTo>
                    <a:pt x="821169" y="547998"/>
                  </a:lnTo>
                  <a:lnTo>
                    <a:pt x="771525" y="552450"/>
                  </a:lnTo>
                  <a:lnTo>
                    <a:pt x="276225" y="552450"/>
                  </a:lnTo>
                  <a:lnTo>
                    <a:pt x="226580" y="547998"/>
                  </a:lnTo>
                  <a:lnTo>
                    <a:pt x="179852" y="535165"/>
                  </a:lnTo>
                  <a:lnTo>
                    <a:pt x="136821" y="514731"/>
                  </a:lnTo>
                  <a:lnTo>
                    <a:pt x="98268" y="487476"/>
                  </a:lnTo>
                  <a:lnTo>
                    <a:pt x="64973" y="454181"/>
                  </a:lnTo>
                  <a:lnTo>
                    <a:pt x="37719" y="415628"/>
                  </a:lnTo>
                  <a:lnTo>
                    <a:pt x="17284" y="372597"/>
                  </a:lnTo>
                  <a:lnTo>
                    <a:pt x="4451" y="325869"/>
                  </a:lnTo>
                  <a:lnTo>
                    <a:pt x="0" y="276225"/>
                  </a:lnTo>
                  <a:close/>
                </a:path>
              </a:pathLst>
            </a:custGeom>
            <a:ln w="15875">
              <a:solidFill>
                <a:srgbClr val="5FA7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953505" y="2327973"/>
            <a:ext cx="65532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0" b="1">
                <a:solidFill>
                  <a:srgbClr val="1D4E88"/>
                </a:solidFill>
                <a:latin typeface="Times New Roman"/>
                <a:cs typeface="Times New Roman"/>
              </a:rPr>
              <a:t>Pandas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992937" y="2182812"/>
            <a:ext cx="1711325" cy="568325"/>
            <a:chOff x="6992937" y="2182812"/>
            <a:chExt cx="1711325" cy="568325"/>
          </a:xfrm>
        </p:grpSpPr>
        <p:sp>
          <p:nvSpPr>
            <p:cNvPr id="21" name="object 21"/>
            <p:cNvSpPr/>
            <p:nvPr/>
          </p:nvSpPr>
          <p:spPr>
            <a:xfrm>
              <a:off x="7000875" y="2190750"/>
              <a:ext cx="1695450" cy="552450"/>
            </a:xfrm>
            <a:custGeom>
              <a:avLst/>
              <a:gdLst/>
              <a:ahLst/>
              <a:cxnLst/>
              <a:rect l="l" t="t" r="r" b="b"/>
              <a:pathLst>
                <a:path w="1695450" h="552450">
                  <a:moveTo>
                    <a:pt x="1419225" y="0"/>
                  </a:moveTo>
                  <a:lnTo>
                    <a:pt x="276225" y="0"/>
                  </a:lnTo>
                  <a:lnTo>
                    <a:pt x="226580" y="4451"/>
                  </a:lnTo>
                  <a:lnTo>
                    <a:pt x="179852" y="17284"/>
                  </a:lnTo>
                  <a:lnTo>
                    <a:pt x="136821" y="37719"/>
                  </a:lnTo>
                  <a:lnTo>
                    <a:pt x="98268" y="64973"/>
                  </a:lnTo>
                  <a:lnTo>
                    <a:pt x="64973" y="98268"/>
                  </a:lnTo>
                  <a:lnTo>
                    <a:pt x="37719" y="136821"/>
                  </a:lnTo>
                  <a:lnTo>
                    <a:pt x="17284" y="179852"/>
                  </a:lnTo>
                  <a:lnTo>
                    <a:pt x="4451" y="226580"/>
                  </a:lnTo>
                  <a:lnTo>
                    <a:pt x="0" y="276225"/>
                  </a:lnTo>
                  <a:lnTo>
                    <a:pt x="4451" y="325869"/>
                  </a:lnTo>
                  <a:lnTo>
                    <a:pt x="17284" y="372597"/>
                  </a:lnTo>
                  <a:lnTo>
                    <a:pt x="37719" y="415628"/>
                  </a:lnTo>
                  <a:lnTo>
                    <a:pt x="64973" y="454181"/>
                  </a:lnTo>
                  <a:lnTo>
                    <a:pt x="98268" y="487476"/>
                  </a:lnTo>
                  <a:lnTo>
                    <a:pt x="136821" y="514731"/>
                  </a:lnTo>
                  <a:lnTo>
                    <a:pt x="179852" y="535165"/>
                  </a:lnTo>
                  <a:lnTo>
                    <a:pt x="226580" y="547998"/>
                  </a:lnTo>
                  <a:lnTo>
                    <a:pt x="276225" y="552450"/>
                  </a:lnTo>
                  <a:lnTo>
                    <a:pt x="1419225" y="552450"/>
                  </a:lnTo>
                  <a:lnTo>
                    <a:pt x="1468869" y="547998"/>
                  </a:lnTo>
                  <a:lnTo>
                    <a:pt x="1515597" y="535165"/>
                  </a:lnTo>
                  <a:lnTo>
                    <a:pt x="1558628" y="514731"/>
                  </a:lnTo>
                  <a:lnTo>
                    <a:pt x="1597181" y="487476"/>
                  </a:lnTo>
                  <a:lnTo>
                    <a:pt x="1630476" y="454181"/>
                  </a:lnTo>
                  <a:lnTo>
                    <a:pt x="1657730" y="415628"/>
                  </a:lnTo>
                  <a:lnTo>
                    <a:pt x="1678165" y="372597"/>
                  </a:lnTo>
                  <a:lnTo>
                    <a:pt x="1690998" y="325869"/>
                  </a:lnTo>
                  <a:lnTo>
                    <a:pt x="1695450" y="276225"/>
                  </a:lnTo>
                  <a:lnTo>
                    <a:pt x="1690998" y="226580"/>
                  </a:lnTo>
                  <a:lnTo>
                    <a:pt x="1678165" y="179852"/>
                  </a:lnTo>
                  <a:lnTo>
                    <a:pt x="1657730" y="136821"/>
                  </a:lnTo>
                  <a:lnTo>
                    <a:pt x="1630476" y="98268"/>
                  </a:lnTo>
                  <a:lnTo>
                    <a:pt x="1597181" y="64973"/>
                  </a:lnTo>
                  <a:lnTo>
                    <a:pt x="1558628" y="37719"/>
                  </a:lnTo>
                  <a:lnTo>
                    <a:pt x="1515597" y="17284"/>
                  </a:lnTo>
                  <a:lnTo>
                    <a:pt x="1468869" y="4451"/>
                  </a:lnTo>
                  <a:lnTo>
                    <a:pt x="1419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000875" y="2190750"/>
              <a:ext cx="1695450" cy="552450"/>
            </a:xfrm>
            <a:custGeom>
              <a:avLst/>
              <a:gdLst/>
              <a:ahLst/>
              <a:cxnLst/>
              <a:rect l="l" t="t" r="r" b="b"/>
              <a:pathLst>
                <a:path w="1695450" h="552450">
                  <a:moveTo>
                    <a:pt x="0" y="276225"/>
                  </a:moveTo>
                  <a:lnTo>
                    <a:pt x="4451" y="226580"/>
                  </a:lnTo>
                  <a:lnTo>
                    <a:pt x="17284" y="179852"/>
                  </a:lnTo>
                  <a:lnTo>
                    <a:pt x="37719" y="136821"/>
                  </a:lnTo>
                  <a:lnTo>
                    <a:pt x="64973" y="98268"/>
                  </a:lnTo>
                  <a:lnTo>
                    <a:pt x="98268" y="64973"/>
                  </a:lnTo>
                  <a:lnTo>
                    <a:pt x="136821" y="37719"/>
                  </a:lnTo>
                  <a:lnTo>
                    <a:pt x="179852" y="17284"/>
                  </a:lnTo>
                  <a:lnTo>
                    <a:pt x="226580" y="4451"/>
                  </a:lnTo>
                  <a:lnTo>
                    <a:pt x="276225" y="0"/>
                  </a:lnTo>
                  <a:lnTo>
                    <a:pt x="1419225" y="0"/>
                  </a:lnTo>
                  <a:lnTo>
                    <a:pt x="1468869" y="4451"/>
                  </a:lnTo>
                  <a:lnTo>
                    <a:pt x="1515597" y="17284"/>
                  </a:lnTo>
                  <a:lnTo>
                    <a:pt x="1558628" y="37718"/>
                  </a:lnTo>
                  <a:lnTo>
                    <a:pt x="1597181" y="64973"/>
                  </a:lnTo>
                  <a:lnTo>
                    <a:pt x="1630476" y="98268"/>
                  </a:lnTo>
                  <a:lnTo>
                    <a:pt x="1657730" y="136821"/>
                  </a:lnTo>
                  <a:lnTo>
                    <a:pt x="1678165" y="179852"/>
                  </a:lnTo>
                  <a:lnTo>
                    <a:pt x="1690998" y="226580"/>
                  </a:lnTo>
                  <a:lnTo>
                    <a:pt x="1695450" y="276225"/>
                  </a:lnTo>
                  <a:lnTo>
                    <a:pt x="1690998" y="325869"/>
                  </a:lnTo>
                  <a:lnTo>
                    <a:pt x="1678165" y="372597"/>
                  </a:lnTo>
                  <a:lnTo>
                    <a:pt x="1657730" y="415628"/>
                  </a:lnTo>
                  <a:lnTo>
                    <a:pt x="1630476" y="454181"/>
                  </a:lnTo>
                  <a:lnTo>
                    <a:pt x="1597181" y="487476"/>
                  </a:lnTo>
                  <a:lnTo>
                    <a:pt x="1558628" y="514730"/>
                  </a:lnTo>
                  <a:lnTo>
                    <a:pt x="1515597" y="535165"/>
                  </a:lnTo>
                  <a:lnTo>
                    <a:pt x="1468869" y="547998"/>
                  </a:lnTo>
                  <a:lnTo>
                    <a:pt x="1419225" y="552450"/>
                  </a:lnTo>
                  <a:lnTo>
                    <a:pt x="276225" y="552450"/>
                  </a:lnTo>
                  <a:lnTo>
                    <a:pt x="226580" y="547998"/>
                  </a:lnTo>
                  <a:lnTo>
                    <a:pt x="179852" y="535165"/>
                  </a:lnTo>
                  <a:lnTo>
                    <a:pt x="136821" y="514731"/>
                  </a:lnTo>
                  <a:lnTo>
                    <a:pt x="98268" y="487476"/>
                  </a:lnTo>
                  <a:lnTo>
                    <a:pt x="64973" y="454181"/>
                  </a:lnTo>
                  <a:lnTo>
                    <a:pt x="37719" y="415628"/>
                  </a:lnTo>
                  <a:lnTo>
                    <a:pt x="17284" y="372597"/>
                  </a:lnTo>
                  <a:lnTo>
                    <a:pt x="4451" y="325869"/>
                  </a:lnTo>
                  <a:lnTo>
                    <a:pt x="0" y="276225"/>
                  </a:lnTo>
                  <a:close/>
                </a:path>
              </a:pathLst>
            </a:custGeom>
            <a:ln w="15875">
              <a:solidFill>
                <a:srgbClr val="5FA7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288783" y="2327973"/>
            <a:ext cx="113919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b="1">
                <a:solidFill>
                  <a:srgbClr val="1D4E88"/>
                </a:solidFill>
                <a:latin typeface="Times New Roman"/>
                <a:cs typeface="Times New Roman"/>
              </a:rPr>
              <a:t>Plotly</a:t>
            </a:r>
            <a:r>
              <a:rPr dirty="0" sz="1550" spc="90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1D4E88"/>
                </a:solidFill>
                <a:latin typeface="Times New Roman"/>
                <a:cs typeface="Times New Roman"/>
              </a:rPr>
              <a:t>/</a:t>
            </a:r>
            <a:r>
              <a:rPr dirty="0" sz="1550" spc="65" b="1">
                <a:solidFill>
                  <a:srgbClr val="1D4E88"/>
                </a:solidFill>
                <a:latin typeface="Times New Roman"/>
                <a:cs typeface="Times New Roman"/>
              </a:rPr>
              <a:t> </a:t>
            </a:r>
            <a:r>
              <a:rPr dirty="0" sz="1550" spc="-20" b="1">
                <a:solidFill>
                  <a:srgbClr val="1D4E88"/>
                </a:solidFill>
                <a:latin typeface="Times New Roman"/>
                <a:cs typeface="Times New Roman"/>
              </a:rPr>
              <a:t>Dash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04825" y="3152775"/>
            <a:ext cx="1371600" cy="390525"/>
          </a:xfrm>
          <a:custGeom>
            <a:avLst/>
            <a:gdLst/>
            <a:ahLst/>
            <a:cxnLst/>
            <a:rect l="l" t="t" r="r" b="b"/>
            <a:pathLst>
              <a:path w="1371600" h="390525">
                <a:moveTo>
                  <a:pt x="1315847" y="0"/>
                </a:moveTo>
                <a:lnTo>
                  <a:pt x="55791" y="0"/>
                </a:lnTo>
                <a:lnTo>
                  <a:pt x="34075" y="4389"/>
                </a:lnTo>
                <a:lnTo>
                  <a:pt x="16341" y="16351"/>
                </a:lnTo>
                <a:lnTo>
                  <a:pt x="4384" y="34075"/>
                </a:lnTo>
                <a:lnTo>
                  <a:pt x="0" y="55752"/>
                </a:lnTo>
                <a:lnTo>
                  <a:pt x="0" y="334772"/>
                </a:lnTo>
                <a:lnTo>
                  <a:pt x="4384" y="356449"/>
                </a:lnTo>
                <a:lnTo>
                  <a:pt x="16341" y="374173"/>
                </a:lnTo>
                <a:lnTo>
                  <a:pt x="34075" y="386135"/>
                </a:lnTo>
                <a:lnTo>
                  <a:pt x="55791" y="390525"/>
                </a:lnTo>
                <a:lnTo>
                  <a:pt x="1315847" y="390525"/>
                </a:lnTo>
                <a:lnTo>
                  <a:pt x="1337524" y="386135"/>
                </a:lnTo>
                <a:lnTo>
                  <a:pt x="1355248" y="374173"/>
                </a:lnTo>
                <a:lnTo>
                  <a:pt x="1367210" y="356449"/>
                </a:lnTo>
                <a:lnTo>
                  <a:pt x="1371600" y="334772"/>
                </a:lnTo>
                <a:lnTo>
                  <a:pt x="1371600" y="55752"/>
                </a:lnTo>
                <a:lnTo>
                  <a:pt x="1367210" y="34075"/>
                </a:lnTo>
                <a:lnTo>
                  <a:pt x="1355248" y="16351"/>
                </a:lnTo>
                <a:lnTo>
                  <a:pt x="1337524" y="4389"/>
                </a:lnTo>
                <a:lnTo>
                  <a:pt x="1315847" y="0"/>
                </a:lnTo>
                <a:close/>
              </a:path>
            </a:pathLst>
          </a:custGeom>
          <a:solidFill>
            <a:srgbClr val="F164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51840" y="3237865"/>
            <a:ext cx="87121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2335A"/>
                </a:solidFill>
                <a:latin typeface="Times New Roman"/>
                <a:cs typeface="Times New Roman"/>
              </a:rPr>
              <a:t>OUTCOME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03237" y="3703701"/>
            <a:ext cx="10890885" cy="1565275"/>
            <a:chOff x="503237" y="3703701"/>
            <a:chExt cx="10890885" cy="1565275"/>
          </a:xfrm>
        </p:grpSpPr>
        <p:sp>
          <p:nvSpPr>
            <p:cNvPr id="27" name="object 27"/>
            <p:cNvSpPr/>
            <p:nvPr/>
          </p:nvSpPr>
          <p:spPr>
            <a:xfrm>
              <a:off x="509587" y="3710051"/>
              <a:ext cx="10878185" cy="1552575"/>
            </a:xfrm>
            <a:custGeom>
              <a:avLst/>
              <a:gdLst/>
              <a:ahLst/>
              <a:cxnLst/>
              <a:rect l="l" t="t" r="r" b="b"/>
              <a:pathLst>
                <a:path w="10878185" h="1552575">
                  <a:moveTo>
                    <a:pt x="10786173" y="0"/>
                  </a:moveTo>
                  <a:lnTo>
                    <a:pt x="91325" y="0"/>
                  </a:lnTo>
                  <a:lnTo>
                    <a:pt x="55780" y="7159"/>
                  </a:lnTo>
                  <a:lnTo>
                    <a:pt x="26750" y="26701"/>
                  </a:lnTo>
                  <a:lnTo>
                    <a:pt x="7177" y="55721"/>
                  </a:lnTo>
                  <a:lnTo>
                    <a:pt x="0" y="91312"/>
                  </a:lnTo>
                  <a:lnTo>
                    <a:pt x="0" y="1461135"/>
                  </a:lnTo>
                  <a:lnTo>
                    <a:pt x="7177" y="1496746"/>
                  </a:lnTo>
                  <a:lnTo>
                    <a:pt x="26750" y="1525809"/>
                  </a:lnTo>
                  <a:lnTo>
                    <a:pt x="55780" y="1545395"/>
                  </a:lnTo>
                  <a:lnTo>
                    <a:pt x="91325" y="1552575"/>
                  </a:lnTo>
                  <a:lnTo>
                    <a:pt x="10786173" y="1552575"/>
                  </a:lnTo>
                  <a:lnTo>
                    <a:pt x="10821785" y="1545395"/>
                  </a:lnTo>
                  <a:lnTo>
                    <a:pt x="10850848" y="1525809"/>
                  </a:lnTo>
                  <a:lnTo>
                    <a:pt x="10870434" y="1496746"/>
                  </a:lnTo>
                  <a:lnTo>
                    <a:pt x="10877613" y="1461135"/>
                  </a:lnTo>
                  <a:lnTo>
                    <a:pt x="10877613" y="91312"/>
                  </a:lnTo>
                  <a:lnTo>
                    <a:pt x="10870434" y="55721"/>
                  </a:lnTo>
                  <a:lnTo>
                    <a:pt x="10850848" y="26701"/>
                  </a:lnTo>
                  <a:lnTo>
                    <a:pt x="10821785" y="7159"/>
                  </a:lnTo>
                  <a:lnTo>
                    <a:pt x="107861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09587" y="3710051"/>
              <a:ext cx="10878185" cy="1552575"/>
            </a:xfrm>
            <a:custGeom>
              <a:avLst/>
              <a:gdLst/>
              <a:ahLst/>
              <a:cxnLst/>
              <a:rect l="l" t="t" r="r" b="b"/>
              <a:pathLst>
                <a:path w="10878185" h="1552575">
                  <a:moveTo>
                    <a:pt x="0" y="91312"/>
                  </a:moveTo>
                  <a:lnTo>
                    <a:pt x="7177" y="55721"/>
                  </a:lnTo>
                  <a:lnTo>
                    <a:pt x="26750" y="26701"/>
                  </a:lnTo>
                  <a:lnTo>
                    <a:pt x="55780" y="7159"/>
                  </a:lnTo>
                  <a:lnTo>
                    <a:pt x="91325" y="0"/>
                  </a:lnTo>
                  <a:lnTo>
                    <a:pt x="10786173" y="0"/>
                  </a:lnTo>
                  <a:lnTo>
                    <a:pt x="10821785" y="7159"/>
                  </a:lnTo>
                  <a:lnTo>
                    <a:pt x="10850848" y="26701"/>
                  </a:lnTo>
                  <a:lnTo>
                    <a:pt x="10870434" y="55721"/>
                  </a:lnTo>
                  <a:lnTo>
                    <a:pt x="10877613" y="91312"/>
                  </a:lnTo>
                  <a:lnTo>
                    <a:pt x="10877613" y="1461135"/>
                  </a:lnTo>
                  <a:lnTo>
                    <a:pt x="10870434" y="1496746"/>
                  </a:lnTo>
                  <a:lnTo>
                    <a:pt x="10850848" y="1525809"/>
                  </a:lnTo>
                  <a:lnTo>
                    <a:pt x="10821785" y="1545395"/>
                  </a:lnTo>
                  <a:lnTo>
                    <a:pt x="10786173" y="1552575"/>
                  </a:lnTo>
                  <a:lnTo>
                    <a:pt x="91325" y="1552575"/>
                  </a:lnTo>
                  <a:lnTo>
                    <a:pt x="55780" y="1545395"/>
                  </a:lnTo>
                  <a:lnTo>
                    <a:pt x="26750" y="1525809"/>
                  </a:lnTo>
                  <a:lnTo>
                    <a:pt x="7177" y="1496746"/>
                  </a:lnTo>
                  <a:lnTo>
                    <a:pt x="0" y="1461135"/>
                  </a:lnTo>
                  <a:lnTo>
                    <a:pt x="0" y="91312"/>
                  </a:lnTo>
                  <a:close/>
                </a:path>
              </a:pathLst>
            </a:custGeom>
            <a:ln w="12700">
              <a:solidFill>
                <a:srgbClr val="E2EB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902335" y="4104449"/>
            <a:ext cx="10082530" cy="711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99"/>
              </a:lnSpc>
              <a:spcBef>
                <a:spcPts val="100"/>
              </a:spcBef>
            </a:pP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Confidence-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bounded</a:t>
            </a:r>
            <a:r>
              <a:rPr dirty="0" sz="1800" spc="-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prevalence</a:t>
            </a:r>
            <a:r>
              <a:rPr dirty="0" sz="1800" spc="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estimates</a:t>
            </a:r>
            <a:r>
              <a:rPr dirty="0" sz="1800" spc="-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and</a:t>
            </a:r>
            <a:r>
              <a:rPr dirty="0" sz="1800" spc="-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an integrated</a:t>
            </a:r>
            <a:r>
              <a:rPr dirty="0" sz="1800" spc="-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nutrition</a:t>
            </a:r>
            <a:r>
              <a:rPr dirty="0" sz="1800" spc="-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dashboard that</a:t>
            </a:r>
            <a:r>
              <a:rPr dirty="0" sz="1800" spc="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supports</a:t>
            </a:r>
            <a:r>
              <a:rPr dirty="0" sz="1800" spc="-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evidence-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based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policy</a:t>
            </a:r>
            <a:r>
              <a:rPr dirty="0" sz="18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targeting.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/>
              <a:t>LITERATURE</a:t>
            </a:r>
            <a:r>
              <a:rPr dirty="0" sz="3950" spc="-185"/>
              <a:t> </a:t>
            </a:r>
            <a:r>
              <a:rPr dirty="0" sz="3950" spc="-10"/>
              <a:t>REVIEW</a:t>
            </a:r>
            <a:endParaRPr sz="3950"/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8157" y="1732597"/>
          <a:ext cx="10967085" cy="4404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/>
                <a:gridCol w="914400"/>
                <a:gridCol w="2834640"/>
                <a:gridCol w="6309359"/>
              </a:tblGrid>
              <a:tr h="457200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35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S.No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8745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1D4E8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35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8745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1D4E8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3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Focus</a:t>
                      </a:r>
                      <a:r>
                        <a:rPr dirty="0" sz="1350" spc="-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5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Area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8745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1D4E88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3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dirty="0" sz="1350" spc="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Contribution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8745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1D4E88"/>
                    </a:solidFill>
                  </a:tcPr>
                </a:tc>
              </a:tr>
              <a:tr h="657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250" spc="-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260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 marL="3810">
                        <a:lnSpc>
                          <a:spcPct val="100000"/>
                        </a:lnSpc>
                      </a:pPr>
                      <a:r>
                        <a:rPr dirty="0" sz="1250" spc="-2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2019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260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GIS-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250" spc="-3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health</a:t>
                      </a:r>
                      <a:r>
                        <a:rPr dirty="0" sz="1250" spc="4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mapping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260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Demonstrated</a:t>
                      </a:r>
                      <a:r>
                        <a:rPr dirty="0" sz="1250" spc="-4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choropleth</a:t>
                      </a:r>
                      <a:r>
                        <a:rPr dirty="0" sz="1250" spc="-2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mapping</a:t>
                      </a:r>
                      <a:r>
                        <a:rPr dirty="0" sz="1250" spc="-8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250" spc="-3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regional</a:t>
                      </a:r>
                      <a:r>
                        <a:rPr dirty="0" sz="1250" spc="-4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disease</a:t>
                      </a:r>
                      <a:r>
                        <a:rPr dirty="0" sz="1250" spc="-3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50" spc="-2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malnutrition</a:t>
                      </a:r>
                      <a:r>
                        <a:rPr dirty="0" sz="1250" spc="-3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prevalence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visualization.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5890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EAF0EB"/>
                    </a:solidFill>
                  </a:tcPr>
                </a:tc>
              </a:tr>
              <a:tr h="657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250" spc="-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9530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 marL="3810">
                        <a:lnSpc>
                          <a:spcPct val="100000"/>
                        </a:lnSpc>
                      </a:pPr>
                      <a:r>
                        <a:rPr dirty="0" sz="1250" spc="-2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2020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9530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Nutrition</a:t>
                      </a:r>
                      <a:r>
                        <a:rPr dirty="0" sz="1250" spc="-7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survey 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analytics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9530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dirty="0" sz="1250" spc="2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statistical</a:t>
                      </a:r>
                      <a:r>
                        <a:rPr dirty="0" sz="1250" spc="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distribution</a:t>
                      </a:r>
                      <a:r>
                        <a:rPr dirty="0" sz="1250" spc="-4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dirty="0" sz="1250" spc="1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250" spc="-4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weight-</a:t>
                      </a:r>
                      <a:r>
                        <a:rPr dirty="0" sz="1250" spc="-2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for-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age</a:t>
                      </a:r>
                      <a:r>
                        <a:rPr dirty="0" sz="1250" spc="-5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survey</a:t>
                      </a:r>
                      <a:r>
                        <a:rPr dirty="0" sz="1250" spc="2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250" spc="2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dirty="0" sz="1250" spc="-6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age</a:t>
                      </a:r>
                      <a:r>
                        <a:rPr dirty="0" sz="1250" spc="-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groups.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9530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250" spc="-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 marL="3810">
                        <a:lnSpc>
                          <a:spcPct val="100000"/>
                        </a:lnSpc>
                      </a:pPr>
                      <a:r>
                        <a:rPr dirty="0" sz="1250" spc="-2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2021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Food</a:t>
                      </a:r>
                      <a:r>
                        <a:rPr dirty="0" sz="1250" spc="3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security</a:t>
                      </a:r>
                      <a:r>
                        <a:rPr dirty="0" sz="1250" spc="-4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indices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250" spc="-5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category-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250" spc="-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frameworks</a:t>
                      </a:r>
                      <a:r>
                        <a:rPr dirty="0" sz="1250" spc="1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250" spc="1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classifying</a:t>
                      </a:r>
                      <a:r>
                        <a:rPr dirty="0" sz="1250" spc="-5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50" spc="2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comparing</a:t>
                      </a:r>
                      <a:r>
                        <a:rPr dirty="0" sz="1250" spc="2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food-security</a:t>
                      </a:r>
                      <a:r>
                        <a:rPr dirty="0" sz="1250" spc="2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levels.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EAF0EB"/>
                    </a:solidFill>
                  </a:tcPr>
                </a:tc>
              </a:tr>
              <a:tr h="657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250" spc="-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 marL="3810">
                        <a:lnSpc>
                          <a:spcPct val="100000"/>
                        </a:lnSpc>
                      </a:pPr>
                      <a:r>
                        <a:rPr dirty="0" sz="1250" spc="-2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2021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Uncertainty</a:t>
                      </a:r>
                      <a:r>
                        <a:rPr dirty="0" sz="1250" spc="-2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visualization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377190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dirty="0" sz="1250" spc="-7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bootstrapped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confidence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intervals</a:t>
                      </a:r>
                      <a:r>
                        <a:rPr dirty="0" sz="1250" spc="-1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250" spc="-7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communicate</a:t>
                      </a:r>
                      <a:r>
                        <a:rPr dirty="0" sz="1250" spc="-7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estimate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reliability</a:t>
                      </a:r>
                      <a:r>
                        <a:rPr dirty="0" sz="1250" spc="-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250" spc="-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public-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health dashboards.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8430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250" spc="-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 marL="3810">
                        <a:lnSpc>
                          <a:spcPct val="100000"/>
                        </a:lnSpc>
                      </a:pPr>
                      <a:r>
                        <a:rPr dirty="0" sz="1250" spc="-2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2022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Interactive</a:t>
                      </a:r>
                      <a:r>
                        <a:rPr dirty="0" sz="1250" spc="-5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dashboards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Built</a:t>
                      </a:r>
                      <a:r>
                        <a:rPr dirty="0" sz="1250" spc="-2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policy-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facing</a:t>
                      </a:r>
                      <a:r>
                        <a:rPr dirty="0" sz="1250" spc="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dashboards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combining</a:t>
                      </a:r>
                      <a:r>
                        <a:rPr dirty="0" sz="1250" spc="-6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maps,</a:t>
                      </a:r>
                      <a:r>
                        <a:rPr dirty="0" sz="1250" spc="2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charts,</a:t>
                      </a:r>
                      <a:r>
                        <a:rPr dirty="0" sz="1250" spc="2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and statistical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summaries.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EAF0EB"/>
                    </a:solidFill>
                  </a:tcPr>
                </a:tc>
              </a:tr>
              <a:tr h="657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250" spc="-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 marL="3810">
                        <a:lnSpc>
                          <a:spcPct val="100000"/>
                        </a:lnSpc>
                      </a:pPr>
                      <a:r>
                        <a:rPr dirty="0" sz="1250" spc="-2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2023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GeoPandas</a:t>
                      </a:r>
                      <a:r>
                        <a:rPr dirty="0" sz="1250" spc="-3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spatial</a:t>
                      </a:r>
                      <a:r>
                        <a:rPr dirty="0" sz="1250" spc="-3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analytics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dirty="0" sz="1250" spc="2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GeoPandas</a:t>
                      </a:r>
                      <a:r>
                        <a:rPr dirty="0" sz="1250" spc="1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250" spc="-6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district-level</a:t>
                      </a:r>
                      <a:r>
                        <a:rPr dirty="0" sz="1250" spc="1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spatial</a:t>
                      </a:r>
                      <a:r>
                        <a:rPr dirty="0" sz="1250" spc="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joins</a:t>
                      </a:r>
                      <a:r>
                        <a:rPr dirty="0" sz="1250" spc="2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50" spc="-4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choropleth</a:t>
                      </a:r>
                      <a:r>
                        <a:rPr dirty="0" sz="1250" spc="-4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rendering</a:t>
                      </a:r>
                      <a:r>
                        <a:rPr dirty="0" sz="1250" spc="-4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250" spc="-4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health</a:t>
                      </a:r>
                      <a:r>
                        <a:rPr dirty="0" sz="1250" spc="-45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1B2733"/>
                          </a:solidFill>
                          <a:latin typeface="Times New Roman"/>
                          <a:cs typeface="Times New Roman"/>
                        </a:rPr>
                        <a:t>analytics.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L w="9525">
                      <a:solidFill>
                        <a:srgbClr val="D7E2DA"/>
                      </a:solidFill>
                      <a:prstDash val="solid"/>
                    </a:lnL>
                    <a:lnR w="9525">
                      <a:solidFill>
                        <a:srgbClr val="D7E2DA"/>
                      </a:solidFill>
                      <a:prstDash val="solid"/>
                    </a:lnR>
                    <a:lnT w="9525">
                      <a:solidFill>
                        <a:srgbClr val="D7E2DA"/>
                      </a:solidFill>
                      <a:prstDash val="solid"/>
                    </a:lnT>
                    <a:lnB w="9525">
                      <a:solidFill>
                        <a:srgbClr val="D7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1977" y="717168"/>
            <a:ext cx="1922780" cy="6096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45"/>
              <a:t>RESULT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8015" y="1809178"/>
            <a:ext cx="335787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har char="•"/>
              <a:tabLst>
                <a:tab pos="240665" algn="l"/>
                <a:tab pos="915035" algn="l"/>
                <a:tab pos="2211705" algn="l"/>
              </a:tabLst>
            </a:pP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Maps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district-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wise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malnutrition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3944" y="1809178"/>
            <a:ext cx="101219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prevalence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81040" y="1809178"/>
            <a:ext cx="7404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through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8229" y="1809178"/>
            <a:ext cx="9931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interactive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6614" y="2076132"/>
            <a:ext cx="23774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choropleth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visualizations.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8015" y="2524442"/>
            <a:ext cx="6525259" cy="56769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241300" marR="5080" indent="-228600">
              <a:lnSpc>
                <a:spcPts val="2100"/>
              </a:lnSpc>
              <a:spcBef>
                <a:spcPts val="220"/>
              </a:spcBef>
              <a:buChar char="•"/>
              <a:tabLst>
                <a:tab pos="241300" algn="l"/>
                <a:tab pos="1120775" algn="l"/>
                <a:tab pos="2632075" algn="l"/>
                <a:tab pos="3372485" algn="l"/>
                <a:tab pos="4582795" algn="l"/>
                <a:tab pos="5462905" algn="l"/>
                <a:tab pos="6190615" algn="l"/>
              </a:tabLst>
            </a:pP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Reveals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weight-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for-</a:t>
            </a:r>
            <a:r>
              <a:rPr dirty="0" sz="1800" spc="-25">
                <a:solidFill>
                  <a:srgbClr val="1B2733"/>
                </a:solidFill>
                <a:latin typeface="Times New Roman"/>
                <a:cs typeface="Times New Roman"/>
              </a:rPr>
              <a:t>age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(BMI)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distribution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patterns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across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800" spc="-25">
                <a:solidFill>
                  <a:srgbClr val="1B2733"/>
                </a:solidFill>
                <a:latin typeface="Times New Roman"/>
                <a:cs typeface="Times New Roman"/>
              </a:rPr>
              <a:t>age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groups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via</a:t>
            </a:r>
            <a:r>
              <a:rPr dirty="0" sz="1800" spc="-2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histograms.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3370" y="3239706"/>
            <a:ext cx="30460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47775" algn="l"/>
                <a:tab pos="1720850" algn="l"/>
                <a:tab pos="2537460" algn="l"/>
              </a:tabLst>
            </a:pP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proportions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800" spc="-25">
                <a:solidFill>
                  <a:srgbClr val="1B2733"/>
                </a:solidFill>
                <a:latin typeface="Times New Roman"/>
                <a:cs typeface="Times New Roman"/>
              </a:rPr>
              <a:t>per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district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using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03751" y="3955097"/>
            <a:ext cx="4349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with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24019" y="3955097"/>
            <a:ext cx="12103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bootstrapped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20129" y="3955097"/>
            <a:ext cx="10318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confidence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8015" y="3239706"/>
            <a:ext cx="3322954" cy="128270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241300" marR="5080" indent="-228600">
              <a:lnSpc>
                <a:spcPts val="2100"/>
              </a:lnSpc>
              <a:spcBef>
                <a:spcPts val="220"/>
              </a:spcBef>
              <a:buChar char="•"/>
              <a:tabLst>
                <a:tab pos="241300" algn="l"/>
                <a:tab pos="1222375" algn="l"/>
              </a:tabLst>
            </a:pP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Displays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food-security-category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stacked bar</a:t>
            </a:r>
            <a:r>
              <a:rPr dirty="0" sz="1800" spc="-2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charts.</a:t>
            </a:r>
            <a:endParaRPr sz="1800">
              <a:latin typeface="Times New Roman"/>
              <a:cs typeface="Times New Roman"/>
            </a:endParaRPr>
          </a:p>
          <a:p>
            <a:pPr marL="241300" marR="42545" indent="-228600">
              <a:lnSpc>
                <a:spcPts val="2100"/>
              </a:lnSpc>
              <a:spcBef>
                <a:spcPts val="1435"/>
              </a:spcBef>
              <a:buChar char="•"/>
              <a:tabLst>
                <a:tab pos="241300" algn="l"/>
                <a:tab pos="1407795" algn="l"/>
                <a:tab pos="2384425" algn="l"/>
              </a:tabLst>
            </a:pP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Quantifies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estimate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	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reliability intervals.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8015" y="4660836"/>
            <a:ext cx="6523990" cy="1731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har char="•"/>
              <a:tabLst>
                <a:tab pos="240665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Identifies</a:t>
            </a:r>
            <a:r>
              <a:rPr dirty="0" sz="1800" spc="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high-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risk districts</a:t>
            </a:r>
            <a:r>
              <a:rPr dirty="0" sz="1800" spc="-4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for focused</a:t>
            </a:r>
            <a:r>
              <a:rPr dirty="0" sz="1800" spc="-2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policy</a:t>
            </a:r>
            <a:r>
              <a:rPr dirty="0" sz="1800" spc="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intervention.</a:t>
            </a:r>
            <a:endParaRPr sz="1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100"/>
              </a:lnSpc>
              <a:spcBef>
                <a:spcPts val="1490"/>
              </a:spcBef>
              <a:buChar char="•"/>
              <a:tabLst>
                <a:tab pos="241300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Combines</a:t>
            </a:r>
            <a:r>
              <a:rPr dirty="0" sz="1800" spc="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spatial,</a:t>
            </a:r>
            <a:r>
              <a:rPr dirty="0" sz="1800" spc="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distributional,</a:t>
            </a:r>
            <a:r>
              <a:rPr dirty="0" sz="1800" spc="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and</a:t>
            </a:r>
            <a:r>
              <a:rPr dirty="0" sz="1800" spc="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uncertainty</a:t>
            </a:r>
            <a:r>
              <a:rPr dirty="0" sz="1800" spc="5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views</a:t>
            </a:r>
            <a:r>
              <a:rPr dirty="0" sz="1800" spc="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into</a:t>
            </a:r>
            <a:r>
              <a:rPr dirty="0" sz="1800" spc="7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</a:t>
            </a:r>
            <a:r>
              <a:rPr dirty="0" sz="1800" spc="4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single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nutrition</a:t>
            </a:r>
            <a:r>
              <a:rPr dirty="0" sz="18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dashboard.</a:t>
            </a:r>
            <a:endParaRPr sz="1800">
              <a:latin typeface="Times New Roman"/>
              <a:cs typeface="Times New Roman"/>
            </a:endParaRPr>
          </a:p>
          <a:p>
            <a:pPr marL="241300" marR="6985" indent="-228600">
              <a:lnSpc>
                <a:spcPts val="2100"/>
              </a:lnSpc>
              <a:spcBef>
                <a:spcPts val="1435"/>
              </a:spcBef>
              <a:buChar char="•"/>
              <a:tabLst>
                <a:tab pos="241300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Supports</a:t>
            </a:r>
            <a:r>
              <a:rPr dirty="0" sz="1800" spc="24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evidence-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based,</a:t>
            </a:r>
            <a:r>
              <a:rPr dirty="0" sz="1800" spc="229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confidence-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bounded</a:t>
            </a:r>
            <a:r>
              <a:rPr dirty="0" sz="1800" spc="22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decision-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making</a:t>
            </a:r>
            <a:r>
              <a:rPr dirty="0" sz="1800" spc="25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1B2733"/>
                </a:solidFill>
                <a:latin typeface="Times New Roman"/>
                <a:cs typeface="Times New Roman"/>
              </a:rPr>
              <a:t>for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policymakers.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39050" y="1781175"/>
            <a:ext cx="4019550" cy="4486275"/>
          </a:xfrm>
          <a:custGeom>
            <a:avLst/>
            <a:gdLst/>
            <a:ahLst/>
            <a:cxnLst/>
            <a:rect l="l" t="t" r="r" b="b"/>
            <a:pathLst>
              <a:path w="4019550" h="4486275">
                <a:moveTo>
                  <a:pt x="3909949" y="0"/>
                </a:moveTo>
                <a:lnTo>
                  <a:pt x="109600" y="0"/>
                </a:lnTo>
                <a:lnTo>
                  <a:pt x="66919" y="8606"/>
                </a:lnTo>
                <a:lnTo>
                  <a:pt x="32083" y="32083"/>
                </a:lnTo>
                <a:lnTo>
                  <a:pt x="8606" y="66919"/>
                </a:lnTo>
                <a:lnTo>
                  <a:pt x="0" y="109600"/>
                </a:lnTo>
                <a:lnTo>
                  <a:pt x="0" y="4376661"/>
                </a:lnTo>
                <a:lnTo>
                  <a:pt x="8606" y="4419329"/>
                </a:lnTo>
                <a:lnTo>
                  <a:pt x="32083" y="4454170"/>
                </a:lnTo>
                <a:lnTo>
                  <a:pt x="66919" y="4477661"/>
                </a:lnTo>
                <a:lnTo>
                  <a:pt x="109600" y="4486275"/>
                </a:lnTo>
                <a:lnTo>
                  <a:pt x="3909949" y="4486275"/>
                </a:lnTo>
                <a:lnTo>
                  <a:pt x="3952630" y="4477661"/>
                </a:lnTo>
                <a:lnTo>
                  <a:pt x="3987466" y="4454170"/>
                </a:lnTo>
                <a:lnTo>
                  <a:pt x="4010943" y="4419329"/>
                </a:lnTo>
                <a:lnTo>
                  <a:pt x="4019550" y="4376661"/>
                </a:lnTo>
                <a:lnTo>
                  <a:pt x="4019550" y="109600"/>
                </a:lnTo>
                <a:lnTo>
                  <a:pt x="4010943" y="66919"/>
                </a:lnTo>
                <a:lnTo>
                  <a:pt x="3987466" y="32083"/>
                </a:lnTo>
                <a:lnTo>
                  <a:pt x="3952630" y="8606"/>
                </a:lnTo>
                <a:lnTo>
                  <a:pt x="3909949" y="0"/>
                </a:lnTo>
                <a:close/>
              </a:path>
            </a:pathLst>
          </a:custGeom>
          <a:solidFill>
            <a:srgbClr val="1D4E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673465" y="2290190"/>
            <a:ext cx="1944370" cy="389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430"/>
              </a:lnSpc>
              <a:spcBef>
                <a:spcPts val="100"/>
              </a:spcBef>
            </a:pPr>
            <a:r>
              <a:rPr dirty="0" sz="1200" spc="90" b="1">
                <a:solidFill>
                  <a:srgbClr val="F16421"/>
                </a:solidFill>
                <a:latin typeface="Times New Roman"/>
                <a:cs typeface="Times New Roman"/>
              </a:rPr>
              <a:t>HIGH-</a:t>
            </a:r>
            <a:r>
              <a:rPr dirty="0" sz="1200" spc="50" b="1">
                <a:solidFill>
                  <a:srgbClr val="F16421"/>
                </a:solidFill>
                <a:latin typeface="Times New Roman"/>
                <a:cs typeface="Times New Roman"/>
              </a:rPr>
              <a:t>RIS</a:t>
            </a:r>
            <a:r>
              <a:rPr dirty="0" sz="1200" spc="-145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F16421"/>
                </a:solidFill>
                <a:latin typeface="Times New Roman"/>
                <a:cs typeface="Times New Roman"/>
              </a:rPr>
              <a:t>K</a:t>
            </a:r>
            <a:r>
              <a:rPr dirty="0" sz="1200" spc="200" b="1">
                <a:solidFill>
                  <a:srgbClr val="F16421"/>
                </a:solidFill>
                <a:latin typeface="Times New Roman"/>
                <a:cs typeface="Times New Roman"/>
              </a:rPr>
              <a:t> </a:t>
            </a:r>
            <a:r>
              <a:rPr dirty="0" sz="1200" spc="65" b="1">
                <a:solidFill>
                  <a:srgbClr val="F16421"/>
                </a:solidFill>
                <a:latin typeface="Times New Roman"/>
                <a:cs typeface="Times New Roman"/>
              </a:rPr>
              <a:t>DISTRICTS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ts val="1430"/>
              </a:lnSpc>
            </a:pPr>
            <a:r>
              <a:rPr dirty="0" sz="1200" spc="70" b="1">
                <a:solidFill>
                  <a:srgbClr val="F16421"/>
                </a:solidFill>
                <a:latin typeface="Times New Roman"/>
                <a:cs typeface="Times New Roman"/>
              </a:rPr>
              <a:t>IDENTIFIED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005826" y="2876550"/>
            <a:ext cx="3295650" cy="1610360"/>
            <a:chOff x="8005826" y="2876550"/>
            <a:chExt cx="3295650" cy="1610360"/>
          </a:xfrm>
        </p:grpSpPr>
        <p:sp>
          <p:nvSpPr>
            <p:cNvPr id="18" name="object 18"/>
            <p:cNvSpPr/>
            <p:nvPr/>
          </p:nvSpPr>
          <p:spPr>
            <a:xfrm>
              <a:off x="9277350" y="2876550"/>
              <a:ext cx="1285875" cy="1285875"/>
            </a:xfrm>
            <a:custGeom>
              <a:avLst/>
              <a:gdLst/>
              <a:ahLst/>
              <a:cxnLst/>
              <a:rect l="l" t="t" r="r" b="b"/>
              <a:pathLst>
                <a:path w="1285875" h="1285875">
                  <a:moveTo>
                    <a:pt x="643001" y="0"/>
                  </a:moveTo>
                  <a:lnTo>
                    <a:pt x="595016" y="1763"/>
                  </a:lnTo>
                  <a:lnTo>
                    <a:pt x="547989" y="6972"/>
                  </a:lnTo>
                  <a:lnTo>
                    <a:pt x="502043" y="15501"/>
                  </a:lnTo>
                  <a:lnTo>
                    <a:pt x="457303" y="27225"/>
                  </a:lnTo>
                  <a:lnTo>
                    <a:pt x="413894" y="42021"/>
                  </a:lnTo>
                  <a:lnTo>
                    <a:pt x="371939" y="59764"/>
                  </a:lnTo>
                  <a:lnTo>
                    <a:pt x="331564" y="80329"/>
                  </a:lnTo>
                  <a:lnTo>
                    <a:pt x="292892" y="103592"/>
                  </a:lnTo>
                  <a:lnTo>
                    <a:pt x="256048" y="129428"/>
                  </a:lnTo>
                  <a:lnTo>
                    <a:pt x="221156" y="157714"/>
                  </a:lnTo>
                  <a:lnTo>
                    <a:pt x="188341" y="188325"/>
                  </a:lnTo>
                  <a:lnTo>
                    <a:pt x="157726" y="221135"/>
                  </a:lnTo>
                  <a:lnTo>
                    <a:pt x="129437" y="256022"/>
                  </a:lnTo>
                  <a:lnTo>
                    <a:pt x="103598" y="292859"/>
                  </a:lnTo>
                  <a:lnTo>
                    <a:pt x="80333" y="331524"/>
                  </a:lnTo>
                  <a:lnTo>
                    <a:pt x="59766" y="371891"/>
                  </a:lnTo>
                  <a:lnTo>
                    <a:pt x="42022" y="413835"/>
                  </a:lnTo>
                  <a:lnTo>
                    <a:pt x="27226" y="457234"/>
                  </a:lnTo>
                  <a:lnTo>
                    <a:pt x="15501" y="501961"/>
                  </a:lnTo>
                  <a:lnTo>
                    <a:pt x="6972" y="547893"/>
                  </a:lnTo>
                  <a:lnTo>
                    <a:pt x="1763" y="594906"/>
                  </a:lnTo>
                  <a:lnTo>
                    <a:pt x="0" y="642874"/>
                  </a:lnTo>
                  <a:lnTo>
                    <a:pt x="1763" y="690858"/>
                  </a:lnTo>
                  <a:lnTo>
                    <a:pt x="6972" y="737885"/>
                  </a:lnTo>
                  <a:lnTo>
                    <a:pt x="15501" y="783831"/>
                  </a:lnTo>
                  <a:lnTo>
                    <a:pt x="27226" y="828571"/>
                  </a:lnTo>
                  <a:lnTo>
                    <a:pt x="42022" y="871980"/>
                  </a:lnTo>
                  <a:lnTo>
                    <a:pt x="59766" y="913935"/>
                  </a:lnTo>
                  <a:lnTo>
                    <a:pt x="80333" y="954310"/>
                  </a:lnTo>
                  <a:lnTo>
                    <a:pt x="103598" y="992982"/>
                  </a:lnTo>
                  <a:lnTo>
                    <a:pt x="129437" y="1029826"/>
                  </a:lnTo>
                  <a:lnTo>
                    <a:pt x="157726" y="1064718"/>
                  </a:lnTo>
                  <a:lnTo>
                    <a:pt x="188340" y="1097534"/>
                  </a:lnTo>
                  <a:lnTo>
                    <a:pt x="221156" y="1128148"/>
                  </a:lnTo>
                  <a:lnTo>
                    <a:pt x="256048" y="1156437"/>
                  </a:lnTo>
                  <a:lnTo>
                    <a:pt x="292892" y="1182276"/>
                  </a:lnTo>
                  <a:lnTo>
                    <a:pt x="331564" y="1205541"/>
                  </a:lnTo>
                  <a:lnTo>
                    <a:pt x="371939" y="1226108"/>
                  </a:lnTo>
                  <a:lnTo>
                    <a:pt x="413894" y="1243852"/>
                  </a:lnTo>
                  <a:lnTo>
                    <a:pt x="457303" y="1258648"/>
                  </a:lnTo>
                  <a:lnTo>
                    <a:pt x="502043" y="1270373"/>
                  </a:lnTo>
                  <a:lnTo>
                    <a:pt x="547989" y="1278902"/>
                  </a:lnTo>
                  <a:lnTo>
                    <a:pt x="595016" y="1284111"/>
                  </a:lnTo>
                  <a:lnTo>
                    <a:pt x="643001" y="1285875"/>
                  </a:lnTo>
                  <a:lnTo>
                    <a:pt x="690968" y="1284111"/>
                  </a:lnTo>
                  <a:lnTo>
                    <a:pt x="737981" y="1278902"/>
                  </a:lnTo>
                  <a:lnTo>
                    <a:pt x="783913" y="1270373"/>
                  </a:lnTo>
                  <a:lnTo>
                    <a:pt x="828640" y="1258648"/>
                  </a:lnTo>
                  <a:lnTo>
                    <a:pt x="872039" y="1243852"/>
                  </a:lnTo>
                  <a:lnTo>
                    <a:pt x="913983" y="1226108"/>
                  </a:lnTo>
                  <a:lnTo>
                    <a:pt x="954350" y="1205541"/>
                  </a:lnTo>
                  <a:lnTo>
                    <a:pt x="993015" y="1182276"/>
                  </a:lnTo>
                  <a:lnTo>
                    <a:pt x="1029852" y="1156437"/>
                  </a:lnTo>
                  <a:lnTo>
                    <a:pt x="1064739" y="1128148"/>
                  </a:lnTo>
                  <a:lnTo>
                    <a:pt x="1097549" y="1097533"/>
                  </a:lnTo>
                  <a:lnTo>
                    <a:pt x="1128160" y="1064718"/>
                  </a:lnTo>
                  <a:lnTo>
                    <a:pt x="1156446" y="1029826"/>
                  </a:lnTo>
                  <a:lnTo>
                    <a:pt x="1182282" y="992982"/>
                  </a:lnTo>
                  <a:lnTo>
                    <a:pt x="1205545" y="954310"/>
                  </a:lnTo>
                  <a:lnTo>
                    <a:pt x="1226110" y="913935"/>
                  </a:lnTo>
                  <a:lnTo>
                    <a:pt x="1243853" y="871980"/>
                  </a:lnTo>
                  <a:lnTo>
                    <a:pt x="1258649" y="828571"/>
                  </a:lnTo>
                  <a:lnTo>
                    <a:pt x="1270373" y="783831"/>
                  </a:lnTo>
                  <a:lnTo>
                    <a:pt x="1278902" y="737885"/>
                  </a:lnTo>
                  <a:lnTo>
                    <a:pt x="1284111" y="690858"/>
                  </a:lnTo>
                  <a:lnTo>
                    <a:pt x="1285875" y="642874"/>
                  </a:lnTo>
                  <a:lnTo>
                    <a:pt x="1284111" y="594906"/>
                  </a:lnTo>
                  <a:lnTo>
                    <a:pt x="1278902" y="547893"/>
                  </a:lnTo>
                  <a:lnTo>
                    <a:pt x="1270373" y="501961"/>
                  </a:lnTo>
                  <a:lnTo>
                    <a:pt x="1258649" y="457234"/>
                  </a:lnTo>
                  <a:lnTo>
                    <a:pt x="1243853" y="413835"/>
                  </a:lnTo>
                  <a:lnTo>
                    <a:pt x="1226110" y="371891"/>
                  </a:lnTo>
                  <a:lnTo>
                    <a:pt x="1205545" y="331524"/>
                  </a:lnTo>
                  <a:lnTo>
                    <a:pt x="1182282" y="292859"/>
                  </a:lnTo>
                  <a:lnTo>
                    <a:pt x="1156446" y="256022"/>
                  </a:lnTo>
                  <a:lnTo>
                    <a:pt x="1128160" y="221135"/>
                  </a:lnTo>
                  <a:lnTo>
                    <a:pt x="1097549" y="188325"/>
                  </a:lnTo>
                  <a:lnTo>
                    <a:pt x="1064739" y="157714"/>
                  </a:lnTo>
                  <a:lnTo>
                    <a:pt x="1029852" y="129428"/>
                  </a:lnTo>
                  <a:lnTo>
                    <a:pt x="993015" y="103592"/>
                  </a:lnTo>
                  <a:lnTo>
                    <a:pt x="954350" y="80329"/>
                  </a:lnTo>
                  <a:lnTo>
                    <a:pt x="913983" y="59764"/>
                  </a:lnTo>
                  <a:lnTo>
                    <a:pt x="872039" y="42021"/>
                  </a:lnTo>
                  <a:lnTo>
                    <a:pt x="828640" y="27225"/>
                  </a:lnTo>
                  <a:lnTo>
                    <a:pt x="783913" y="15501"/>
                  </a:lnTo>
                  <a:lnTo>
                    <a:pt x="737981" y="6972"/>
                  </a:lnTo>
                  <a:lnTo>
                    <a:pt x="690968" y="1763"/>
                  </a:lnTo>
                  <a:lnTo>
                    <a:pt x="643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639300" y="3162299"/>
              <a:ext cx="771525" cy="638175"/>
            </a:xfrm>
            <a:custGeom>
              <a:avLst/>
              <a:gdLst/>
              <a:ahLst/>
              <a:cxnLst/>
              <a:rect l="l" t="t" r="r" b="b"/>
              <a:pathLst>
                <a:path w="771525" h="638175">
                  <a:moveTo>
                    <a:pt x="180975" y="228600"/>
                  </a:moveTo>
                  <a:lnTo>
                    <a:pt x="0" y="228600"/>
                  </a:lnTo>
                  <a:lnTo>
                    <a:pt x="0" y="638175"/>
                  </a:lnTo>
                  <a:lnTo>
                    <a:pt x="180975" y="638175"/>
                  </a:lnTo>
                  <a:lnTo>
                    <a:pt x="180975" y="228600"/>
                  </a:lnTo>
                  <a:close/>
                </a:path>
                <a:path w="771525" h="638175">
                  <a:moveTo>
                    <a:pt x="476250" y="0"/>
                  </a:moveTo>
                  <a:lnTo>
                    <a:pt x="295275" y="0"/>
                  </a:lnTo>
                  <a:lnTo>
                    <a:pt x="295275" y="638175"/>
                  </a:lnTo>
                  <a:lnTo>
                    <a:pt x="476250" y="638175"/>
                  </a:lnTo>
                  <a:lnTo>
                    <a:pt x="476250" y="0"/>
                  </a:lnTo>
                  <a:close/>
                </a:path>
                <a:path w="771525" h="638175">
                  <a:moveTo>
                    <a:pt x="771525" y="123825"/>
                  </a:moveTo>
                  <a:lnTo>
                    <a:pt x="590550" y="123825"/>
                  </a:lnTo>
                  <a:lnTo>
                    <a:pt x="590550" y="638175"/>
                  </a:lnTo>
                  <a:lnTo>
                    <a:pt x="771525" y="638175"/>
                  </a:lnTo>
                  <a:lnTo>
                    <a:pt x="771525" y="123825"/>
                  </a:lnTo>
                  <a:close/>
                </a:path>
              </a:pathLst>
            </a:custGeom>
            <a:solidFill>
              <a:srgbClr val="1D4E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005826" y="4481575"/>
              <a:ext cx="3295650" cy="0"/>
            </a:xfrm>
            <a:custGeom>
              <a:avLst/>
              <a:gdLst/>
              <a:ahLst/>
              <a:cxnLst/>
              <a:rect l="l" t="t" r="r" b="b"/>
              <a:pathLst>
                <a:path w="3295650" h="0">
                  <a:moveTo>
                    <a:pt x="0" y="0"/>
                  </a:moveTo>
                  <a:lnTo>
                    <a:pt x="3295650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9086468" y="4714557"/>
            <a:ext cx="1136015" cy="4260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95%</a:t>
            </a:r>
            <a:r>
              <a:rPr dirty="0" sz="26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 b="1">
                <a:solidFill>
                  <a:srgbClr val="FFFFFF"/>
                </a:solidFill>
                <a:latin typeface="Times New Roman"/>
                <a:cs typeface="Times New Roman"/>
              </a:rPr>
              <a:t>CI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2" name="object 22"/>
          <p:cNvSpPr txBox="1"/>
          <p:nvPr/>
        </p:nvSpPr>
        <p:spPr>
          <a:xfrm>
            <a:off x="8707501" y="5442267"/>
            <a:ext cx="1894839" cy="4451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4465" marR="5080" indent="-151765">
              <a:lnSpc>
                <a:spcPct val="125200"/>
              </a:lnSpc>
              <a:spcBef>
                <a:spcPts val="95"/>
              </a:spcBef>
            </a:pPr>
            <a:r>
              <a:rPr dirty="0" sz="1100">
                <a:solidFill>
                  <a:srgbClr val="CFDFF1"/>
                </a:solidFill>
                <a:latin typeface="Times New Roman"/>
                <a:cs typeface="Times New Roman"/>
              </a:rPr>
              <a:t>confidence-bounded</a:t>
            </a:r>
            <a:r>
              <a:rPr dirty="0" sz="1100" spc="405">
                <a:solidFill>
                  <a:srgbClr val="CFDFF1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CFDFF1"/>
                </a:solidFill>
                <a:latin typeface="Times New Roman"/>
                <a:cs typeface="Times New Roman"/>
              </a:rPr>
              <a:t>prevalence </a:t>
            </a:r>
            <a:r>
              <a:rPr dirty="0" sz="1100">
                <a:solidFill>
                  <a:srgbClr val="CFDFF1"/>
                </a:solidFill>
                <a:latin typeface="Times New Roman"/>
                <a:cs typeface="Times New Roman"/>
              </a:rPr>
              <a:t>estimates</a:t>
            </a:r>
            <a:r>
              <a:rPr dirty="0" sz="1100" spc="80">
                <a:solidFill>
                  <a:srgbClr val="CFDFF1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CFDFF1"/>
                </a:solidFill>
                <a:latin typeface="Times New Roman"/>
                <a:cs typeface="Times New Roman"/>
              </a:rPr>
              <a:t>for</a:t>
            </a:r>
            <a:r>
              <a:rPr dirty="0" sz="1100" spc="180">
                <a:solidFill>
                  <a:srgbClr val="CFDFF1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CFDFF1"/>
                </a:solidFill>
                <a:latin typeface="Times New Roman"/>
                <a:cs typeface="Times New Roman"/>
              </a:rPr>
              <a:t>every</a:t>
            </a:r>
            <a:r>
              <a:rPr dirty="0" sz="1100" spc="120">
                <a:solidFill>
                  <a:srgbClr val="CFDFF1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CFDFF1"/>
                </a:solidFill>
                <a:latin typeface="Times New Roman"/>
                <a:cs typeface="Times New Roman"/>
              </a:rPr>
              <a:t>district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D4E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963150" y="0"/>
            <a:ext cx="2228850" cy="2743200"/>
          </a:xfrm>
          <a:custGeom>
            <a:avLst/>
            <a:gdLst/>
            <a:ahLst/>
            <a:cxnLst/>
            <a:rect l="l" t="t" r="r" b="b"/>
            <a:pathLst>
              <a:path w="2228850" h="2743200">
                <a:moveTo>
                  <a:pt x="2228850" y="0"/>
                </a:moveTo>
                <a:lnTo>
                  <a:pt x="98569" y="0"/>
                </a:lnTo>
                <a:lnTo>
                  <a:pt x="87922" y="34233"/>
                </a:lnTo>
                <a:lnTo>
                  <a:pt x="75194" y="78581"/>
                </a:lnTo>
                <a:lnTo>
                  <a:pt x="63418" y="123323"/>
                </a:lnTo>
                <a:lnTo>
                  <a:pt x="52605" y="168447"/>
                </a:lnTo>
                <a:lnTo>
                  <a:pt x="42767" y="213943"/>
                </a:lnTo>
                <a:lnTo>
                  <a:pt x="33915" y="259798"/>
                </a:lnTo>
                <a:lnTo>
                  <a:pt x="26061" y="306000"/>
                </a:lnTo>
                <a:lnTo>
                  <a:pt x="19216" y="352538"/>
                </a:lnTo>
                <a:lnTo>
                  <a:pt x="13393" y="399401"/>
                </a:lnTo>
                <a:lnTo>
                  <a:pt x="8602" y="446577"/>
                </a:lnTo>
                <a:lnTo>
                  <a:pt x="4856" y="494053"/>
                </a:lnTo>
                <a:lnTo>
                  <a:pt x="2166" y="541820"/>
                </a:lnTo>
                <a:lnTo>
                  <a:pt x="543" y="589864"/>
                </a:lnTo>
                <a:lnTo>
                  <a:pt x="0" y="638175"/>
                </a:lnTo>
                <a:lnTo>
                  <a:pt x="543" y="686485"/>
                </a:lnTo>
                <a:lnTo>
                  <a:pt x="2166" y="734529"/>
                </a:lnTo>
                <a:lnTo>
                  <a:pt x="4856" y="782296"/>
                </a:lnTo>
                <a:lnTo>
                  <a:pt x="8602" y="829772"/>
                </a:lnTo>
                <a:lnTo>
                  <a:pt x="13393" y="876948"/>
                </a:lnTo>
                <a:lnTo>
                  <a:pt x="19216" y="923811"/>
                </a:lnTo>
                <a:lnTo>
                  <a:pt x="26061" y="970349"/>
                </a:lnTo>
                <a:lnTo>
                  <a:pt x="33915" y="1016551"/>
                </a:lnTo>
                <a:lnTo>
                  <a:pt x="42767" y="1062406"/>
                </a:lnTo>
                <a:lnTo>
                  <a:pt x="52605" y="1107902"/>
                </a:lnTo>
                <a:lnTo>
                  <a:pt x="63418" y="1153026"/>
                </a:lnTo>
                <a:lnTo>
                  <a:pt x="75194" y="1197768"/>
                </a:lnTo>
                <a:lnTo>
                  <a:pt x="87922" y="1242116"/>
                </a:lnTo>
                <a:lnTo>
                  <a:pt x="101589" y="1286059"/>
                </a:lnTo>
                <a:lnTo>
                  <a:pt x="116185" y="1329584"/>
                </a:lnTo>
                <a:lnTo>
                  <a:pt x="131697" y="1372680"/>
                </a:lnTo>
                <a:lnTo>
                  <a:pt x="148114" y="1415335"/>
                </a:lnTo>
                <a:lnTo>
                  <a:pt x="165425" y="1457539"/>
                </a:lnTo>
                <a:lnTo>
                  <a:pt x="183617" y="1499278"/>
                </a:lnTo>
                <a:lnTo>
                  <a:pt x="202680" y="1540543"/>
                </a:lnTo>
                <a:lnTo>
                  <a:pt x="222601" y="1581320"/>
                </a:lnTo>
                <a:lnTo>
                  <a:pt x="243370" y="1621599"/>
                </a:lnTo>
                <a:lnTo>
                  <a:pt x="264973" y="1661367"/>
                </a:lnTo>
                <a:lnTo>
                  <a:pt x="287400" y="1700614"/>
                </a:lnTo>
                <a:lnTo>
                  <a:pt x="310640" y="1739327"/>
                </a:lnTo>
                <a:lnTo>
                  <a:pt x="334680" y="1777496"/>
                </a:lnTo>
                <a:lnTo>
                  <a:pt x="359509" y="1815107"/>
                </a:lnTo>
                <a:lnTo>
                  <a:pt x="385115" y="1852151"/>
                </a:lnTo>
                <a:lnTo>
                  <a:pt x="411487" y="1888614"/>
                </a:lnTo>
                <a:lnTo>
                  <a:pt x="438613" y="1924486"/>
                </a:lnTo>
                <a:lnTo>
                  <a:pt x="466481" y="1959755"/>
                </a:lnTo>
                <a:lnTo>
                  <a:pt x="495080" y="1994409"/>
                </a:lnTo>
                <a:lnTo>
                  <a:pt x="524398" y="2028437"/>
                </a:lnTo>
                <a:lnTo>
                  <a:pt x="554424" y="2061827"/>
                </a:lnTo>
                <a:lnTo>
                  <a:pt x="585146" y="2094567"/>
                </a:lnTo>
                <a:lnTo>
                  <a:pt x="616553" y="2126646"/>
                </a:lnTo>
                <a:lnTo>
                  <a:pt x="648632" y="2158053"/>
                </a:lnTo>
                <a:lnTo>
                  <a:pt x="681372" y="2188775"/>
                </a:lnTo>
                <a:lnTo>
                  <a:pt x="714762" y="2218801"/>
                </a:lnTo>
                <a:lnTo>
                  <a:pt x="748790" y="2248119"/>
                </a:lnTo>
                <a:lnTo>
                  <a:pt x="783444" y="2276718"/>
                </a:lnTo>
                <a:lnTo>
                  <a:pt x="818713" y="2304586"/>
                </a:lnTo>
                <a:lnTo>
                  <a:pt x="854585" y="2331712"/>
                </a:lnTo>
                <a:lnTo>
                  <a:pt x="891048" y="2358084"/>
                </a:lnTo>
                <a:lnTo>
                  <a:pt x="928092" y="2383690"/>
                </a:lnTo>
                <a:lnTo>
                  <a:pt x="965703" y="2408519"/>
                </a:lnTo>
                <a:lnTo>
                  <a:pt x="1003872" y="2432559"/>
                </a:lnTo>
                <a:lnTo>
                  <a:pt x="1042585" y="2455799"/>
                </a:lnTo>
                <a:lnTo>
                  <a:pt x="1081832" y="2478226"/>
                </a:lnTo>
                <a:lnTo>
                  <a:pt x="1121600" y="2499829"/>
                </a:lnTo>
                <a:lnTo>
                  <a:pt x="1161879" y="2520598"/>
                </a:lnTo>
                <a:lnTo>
                  <a:pt x="1202656" y="2540519"/>
                </a:lnTo>
                <a:lnTo>
                  <a:pt x="1243921" y="2559582"/>
                </a:lnTo>
                <a:lnTo>
                  <a:pt x="1285660" y="2577774"/>
                </a:lnTo>
                <a:lnTo>
                  <a:pt x="1327864" y="2595085"/>
                </a:lnTo>
                <a:lnTo>
                  <a:pt x="1370519" y="2611502"/>
                </a:lnTo>
                <a:lnTo>
                  <a:pt x="1413615" y="2627014"/>
                </a:lnTo>
                <a:lnTo>
                  <a:pt x="1457140" y="2641610"/>
                </a:lnTo>
                <a:lnTo>
                  <a:pt x="1501083" y="2655277"/>
                </a:lnTo>
                <a:lnTo>
                  <a:pt x="1545431" y="2668005"/>
                </a:lnTo>
                <a:lnTo>
                  <a:pt x="1590173" y="2679781"/>
                </a:lnTo>
                <a:lnTo>
                  <a:pt x="1635297" y="2690594"/>
                </a:lnTo>
                <a:lnTo>
                  <a:pt x="1680793" y="2700432"/>
                </a:lnTo>
                <a:lnTo>
                  <a:pt x="1726648" y="2709284"/>
                </a:lnTo>
                <a:lnTo>
                  <a:pt x="1772850" y="2717138"/>
                </a:lnTo>
                <a:lnTo>
                  <a:pt x="1819388" y="2723983"/>
                </a:lnTo>
                <a:lnTo>
                  <a:pt x="1866251" y="2729806"/>
                </a:lnTo>
                <a:lnTo>
                  <a:pt x="1913427" y="2734597"/>
                </a:lnTo>
                <a:lnTo>
                  <a:pt x="1960903" y="2738343"/>
                </a:lnTo>
                <a:lnTo>
                  <a:pt x="2008670" y="2741033"/>
                </a:lnTo>
                <a:lnTo>
                  <a:pt x="2056714" y="2742656"/>
                </a:lnTo>
                <a:lnTo>
                  <a:pt x="2105025" y="2743200"/>
                </a:lnTo>
                <a:lnTo>
                  <a:pt x="2153335" y="2742656"/>
                </a:lnTo>
                <a:lnTo>
                  <a:pt x="2201379" y="2741033"/>
                </a:lnTo>
                <a:lnTo>
                  <a:pt x="2228850" y="2739486"/>
                </a:lnTo>
                <a:lnTo>
                  <a:pt x="2228850" y="0"/>
                </a:lnTo>
                <a:close/>
              </a:path>
            </a:pathLst>
          </a:custGeom>
          <a:solidFill>
            <a:srgbClr val="5FA744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4848225"/>
            <a:ext cx="2190750" cy="2009775"/>
          </a:xfrm>
          <a:custGeom>
            <a:avLst/>
            <a:gdLst/>
            <a:ahLst/>
            <a:cxnLst/>
            <a:rect l="l" t="t" r="r" b="b"/>
            <a:pathLst>
              <a:path w="2190750" h="2009775">
                <a:moveTo>
                  <a:pt x="361950" y="0"/>
                </a:moveTo>
                <a:lnTo>
                  <a:pt x="314000" y="616"/>
                </a:lnTo>
                <a:lnTo>
                  <a:pt x="266356" y="2455"/>
                </a:lnTo>
                <a:lnTo>
                  <a:pt x="219030" y="5502"/>
                </a:lnTo>
                <a:lnTo>
                  <a:pt x="172038" y="9741"/>
                </a:lnTo>
                <a:lnTo>
                  <a:pt x="125396" y="15158"/>
                </a:lnTo>
                <a:lnTo>
                  <a:pt x="79119" y="21737"/>
                </a:lnTo>
                <a:lnTo>
                  <a:pt x="33220" y="29464"/>
                </a:lnTo>
                <a:lnTo>
                  <a:pt x="0" y="35932"/>
                </a:lnTo>
                <a:lnTo>
                  <a:pt x="0" y="2009775"/>
                </a:lnTo>
                <a:lnTo>
                  <a:pt x="2181814" y="2009775"/>
                </a:lnTo>
                <a:lnTo>
                  <a:pt x="2185247" y="1971719"/>
                </a:lnTo>
                <a:lnTo>
                  <a:pt x="2188294" y="1924393"/>
                </a:lnTo>
                <a:lnTo>
                  <a:pt x="2190133" y="1876749"/>
                </a:lnTo>
                <a:lnTo>
                  <a:pt x="2190750" y="1828800"/>
                </a:lnTo>
                <a:lnTo>
                  <a:pt x="2190133" y="1780850"/>
                </a:lnTo>
                <a:lnTo>
                  <a:pt x="2188294" y="1733206"/>
                </a:lnTo>
                <a:lnTo>
                  <a:pt x="2185247" y="1685880"/>
                </a:lnTo>
                <a:lnTo>
                  <a:pt x="2181008" y="1638888"/>
                </a:lnTo>
                <a:lnTo>
                  <a:pt x="2175591" y="1592246"/>
                </a:lnTo>
                <a:lnTo>
                  <a:pt x="2169012" y="1545969"/>
                </a:lnTo>
                <a:lnTo>
                  <a:pt x="2161285" y="1500070"/>
                </a:lnTo>
                <a:lnTo>
                  <a:pt x="2152427" y="1454567"/>
                </a:lnTo>
                <a:lnTo>
                  <a:pt x="2142450" y="1409472"/>
                </a:lnTo>
                <a:lnTo>
                  <a:pt x="2131372" y="1364803"/>
                </a:lnTo>
                <a:lnTo>
                  <a:pt x="2119206" y="1320573"/>
                </a:lnTo>
                <a:lnTo>
                  <a:pt x="2105968" y="1276798"/>
                </a:lnTo>
                <a:lnTo>
                  <a:pt x="2091673" y="1233492"/>
                </a:lnTo>
                <a:lnTo>
                  <a:pt x="2076337" y="1190672"/>
                </a:lnTo>
                <a:lnTo>
                  <a:pt x="2059973" y="1148351"/>
                </a:lnTo>
                <a:lnTo>
                  <a:pt x="2042597" y="1106546"/>
                </a:lnTo>
                <a:lnTo>
                  <a:pt x="2024225" y="1065270"/>
                </a:lnTo>
                <a:lnTo>
                  <a:pt x="2004870" y="1024540"/>
                </a:lnTo>
                <a:lnTo>
                  <a:pt x="1984549" y="984369"/>
                </a:lnTo>
                <a:lnTo>
                  <a:pt x="1963277" y="944774"/>
                </a:lnTo>
                <a:lnTo>
                  <a:pt x="1941067" y="905769"/>
                </a:lnTo>
                <a:lnTo>
                  <a:pt x="1917937" y="867370"/>
                </a:lnTo>
                <a:lnTo>
                  <a:pt x="1893899" y="829590"/>
                </a:lnTo>
                <a:lnTo>
                  <a:pt x="1868971" y="792447"/>
                </a:lnTo>
                <a:lnTo>
                  <a:pt x="1843166" y="755953"/>
                </a:lnTo>
                <a:lnTo>
                  <a:pt x="1816499" y="720126"/>
                </a:lnTo>
                <a:lnTo>
                  <a:pt x="1788987" y="684978"/>
                </a:lnTo>
                <a:lnTo>
                  <a:pt x="1760643" y="650527"/>
                </a:lnTo>
                <a:lnTo>
                  <a:pt x="1731483" y="616786"/>
                </a:lnTo>
                <a:lnTo>
                  <a:pt x="1701522" y="583771"/>
                </a:lnTo>
                <a:lnTo>
                  <a:pt x="1670775" y="551497"/>
                </a:lnTo>
                <a:lnTo>
                  <a:pt x="1639257" y="519979"/>
                </a:lnTo>
                <a:lnTo>
                  <a:pt x="1606983" y="489232"/>
                </a:lnTo>
                <a:lnTo>
                  <a:pt x="1573968" y="459270"/>
                </a:lnTo>
                <a:lnTo>
                  <a:pt x="1540227" y="430110"/>
                </a:lnTo>
                <a:lnTo>
                  <a:pt x="1505776" y="401766"/>
                </a:lnTo>
                <a:lnTo>
                  <a:pt x="1470629" y="374254"/>
                </a:lnTo>
                <a:lnTo>
                  <a:pt x="1434801" y="347587"/>
                </a:lnTo>
                <a:lnTo>
                  <a:pt x="1398308" y="321782"/>
                </a:lnTo>
                <a:lnTo>
                  <a:pt x="1361164" y="296853"/>
                </a:lnTo>
                <a:lnTo>
                  <a:pt x="1323385" y="272815"/>
                </a:lnTo>
                <a:lnTo>
                  <a:pt x="1284986" y="249684"/>
                </a:lnTo>
                <a:lnTo>
                  <a:pt x="1245981" y="227475"/>
                </a:lnTo>
                <a:lnTo>
                  <a:pt x="1206385" y="206202"/>
                </a:lnTo>
                <a:lnTo>
                  <a:pt x="1166215" y="185881"/>
                </a:lnTo>
                <a:lnTo>
                  <a:pt x="1125484" y="166526"/>
                </a:lnTo>
                <a:lnTo>
                  <a:pt x="1084209" y="148154"/>
                </a:lnTo>
                <a:lnTo>
                  <a:pt x="1042403" y="130778"/>
                </a:lnTo>
                <a:lnTo>
                  <a:pt x="1000082" y="114414"/>
                </a:lnTo>
                <a:lnTo>
                  <a:pt x="957261" y="99077"/>
                </a:lnTo>
                <a:lnTo>
                  <a:pt x="913956" y="84782"/>
                </a:lnTo>
                <a:lnTo>
                  <a:pt x="870181" y="71544"/>
                </a:lnTo>
                <a:lnTo>
                  <a:pt x="825950" y="59378"/>
                </a:lnTo>
                <a:lnTo>
                  <a:pt x="781281" y="48299"/>
                </a:lnTo>
                <a:lnTo>
                  <a:pt x="736186" y="38323"/>
                </a:lnTo>
                <a:lnTo>
                  <a:pt x="690682" y="29464"/>
                </a:lnTo>
                <a:lnTo>
                  <a:pt x="644783" y="21737"/>
                </a:lnTo>
                <a:lnTo>
                  <a:pt x="598505" y="15158"/>
                </a:lnTo>
                <a:lnTo>
                  <a:pt x="551863" y="9741"/>
                </a:lnTo>
                <a:lnTo>
                  <a:pt x="504871" y="5502"/>
                </a:lnTo>
                <a:lnTo>
                  <a:pt x="457545" y="2455"/>
                </a:lnTo>
                <a:lnTo>
                  <a:pt x="409899" y="616"/>
                </a:lnTo>
                <a:lnTo>
                  <a:pt x="361950" y="0"/>
                </a:lnTo>
                <a:close/>
              </a:path>
            </a:pathLst>
          </a:custGeom>
          <a:solidFill>
            <a:srgbClr val="F16421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877550" y="5124450"/>
            <a:ext cx="1314450" cy="1733550"/>
          </a:xfrm>
          <a:custGeom>
            <a:avLst/>
            <a:gdLst/>
            <a:ahLst/>
            <a:cxnLst/>
            <a:rect l="l" t="t" r="r" b="b"/>
            <a:pathLst>
              <a:path w="1314450" h="1733550">
                <a:moveTo>
                  <a:pt x="962025" y="0"/>
                </a:moveTo>
                <a:lnTo>
                  <a:pt x="914005" y="1171"/>
                </a:lnTo>
                <a:lnTo>
                  <a:pt x="866595" y="4649"/>
                </a:lnTo>
                <a:lnTo>
                  <a:pt x="819851" y="10380"/>
                </a:lnTo>
                <a:lnTo>
                  <a:pt x="773826" y="18307"/>
                </a:lnTo>
                <a:lnTo>
                  <a:pt x="728577" y="28376"/>
                </a:lnTo>
                <a:lnTo>
                  <a:pt x="684158" y="40533"/>
                </a:lnTo>
                <a:lnTo>
                  <a:pt x="640625" y="54722"/>
                </a:lnTo>
                <a:lnTo>
                  <a:pt x="598032" y="70888"/>
                </a:lnTo>
                <a:lnTo>
                  <a:pt x="556435" y="88977"/>
                </a:lnTo>
                <a:lnTo>
                  <a:pt x="515888" y="108934"/>
                </a:lnTo>
                <a:lnTo>
                  <a:pt x="476447" y="130704"/>
                </a:lnTo>
                <a:lnTo>
                  <a:pt x="438167" y="154232"/>
                </a:lnTo>
                <a:lnTo>
                  <a:pt x="401103" y="179463"/>
                </a:lnTo>
                <a:lnTo>
                  <a:pt x="365310" y="206342"/>
                </a:lnTo>
                <a:lnTo>
                  <a:pt x="330843" y="234815"/>
                </a:lnTo>
                <a:lnTo>
                  <a:pt x="297757" y="264826"/>
                </a:lnTo>
                <a:lnTo>
                  <a:pt x="266107" y="296321"/>
                </a:lnTo>
                <a:lnTo>
                  <a:pt x="235949" y="329245"/>
                </a:lnTo>
                <a:lnTo>
                  <a:pt x="207337" y="363543"/>
                </a:lnTo>
                <a:lnTo>
                  <a:pt x="180327" y="399161"/>
                </a:lnTo>
                <a:lnTo>
                  <a:pt x="154973" y="436042"/>
                </a:lnTo>
                <a:lnTo>
                  <a:pt x="131332" y="474133"/>
                </a:lnTo>
                <a:lnTo>
                  <a:pt x="109457" y="513378"/>
                </a:lnTo>
                <a:lnTo>
                  <a:pt x="89403" y="553723"/>
                </a:lnTo>
                <a:lnTo>
                  <a:pt x="71227" y="595113"/>
                </a:lnTo>
                <a:lnTo>
                  <a:pt x="54983" y="637493"/>
                </a:lnTo>
                <a:lnTo>
                  <a:pt x="40726" y="680808"/>
                </a:lnTo>
                <a:lnTo>
                  <a:pt x="28511" y="725003"/>
                </a:lnTo>
                <a:lnTo>
                  <a:pt x="18394" y="770024"/>
                </a:lnTo>
                <a:lnTo>
                  <a:pt x="10429" y="815815"/>
                </a:lnTo>
                <a:lnTo>
                  <a:pt x="4672" y="862321"/>
                </a:lnTo>
                <a:lnTo>
                  <a:pt x="1177" y="909489"/>
                </a:lnTo>
                <a:lnTo>
                  <a:pt x="0" y="957262"/>
                </a:lnTo>
                <a:lnTo>
                  <a:pt x="1177" y="1005039"/>
                </a:lnTo>
                <a:lnTo>
                  <a:pt x="4672" y="1052209"/>
                </a:lnTo>
                <a:lnTo>
                  <a:pt x="10429" y="1098718"/>
                </a:lnTo>
                <a:lnTo>
                  <a:pt x="18394" y="1144511"/>
                </a:lnTo>
                <a:lnTo>
                  <a:pt x="28511" y="1189533"/>
                </a:lnTo>
                <a:lnTo>
                  <a:pt x="40726" y="1233730"/>
                </a:lnTo>
                <a:lnTo>
                  <a:pt x="54983" y="1277046"/>
                </a:lnTo>
                <a:lnTo>
                  <a:pt x="71227" y="1319427"/>
                </a:lnTo>
                <a:lnTo>
                  <a:pt x="89403" y="1360817"/>
                </a:lnTo>
                <a:lnTo>
                  <a:pt x="109457" y="1401163"/>
                </a:lnTo>
                <a:lnTo>
                  <a:pt x="131332" y="1440408"/>
                </a:lnTo>
                <a:lnTo>
                  <a:pt x="154973" y="1478499"/>
                </a:lnTo>
                <a:lnTo>
                  <a:pt x="180327" y="1515380"/>
                </a:lnTo>
                <a:lnTo>
                  <a:pt x="207337" y="1550997"/>
                </a:lnTo>
                <a:lnTo>
                  <a:pt x="235949" y="1585294"/>
                </a:lnTo>
                <a:lnTo>
                  <a:pt x="266107" y="1618217"/>
                </a:lnTo>
                <a:lnTo>
                  <a:pt x="297757" y="1649712"/>
                </a:lnTo>
                <a:lnTo>
                  <a:pt x="330843" y="1679722"/>
                </a:lnTo>
                <a:lnTo>
                  <a:pt x="365310" y="1708194"/>
                </a:lnTo>
                <a:lnTo>
                  <a:pt x="399075" y="1733550"/>
                </a:lnTo>
                <a:lnTo>
                  <a:pt x="1314450" y="1733550"/>
                </a:lnTo>
                <a:lnTo>
                  <a:pt x="1314450" y="66497"/>
                </a:lnTo>
                <a:lnTo>
                  <a:pt x="1283424" y="54722"/>
                </a:lnTo>
                <a:lnTo>
                  <a:pt x="1239891" y="40533"/>
                </a:lnTo>
                <a:lnTo>
                  <a:pt x="1195472" y="28376"/>
                </a:lnTo>
                <a:lnTo>
                  <a:pt x="1150223" y="18307"/>
                </a:lnTo>
                <a:lnTo>
                  <a:pt x="1104198" y="10380"/>
                </a:lnTo>
                <a:lnTo>
                  <a:pt x="1057454" y="4649"/>
                </a:lnTo>
                <a:lnTo>
                  <a:pt x="1010044" y="1171"/>
                </a:lnTo>
                <a:lnTo>
                  <a:pt x="962025" y="0"/>
                </a:lnTo>
                <a:close/>
              </a:path>
            </a:pathLst>
          </a:custGeom>
          <a:solidFill>
            <a:srgbClr val="F16421">
              <a:alpha val="2509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628015" y="1854898"/>
            <a:ext cx="10452100" cy="258953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241300" marR="5080" indent="-228600">
              <a:lnSpc>
                <a:spcPts val="2100"/>
              </a:lnSpc>
              <a:spcBef>
                <a:spcPts val="220"/>
              </a:spcBef>
              <a:buChar char="•"/>
              <a:tabLst>
                <a:tab pos="241300" algn="l"/>
              </a:tabLst>
            </a:pP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Presents</a:t>
            </a:r>
            <a:r>
              <a:rPr dirty="0" sz="1800" spc="10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a</a:t>
            </a:r>
            <a:r>
              <a:rPr dirty="0" sz="1800" spc="12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unified</a:t>
            </a:r>
            <a:r>
              <a:rPr dirty="0" sz="1800" spc="12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platform</a:t>
            </a:r>
            <a:r>
              <a:rPr dirty="0" sz="1800" spc="13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integrating</a:t>
            </a:r>
            <a:r>
              <a:rPr dirty="0" sz="1800" spc="13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regional</a:t>
            </a:r>
            <a:r>
              <a:rPr dirty="0" sz="1800" spc="12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mapping,</a:t>
            </a:r>
            <a:r>
              <a:rPr dirty="0" sz="1800" spc="12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distribution</a:t>
            </a:r>
            <a:r>
              <a:rPr dirty="0" sz="1800" spc="114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analysis,</a:t>
            </a:r>
            <a:r>
              <a:rPr dirty="0" sz="1800" spc="16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and</a:t>
            </a:r>
            <a:r>
              <a:rPr dirty="0" sz="1800" spc="10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uncertainty</a:t>
            </a:r>
            <a:r>
              <a:rPr dirty="0" sz="1800" spc="12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E3EBF7"/>
                </a:solidFill>
                <a:latin typeface="Times New Roman"/>
                <a:cs typeface="Times New Roman"/>
              </a:rPr>
              <a:t>quantification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for</a:t>
            </a:r>
            <a:r>
              <a:rPr dirty="0" sz="1800" spc="-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child</a:t>
            </a:r>
            <a:r>
              <a:rPr dirty="0" sz="1800" spc="-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nutrition</a:t>
            </a:r>
            <a:r>
              <a:rPr dirty="0" sz="1800" spc="-20">
                <a:solidFill>
                  <a:srgbClr val="E3EBF7"/>
                </a:solidFill>
                <a:latin typeface="Times New Roman"/>
                <a:cs typeface="Times New Roman"/>
              </a:rPr>
              <a:t> data.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765"/>
              </a:spcBef>
              <a:buChar char="•"/>
              <a:tabLst>
                <a:tab pos="240665" algn="l"/>
              </a:tabLst>
            </a:pP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Transforms</a:t>
            </a:r>
            <a:r>
              <a:rPr dirty="0" sz="1800" spc="1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raw</a:t>
            </a:r>
            <a:r>
              <a:rPr dirty="0" sz="1800" spc="-4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national</a:t>
            </a:r>
            <a:r>
              <a:rPr dirty="0" sz="1800" spc="-4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survey</a:t>
            </a:r>
            <a:r>
              <a:rPr dirty="0" sz="1800" spc="-1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data</a:t>
            </a:r>
            <a:r>
              <a:rPr dirty="0" sz="1800" spc="1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into</a:t>
            </a:r>
            <a:r>
              <a:rPr dirty="0" sz="1800" spc="1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actionable,</a:t>
            </a:r>
            <a:r>
              <a:rPr dirty="0" sz="1800" spc="-2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E3EBF7"/>
                </a:solidFill>
                <a:latin typeface="Times New Roman"/>
                <a:cs typeface="Times New Roman"/>
              </a:rPr>
              <a:t>district-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level</a:t>
            </a:r>
            <a:r>
              <a:rPr dirty="0" sz="1800" spc="-1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visual</a:t>
            </a:r>
            <a:r>
              <a:rPr dirty="0" sz="1800" spc="-4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E3EBF7"/>
                </a:solidFill>
                <a:latin typeface="Times New Roman"/>
                <a:cs typeface="Times New Roman"/>
              </a:rPr>
              <a:t>insights.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820"/>
              </a:spcBef>
              <a:buChar char="•"/>
              <a:tabLst>
                <a:tab pos="240665" algn="l"/>
              </a:tabLst>
            </a:pP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Enables</a:t>
            </a:r>
            <a:r>
              <a:rPr dirty="0" sz="1800" spc="-4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policymakers</a:t>
            </a:r>
            <a:r>
              <a:rPr dirty="0" sz="1800" spc="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to</a:t>
            </a:r>
            <a:r>
              <a:rPr dirty="0" sz="1800" spc="-3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identify</a:t>
            </a:r>
            <a:r>
              <a:rPr dirty="0" sz="1800" spc="-2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and</a:t>
            </a:r>
            <a:r>
              <a:rPr dirty="0" sz="1800" spc="-3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prioritize</a:t>
            </a:r>
            <a:r>
              <a:rPr dirty="0" sz="1800" spc="3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E3EBF7"/>
                </a:solidFill>
                <a:latin typeface="Times New Roman"/>
                <a:cs typeface="Times New Roman"/>
              </a:rPr>
              <a:t>high-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risk</a:t>
            </a:r>
            <a:r>
              <a:rPr dirty="0" sz="1800" spc="-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districts</a:t>
            </a:r>
            <a:r>
              <a:rPr dirty="0" sz="1800" spc="-2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with</a:t>
            </a:r>
            <a:r>
              <a:rPr dirty="0" sz="1800" spc="-2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statistical</a:t>
            </a:r>
            <a:r>
              <a:rPr dirty="0" sz="1800" spc="1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E3EBF7"/>
                </a:solidFill>
                <a:latin typeface="Times New Roman"/>
                <a:cs typeface="Times New Roman"/>
              </a:rPr>
              <a:t>confidence.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820"/>
              </a:spcBef>
              <a:buChar char="•"/>
              <a:tabLst>
                <a:tab pos="240665" algn="l"/>
              </a:tabLst>
            </a:pP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Bridges</a:t>
            </a:r>
            <a:r>
              <a:rPr dirty="0" sz="1800" spc="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the</a:t>
            </a:r>
            <a:r>
              <a:rPr dirty="0" sz="1800" spc="-3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gap</a:t>
            </a:r>
            <a:r>
              <a:rPr dirty="0" sz="1800" spc="-3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between raw</a:t>
            </a:r>
            <a:r>
              <a:rPr dirty="0" sz="1800" spc="-3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nutrition</a:t>
            </a:r>
            <a:r>
              <a:rPr dirty="0" sz="1800" spc="-2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statistics</a:t>
            </a:r>
            <a:r>
              <a:rPr dirty="0" sz="1800" spc="3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and</a:t>
            </a:r>
            <a:r>
              <a:rPr dirty="0" sz="1800" spc="-3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interpretable,</a:t>
            </a:r>
            <a:r>
              <a:rPr dirty="0" sz="1800" spc="2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E3EBF7"/>
                </a:solidFill>
                <a:latin typeface="Times New Roman"/>
                <a:cs typeface="Times New Roman"/>
              </a:rPr>
              <a:t>policy-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ready</a:t>
            </a:r>
            <a:r>
              <a:rPr dirty="0" sz="1800" spc="1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visual</a:t>
            </a:r>
            <a:r>
              <a:rPr dirty="0" sz="1800" spc="-2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E3EBF7"/>
                </a:solidFill>
                <a:latin typeface="Times New Roman"/>
                <a:cs typeface="Times New Roman"/>
              </a:rPr>
              <a:t>evidence.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820"/>
              </a:spcBef>
              <a:buChar char="•"/>
              <a:tabLst>
                <a:tab pos="240665" algn="l"/>
              </a:tabLst>
            </a:pP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Provides</a:t>
            </a:r>
            <a:r>
              <a:rPr dirty="0" sz="1800" spc="-4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a</a:t>
            </a:r>
            <a:r>
              <a:rPr dirty="0" sz="1800" spc="-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scalable</a:t>
            </a:r>
            <a:r>
              <a:rPr dirty="0" sz="1800" spc="-2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framework</a:t>
            </a:r>
            <a:r>
              <a:rPr dirty="0" sz="1800" spc="2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adaptable</a:t>
            </a:r>
            <a:r>
              <a:rPr dirty="0" sz="1800" spc="2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to</a:t>
            </a:r>
            <a:r>
              <a:rPr dirty="0" sz="1800" spc="-4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future</a:t>
            </a:r>
            <a:r>
              <a:rPr dirty="0" sz="1800" spc="-3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survey</a:t>
            </a:r>
            <a:r>
              <a:rPr dirty="0" sz="1800" spc="-1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rounds</a:t>
            </a:r>
            <a:r>
              <a:rPr dirty="0" sz="1800" spc="-1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and</a:t>
            </a:r>
            <a:r>
              <a:rPr dirty="0" sz="1800" spc="-3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additional</a:t>
            </a:r>
            <a:r>
              <a:rPr dirty="0" sz="1800" spc="20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3EBF7"/>
                </a:solidFill>
                <a:latin typeface="Times New Roman"/>
                <a:cs typeface="Times New Roman"/>
              </a:rPr>
              <a:t>health</a:t>
            </a:r>
            <a:r>
              <a:rPr dirty="0" sz="1800" spc="-25">
                <a:solidFill>
                  <a:srgbClr val="E3EBF7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E3EBF7"/>
                </a:solidFill>
                <a:latin typeface="Times New Roman"/>
                <a:cs typeface="Times New Roman"/>
              </a:rPr>
              <a:t>indicators.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628015" y="1809178"/>
            <a:ext cx="10921365" cy="311404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12065" indent="391160">
              <a:lnSpc>
                <a:spcPts val="2100"/>
              </a:lnSpc>
              <a:spcBef>
                <a:spcPts val="220"/>
              </a:spcBef>
              <a:buAutoNum type="arabicPeriod"/>
              <a:tabLst>
                <a:tab pos="403860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World</a:t>
            </a:r>
            <a:r>
              <a:rPr dirty="0" sz="1800" spc="409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Health</a:t>
            </a:r>
            <a:r>
              <a:rPr dirty="0" sz="1800" spc="39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Organization.</a:t>
            </a:r>
            <a:r>
              <a:rPr dirty="0" sz="1800" spc="38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(2025).</a:t>
            </a:r>
            <a:r>
              <a:rPr dirty="0" sz="1800" spc="38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WHO</a:t>
            </a:r>
            <a:r>
              <a:rPr dirty="0" sz="1800" spc="38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Child</a:t>
            </a:r>
            <a:r>
              <a:rPr dirty="0" sz="1800" spc="40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Growth</a:t>
            </a:r>
            <a:r>
              <a:rPr dirty="0" sz="1800" spc="409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Standards:</a:t>
            </a:r>
            <a:r>
              <a:rPr dirty="0" sz="1800" spc="38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Length/Height-for-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Age,</a:t>
            </a:r>
            <a:r>
              <a:rPr dirty="0" sz="1800" spc="39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30">
                <a:solidFill>
                  <a:srgbClr val="1B2733"/>
                </a:solidFill>
                <a:latin typeface="Times New Roman"/>
                <a:cs typeface="Times New Roman"/>
              </a:rPr>
              <a:t>Weight-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for-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Age, </a:t>
            </a:r>
            <a:r>
              <a:rPr dirty="0" sz="1800" spc="-30">
                <a:solidFill>
                  <a:srgbClr val="1B2733"/>
                </a:solidFill>
                <a:latin typeface="Times New Roman"/>
                <a:cs typeface="Times New Roman"/>
              </a:rPr>
              <a:t>Weight-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for-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Length,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30">
                <a:solidFill>
                  <a:srgbClr val="1B2733"/>
                </a:solidFill>
                <a:latin typeface="Times New Roman"/>
                <a:cs typeface="Times New Roman"/>
              </a:rPr>
              <a:t>Weight-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for-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Height</a:t>
            </a:r>
            <a:r>
              <a:rPr dirty="0" sz="1800" spc="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and</a:t>
            </a:r>
            <a:r>
              <a:rPr dirty="0" sz="1800" spc="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Body</a:t>
            </a:r>
            <a:r>
              <a:rPr dirty="0" sz="1800" spc="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Mass</a:t>
            </a:r>
            <a:r>
              <a:rPr dirty="0" sz="1800" spc="6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Index-for-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Age.</a:t>
            </a:r>
            <a:endParaRPr sz="18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1390"/>
              </a:spcBef>
              <a:buAutoNum type="arabicPeriod"/>
              <a:tabLst>
                <a:tab pos="297180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Jordahl,</a:t>
            </a:r>
            <a:r>
              <a:rPr dirty="0" sz="1800" spc="-5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K.,</a:t>
            </a:r>
            <a:r>
              <a:rPr dirty="0" sz="18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et</a:t>
            </a:r>
            <a:r>
              <a:rPr dirty="0" sz="1800" spc="-3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al.</a:t>
            </a:r>
            <a:r>
              <a:rPr dirty="0" sz="18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(2020).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GeoPandas: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Python</a:t>
            </a:r>
            <a:r>
              <a:rPr dirty="0" sz="1800" spc="-4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Tools</a:t>
            </a:r>
            <a:r>
              <a:rPr dirty="0" sz="1800" spc="-4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for</a:t>
            </a:r>
            <a:r>
              <a:rPr dirty="0" sz="1800" spc="-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Geographic</a:t>
            </a:r>
            <a:r>
              <a:rPr dirty="0" sz="1800" spc="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Data.</a:t>
            </a:r>
            <a:endParaRPr sz="18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1370"/>
              </a:spcBef>
              <a:buAutoNum type="arabicPeriod"/>
              <a:tabLst>
                <a:tab pos="297180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Efron,</a:t>
            </a:r>
            <a:r>
              <a:rPr dirty="0" sz="1800" spc="-4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B.,</a:t>
            </a:r>
            <a:r>
              <a:rPr dirty="0" sz="1800" spc="-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&amp;</a:t>
            </a:r>
            <a:r>
              <a:rPr dirty="0" sz="1800" spc="-4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Tibshirani,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R.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J.</a:t>
            </a:r>
            <a:r>
              <a:rPr dirty="0" sz="1800" spc="-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(2026).</a:t>
            </a:r>
            <a:r>
              <a:rPr dirty="0" sz="1800" spc="-10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An</a:t>
            </a:r>
            <a:r>
              <a:rPr dirty="0" sz="1800" spc="1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Introduction</a:t>
            </a:r>
            <a:r>
              <a:rPr dirty="0" sz="1800" spc="-2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to</a:t>
            </a:r>
            <a:r>
              <a:rPr dirty="0" sz="1800" spc="-2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the</a:t>
            </a:r>
            <a:r>
              <a:rPr dirty="0" sz="1800" spc="-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Bootstrap.</a:t>
            </a:r>
            <a:r>
              <a:rPr dirty="0" sz="1800" spc="-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Chapman &amp;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Hall/CRC.</a:t>
            </a:r>
            <a:endParaRPr sz="18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297180" algn="l"/>
              </a:tabLst>
            </a:pP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UNICEF.</a:t>
            </a:r>
            <a:r>
              <a:rPr dirty="0" sz="1800" spc="-4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(2021).</a:t>
            </a:r>
            <a:r>
              <a:rPr dirty="0" sz="1800" spc="-2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State of</a:t>
            </a:r>
            <a:r>
              <a:rPr dirty="0" sz="1800" spc="-3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the</a:t>
            </a:r>
            <a:r>
              <a:rPr dirty="0" sz="1800" spc="-8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World's</a:t>
            </a:r>
            <a:r>
              <a:rPr dirty="0" sz="1800" spc="-5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Children:</a:t>
            </a:r>
            <a:r>
              <a:rPr dirty="0" sz="1800" spc="-2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Nutrition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and</a:t>
            </a:r>
            <a:r>
              <a:rPr dirty="0" sz="1800" spc="-5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Food</a:t>
            </a:r>
            <a:r>
              <a:rPr dirty="0" sz="1800" spc="-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Security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Report.</a:t>
            </a:r>
            <a:endParaRPr sz="1800">
              <a:latin typeface="Times New Roman"/>
              <a:cs typeface="Times New Roman"/>
            </a:endParaRPr>
          </a:p>
          <a:p>
            <a:pPr marL="12700" marR="5080" indent="362585">
              <a:lnSpc>
                <a:spcPts val="2100"/>
              </a:lnSpc>
              <a:spcBef>
                <a:spcPts val="1565"/>
              </a:spcBef>
              <a:buAutoNum type="arabicPeriod"/>
              <a:tabLst>
                <a:tab pos="375285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McKinney,</a:t>
            </a:r>
            <a:r>
              <a:rPr dirty="0" sz="1800" spc="28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W.</a:t>
            </a:r>
            <a:r>
              <a:rPr dirty="0" sz="1800" spc="27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(2021).</a:t>
            </a:r>
            <a:r>
              <a:rPr dirty="0" sz="1800" spc="27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Data</a:t>
            </a:r>
            <a:r>
              <a:rPr dirty="0" sz="1800" spc="254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Structures</a:t>
            </a:r>
            <a:r>
              <a:rPr dirty="0" sz="1800" spc="28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for</a:t>
            </a:r>
            <a:r>
              <a:rPr dirty="0" sz="1800" spc="27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Statistical</a:t>
            </a:r>
            <a:r>
              <a:rPr dirty="0" sz="1800" spc="29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Computing</a:t>
            </a:r>
            <a:r>
              <a:rPr dirty="0" sz="1800" spc="28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in</a:t>
            </a:r>
            <a:r>
              <a:rPr dirty="0" sz="1800" spc="24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Python.</a:t>
            </a:r>
            <a:r>
              <a:rPr dirty="0" sz="1800" spc="27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Proceedings</a:t>
            </a:r>
            <a:r>
              <a:rPr dirty="0" sz="1800" spc="28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of</a:t>
            </a:r>
            <a:r>
              <a:rPr dirty="0" sz="1800" spc="27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the</a:t>
            </a:r>
            <a:r>
              <a:rPr dirty="0" sz="1800" spc="25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9th</a:t>
            </a:r>
            <a:r>
              <a:rPr dirty="0" sz="1800" spc="24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Python</a:t>
            </a:r>
            <a:r>
              <a:rPr dirty="0" sz="1800" spc="27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1B2733"/>
                </a:solidFill>
                <a:latin typeface="Times New Roman"/>
                <a:cs typeface="Times New Roman"/>
              </a:rPr>
              <a:t>in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Science</a:t>
            </a:r>
            <a:r>
              <a:rPr dirty="0" sz="1800" spc="-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Conference</a:t>
            </a:r>
            <a:r>
              <a:rPr dirty="0" sz="1800" spc="-2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(SciPy).</a:t>
            </a:r>
            <a:endParaRPr sz="18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1385"/>
              </a:spcBef>
              <a:buAutoNum type="arabicPeriod"/>
              <a:tabLst>
                <a:tab pos="297180" algn="l"/>
              </a:tabLst>
            </a:pP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Hunter,</a:t>
            </a:r>
            <a:r>
              <a:rPr dirty="0" sz="1800" spc="-5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J.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D.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(2023).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Matplotlib:</a:t>
            </a:r>
            <a:r>
              <a:rPr dirty="0" sz="1800" spc="-10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A</a:t>
            </a:r>
            <a:r>
              <a:rPr dirty="0" sz="1800" spc="-10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2D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Graphics</a:t>
            </a:r>
            <a:r>
              <a:rPr dirty="0" sz="1800" spc="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Environment.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Computing in</a:t>
            </a:r>
            <a:r>
              <a:rPr dirty="0" sz="1800" spc="-3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Science</a:t>
            </a:r>
            <a:r>
              <a:rPr dirty="0" sz="1800" spc="5">
                <a:solidFill>
                  <a:srgbClr val="1B273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B2733"/>
                </a:solidFill>
                <a:latin typeface="Times New Roman"/>
                <a:cs typeface="Times New Roman"/>
              </a:rPr>
              <a:t>&amp;</a:t>
            </a:r>
            <a:r>
              <a:rPr dirty="0" sz="1800" spc="-10">
                <a:solidFill>
                  <a:srgbClr val="1B2733"/>
                </a:solidFill>
                <a:latin typeface="Times New Roman"/>
                <a:cs typeface="Times New Roman"/>
              </a:rPr>
              <a:t> Engineering.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 sz="4800">
                <a:solidFill>
                  <a:srgbClr val="FFFFFF"/>
                </a:solidFill>
              </a:rPr>
              <a:t>THANK</a:t>
            </a:r>
            <a:r>
              <a:rPr dirty="0" sz="4800" spc="-240">
                <a:solidFill>
                  <a:srgbClr val="FFFFFF"/>
                </a:solidFill>
              </a:rPr>
              <a:t> </a:t>
            </a:r>
            <a:r>
              <a:rPr dirty="0" sz="4800" spc="-25">
                <a:solidFill>
                  <a:srgbClr val="FFFFFF"/>
                </a:solidFill>
              </a:rPr>
              <a:t>YOU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3252470" y="4265866"/>
            <a:ext cx="567372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CFDFF1"/>
                </a:solidFill>
                <a:latin typeface="Times New Roman"/>
                <a:cs typeface="Times New Roman"/>
              </a:rPr>
              <a:t>Design</a:t>
            </a:r>
            <a:r>
              <a:rPr dirty="0" sz="1400" spc="-20">
                <a:solidFill>
                  <a:srgbClr val="CFDFF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CFDFF1"/>
                </a:solidFill>
                <a:latin typeface="Times New Roman"/>
                <a:cs typeface="Times New Roman"/>
              </a:rPr>
              <a:t>of</a:t>
            </a:r>
            <a:r>
              <a:rPr dirty="0" sz="1400" spc="-10">
                <a:solidFill>
                  <a:srgbClr val="CFDFF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CFDFF1"/>
                </a:solidFill>
                <a:latin typeface="Times New Roman"/>
                <a:cs typeface="Times New Roman"/>
              </a:rPr>
              <a:t>a</a:t>
            </a:r>
            <a:r>
              <a:rPr dirty="0" sz="1400" spc="-10">
                <a:solidFill>
                  <a:srgbClr val="CFDFF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CFDFF1"/>
                </a:solidFill>
                <a:latin typeface="Times New Roman"/>
                <a:cs typeface="Times New Roman"/>
              </a:rPr>
              <a:t>Child</a:t>
            </a:r>
            <a:r>
              <a:rPr dirty="0" sz="1400" spc="-20">
                <a:solidFill>
                  <a:srgbClr val="CFDFF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CFDFF1"/>
                </a:solidFill>
                <a:latin typeface="Times New Roman"/>
                <a:cs typeface="Times New Roman"/>
              </a:rPr>
              <a:t>Nutrition</a:t>
            </a:r>
            <a:r>
              <a:rPr dirty="0" sz="1400" spc="-15">
                <a:solidFill>
                  <a:srgbClr val="CFDFF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CFDFF1"/>
                </a:solidFill>
                <a:latin typeface="Times New Roman"/>
                <a:cs typeface="Times New Roman"/>
              </a:rPr>
              <a:t>and</a:t>
            </a:r>
            <a:r>
              <a:rPr dirty="0" sz="1400" spc="-15">
                <a:solidFill>
                  <a:srgbClr val="CFDFF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CFDFF1"/>
                </a:solidFill>
                <a:latin typeface="Times New Roman"/>
                <a:cs typeface="Times New Roman"/>
              </a:rPr>
              <a:t>Food</a:t>
            </a:r>
            <a:r>
              <a:rPr dirty="0" sz="1400" spc="-20">
                <a:solidFill>
                  <a:srgbClr val="CFDFF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CFDFF1"/>
                </a:solidFill>
                <a:latin typeface="Times New Roman"/>
                <a:cs typeface="Times New Roman"/>
              </a:rPr>
              <a:t>Security</a:t>
            </a:r>
            <a:r>
              <a:rPr dirty="0" sz="1400" spc="-15">
                <a:solidFill>
                  <a:srgbClr val="CFDFF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CFDFF1"/>
                </a:solidFill>
                <a:latin typeface="Times New Roman"/>
                <a:cs typeface="Times New Roman"/>
              </a:rPr>
              <a:t>Mapping</a:t>
            </a:r>
            <a:r>
              <a:rPr dirty="0" sz="1400" spc="-90">
                <a:solidFill>
                  <a:srgbClr val="CFDFF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CFDFF1"/>
                </a:solidFill>
                <a:latin typeface="Times New Roman"/>
                <a:cs typeface="Times New Roman"/>
              </a:rPr>
              <a:t>Visualization</a:t>
            </a:r>
            <a:r>
              <a:rPr dirty="0" sz="1400" spc="-20">
                <a:solidFill>
                  <a:srgbClr val="CFDFF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CFDFF1"/>
                </a:solidFill>
                <a:latin typeface="Times New Roman"/>
                <a:cs typeface="Times New Roman"/>
              </a:rPr>
              <a:t>Platform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2026-09-02T11:10:13Z</dcterms:created>
  <dcterms:modified xsi:type="dcterms:W3CDTF">2026-09-02T11:10:13Z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2026-09-02T00:00:00Z</vt:filetime>
  </property>
  <property fmtid="{D5CDD505-2E9C-101B-9397-08002B2CF9AE}" pid="4" name="LastSaved">
    <vt:filetime>2026-09-02T00:00:00Z</vt:filetime>
  </property>
</Properties>
</file>